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0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64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6226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QEMT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Entangled Multiplexing Transceiver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2402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Proposed Architecture for Faster-Than-Light Signalling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Entangled Particle Slabs, Orientation Encoding, and Ensemble Weak Measurement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108960"/>
            <a:ext cx="822960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246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Miles  ·  2026  ·  Original Concept Paper — Draft for Discussion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94A3B8"/>
                </a:solidFill>
              </a:rPr>
              <a:t>Quantum Entangled Multiplexing Transceiver (QEMT)  |  Daniel Miles  ·  2026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60120"/>
            <a:ext cx="64008" cy="11430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033272"/>
            <a:ext cx="39319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Entangled particle slabs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1307592"/>
            <a:ext cx="393192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slabs manufactured as one unit, cleaved apart. Position correspondence guaranteed by geometry — no calibration needed.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221992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21992"/>
            <a:ext cx="64008" cy="11430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295144"/>
            <a:ext cx="39319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disc encoding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2569464"/>
            <a:ext cx="393192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lookup table maps orientation angles to characters. HOME (0°) permanently reserved as message delimiter.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483864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483864"/>
            <a:ext cx="64008" cy="11430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557016"/>
            <a:ext cx="39319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weak measurement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" y="3831336"/>
            <a:ext cx="393192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 particles per row set to the same orientation. Receiver averages N weak reads — noise reduces by √N.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92040" y="96012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92040" y="960120"/>
            <a:ext cx="64008" cy="11430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56632" y="1033272"/>
            <a:ext cx="39319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Full-duplex transceiver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56632" y="1307592"/>
            <a:ext cx="393192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slab per machine, split TX / RX. Top rows transmit, bottom rows receive simultaneously.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92040" y="2221992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92040" y="2221992"/>
            <a:ext cx="64008" cy="11430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56632" y="2295144"/>
            <a:ext cx="39319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Miniature coil write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56632" y="2569464"/>
            <a:ext cx="393192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photon cavity has its own nanoscale coil. MCU-driven magnetic pulse sets orientation in nanoseconds.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92040" y="3483864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92040" y="3483864"/>
            <a:ext cx="64008" cy="11430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56632" y="3557016"/>
            <a:ext cx="39319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transmission modes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56632" y="3831336"/>
            <a:ext cx="393192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signal (all rows, same char) · Parallel message (one char per row) · Cascading pipeline (rolling advance).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Virtual Disc — Orientation Encoding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94A3B8"/>
                </a:solidFill>
              </a:rPr>
              <a:t>Quantum Entangled Multiplexing Transceiver (QEMT)  |  Daniel Miles  ·  2026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4754880" y="91440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754880" y="914400"/>
            <a:ext cx="64008" cy="91440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19472" y="960120"/>
            <a:ext cx="384048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/ REST = 0°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919472" y="1216152"/>
            <a:ext cx="38404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Permanently reserved. Never assigned to any character. Serves as start and end-of-message delimiter.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0" y="192024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920240"/>
            <a:ext cx="64008" cy="9144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19472" y="1965960"/>
            <a:ext cx="384048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first position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919472" y="2221992"/>
            <a:ext cx="38404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A is assigned immediately after the HOME zone. All characters distributed evenly around the remaining arc.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54880" y="292608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54880" y="2926080"/>
            <a:ext cx="64008" cy="9144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19472" y="2971800"/>
            <a:ext cx="384048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 → Character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919472" y="3227832"/>
            <a:ext cx="38404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unique angle maps to one character via a software lookup table — the 'virtual disc'. Identical table loaded on both units at manufacture.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754880" y="393192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54880" y="3931920"/>
            <a:ext cx="64008" cy="9144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19472" y="3977640"/>
            <a:ext cx="384048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Dual-ring upgrade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919472" y="4233672"/>
            <a:ext cx="38404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perpendicular vertical ring gives two independent axes. At 10° resolution: 36 × 36 = 1,296 unique states — full alphanumeric + extended characters.</a:t>
            </a:r>
            <a:endParaRPr lang="en-US" sz="10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FAE7177-EC4B-EEB4-A6E6-4F2CE6BD7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13729"/>
            <a:ext cx="3986578" cy="395038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Structure — All Particles Share One Orientation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94A3B8"/>
                </a:solidFill>
              </a:rPr>
              <a:t>Quantum Entangled Multiplexing Transceiver (QEMT)  |  Daniel Miles  ·  2026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91440" y="914400"/>
            <a:ext cx="91440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 (10°)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96112" y="850392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051560"/>
            <a:ext cx="162091" cy="0"/>
          </a:xfrm>
          <a:prstGeom prst="line">
            <a:avLst/>
          </a:prstGeom>
          <a:noFill/>
          <a:ln w="12700">
            <a:solidFill>
              <a:srgbClr val="0F17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26464" y="850392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27632" y="1051560"/>
            <a:ext cx="162091" cy="0"/>
          </a:xfrm>
          <a:prstGeom prst="line">
            <a:avLst/>
          </a:prstGeom>
          <a:noFill/>
          <a:ln w="12700">
            <a:solidFill>
              <a:srgbClr val="0F17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56816" y="850392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57984" y="1051560"/>
            <a:ext cx="162091" cy="0"/>
          </a:xfrm>
          <a:prstGeom prst="line">
            <a:avLst/>
          </a:prstGeom>
          <a:noFill/>
          <a:ln w="12700">
            <a:solidFill>
              <a:srgbClr val="0F17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87168" y="850392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88336" y="1051560"/>
            <a:ext cx="162091" cy="0"/>
          </a:xfrm>
          <a:prstGeom prst="line">
            <a:avLst/>
          </a:prstGeom>
          <a:noFill/>
          <a:ln w="12700">
            <a:solidFill>
              <a:srgbClr val="0F17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17520" y="850392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18688" y="1051560"/>
            <a:ext cx="162091" cy="0"/>
          </a:xfrm>
          <a:prstGeom prst="line">
            <a:avLst/>
          </a:prstGeom>
          <a:noFill/>
          <a:ln w="12700">
            <a:solidFill>
              <a:srgbClr val="0F17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47872" y="850392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49040" y="1051560"/>
            <a:ext cx="162091" cy="0"/>
          </a:xfrm>
          <a:prstGeom prst="line">
            <a:avLst/>
          </a:prstGeom>
          <a:noFill/>
          <a:ln w="12700">
            <a:solidFill>
              <a:srgbClr val="0F17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78224" y="850392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79392" y="1051560"/>
            <a:ext cx="162091" cy="0"/>
          </a:xfrm>
          <a:prstGeom prst="line">
            <a:avLst/>
          </a:prstGeom>
          <a:noFill/>
          <a:ln w="12700">
            <a:solidFill>
              <a:srgbClr val="0F17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08576" y="850392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9744" y="1051560"/>
            <a:ext cx="162091" cy="0"/>
          </a:xfrm>
          <a:prstGeom prst="line">
            <a:avLst/>
          </a:prstGeom>
          <a:noFill/>
          <a:ln w="12700">
            <a:solidFill>
              <a:srgbClr val="0F17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38928" y="850392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40096" y="1051560"/>
            <a:ext cx="162091" cy="0"/>
          </a:xfrm>
          <a:prstGeom prst="line">
            <a:avLst/>
          </a:prstGeom>
          <a:noFill/>
          <a:ln w="12700">
            <a:solidFill>
              <a:srgbClr val="0F17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0" y="850392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70448" y="1051560"/>
            <a:ext cx="162091" cy="0"/>
          </a:xfrm>
          <a:prstGeom prst="line">
            <a:avLst/>
          </a:prstGeom>
          <a:noFill/>
          <a:ln w="12700">
            <a:solidFill>
              <a:srgbClr val="0F17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" y="1691640"/>
            <a:ext cx="91440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 (50°)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96112" y="1627632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97280" y="1828800"/>
            <a:ext cx="105798" cy="0"/>
          </a:xfrm>
          <a:prstGeom prst="line">
            <a:avLst/>
          </a:prstGeom>
          <a:noFill/>
          <a:ln w="12700">
            <a:solidFill>
              <a:srgbClr val="0F172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26464" y="1627632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27632" y="1828800"/>
            <a:ext cx="105798" cy="0"/>
          </a:xfrm>
          <a:prstGeom prst="line">
            <a:avLst/>
          </a:prstGeom>
          <a:noFill/>
          <a:ln w="12700">
            <a:solidFill>
              <a:srgbClr val="0F17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56816" y="1627632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57984" y="1828800"/>
            <a:ext cx="105798" cy="0"/>
          </a:xfrm>
          <a:prstGeom prst="line">
            <a:avLst/>
          </a:prstGeom>
          <a:noFill/>
          <a:ln w="12700">
            <a:solidFill>
              <a:srgbClr val="0F17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87168" y="1627632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88336" y="1828800"/>
            <a:ext cx="105798" cy="0"/>
          </a:xfrm>
          <a:prstGeom prst="line">
            <a:avLst/>
          </a:prstGeom>
          <a:noFill/>
          <a:ln w="12700">
            <a:solidFill>
              <a:srgbClr val="0F172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017520" y="1627632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18688" y="1828800"/>
            <a:ext cx="105798" cy="0"/>
          </a:xfrm>
          <a:prstGeom prst="line">
            <a:avLst/>
          </a:prstGeom>
          <a:noFill/>
          <a:ln w="12700">
            <a:solidFill>
              <a:srgbClr val="0F172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547872" y="1627632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749040" y="1828800"/>
            <a:ext cx="105798" cy="0"/>
          </a:xfrm>
          <a:prstGeom prst="line">
            <a:avLst/>
          </a:prstGeom>
          <a:noFill/>
          <a:ln w="12700">
            <a:solidFill>
              <a:srgbClr val="0F172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078224" y="1627632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79392" y="1828800"/>
            <a:ext cx="105798" cy="0"/>
          </a:xfrm>
          <a:prstGeom prst="line">
            <a:avLst/>
          </a:prstGeom>
          <a:noFill/>
          <a:ln w="12700">
            <a:solidFill>
              <a:srgbClr val="0F172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08576" y="1627632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09744" y="1828800"/>
            <a:ext cx="105798" cy="0"/>
          </a:xfrm>
          <a:prstGeom prst="line">
            <a:avLst/>
          </a:prstGeom>
          <a:noFill/>
          <a:ln w="12700">
            <a:solidFill>
              <a:srgbClr val="0F172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38928" y="1627632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340096" y="1828800"/>
            <a:ext cx="105798" cy="0"/>
          </a:xfrm>
          <a:prstGeom prst="line">
            <a:avLst/>
          </a:prstGeom>
          <a:noFill/>
          <a:ln w="12700">
            <a:solidFill>
              <a:srgbClr val="0F172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669280" y="1627632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870448" y="1828800"/>
            <a:ext cx="105798" cy="0"/>
          </a:xfrm>
          <a:prstGeom prst="line">
            <a:avLst/>
          </a:prstGeom>
          <a:noFill/>
          <a:ln w="12700">
            <a:solidFill>
              <a:srgbClr val="0F172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440" y="2468880"/>
            <a:ext cx="91440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 (120°)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96112" y="2404872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97280" y="2606040"/>
            <a:ext cx="0" cy="0"/>
          </a:xfrm>
          <a:prstGeom prst="line">
            <a:avLst/>
          </a:prstGeom>
          <a:noFill/>
          <a:ln w="12700">
            <a:solidFill>
              <a:srgbClr val="0F172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426464" y="2404872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627632" y="2606040"/>
            <a:ext cx="0" cy="0"/>
          </a:xfrm>
          <a:prstGeom prst="line">
            <a:avLst/>
          </a:prstGeom>
          <a:noFill/>
          <a:ln w="12700">
            <a:solidFill>
              <a:srgbClr val="0F172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956816" y="2404872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157984" y="2606040"/>
            <a:ext cx="0" cy="0"/>
          </a:xfrm>
          <a:prstGeom prst="line">
            <a:avLst/>
          </a:prstGeom>
          <a:noFill/>
          <a:ln w="12700">
            <a:solidFill>
              <a:srgbClr val="0F172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487168" y="2404872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688336" y="2606040"/>
            <a:ext cx="0" cy="0"/>
          </a:xfrm>
          <a:prstGeom prst="line">
            <a:avLst/>
          </a:prstGeom>
          <a:noFill/>
          <a:ln w="12700">
            <a:solidFill>
              <a:srgbClr val="0F172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017520" y="2404872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218688" y="2606040"/>
            <a:ext cx="0" cy="0"/>
          </a:xfrm>
          <a:prstGeom prst="line">
            <a:avLst/>
          </a:prstGeom>
          <a:noFill/>
          <a:ln w="12700">
            <a:solidFill>
              <a:srgbClr val="0F172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547872" y="2404872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0" y="2606040"/>
            <a:ext cx="0" cy="0"/>
          </a:xfrm>
          <a:prstGeom prst="line">
            <a:avLst/>
          </a:prstGeom>
          <a:noFill/>
          <a:ln w="12700">
            <a:solidFill>
              <a:srgbClr val="0F172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078224" y="2404872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279392" y="2606040"/>
            <a:ext cx="0" cy="0"/>
          </a:xfrm>
          <a:prstGeom prst="line">
            <a:avLst/>
          </a:prstGeom>
          <a:noFill/>
          <a:ln w="12700">
            <a:solidFill>
              <a:srgbClr val="0F172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608576" y="2404872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809744" y="2606040"/>
            <a:ext cx="0" cy="0"/>
          </a:xfrm>
          <a:prstGeom prst="line">
            <a:avLst/>
          </a:prstGeom>
          <a:noFill/>
          <a:ln w="12700">
            <a:solidFill>
              <a:srgbClr val="0F172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138928" y="2404872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340096" y="2606040"/>
            <a:ext cx="0" cy="0"/>
          </a:xfrm>
          <a:prstGeom prst="line">
            <a:avLst/>
          </a:prstGeom>
          <a:noFill/>
          <a:ln w="12700">
            <a:solidFill>
              <a:srgbClr val="0F172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669280" y="2404872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870448" y="2606040"/>
            <a:ext cx="0" cy="0"/>
          </a:xfrm>
          <a:prstGeom prst="line">
            <a:avLst/>
          </a:prstGeom>
          <a:noFill/>
          <a:ln w="12700">
            <a:solidFill>
              <a:srgbClr val="0F172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51560" y="3108960"/>
            <a:ext cx="73152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All 10 particles per row: identical orientation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400800" y="960120"/>
            <a:ext cx="2560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6492240" y="1014984"/>
            <a:ext cx="23774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averaging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6492240" y="1307592"/>
            <a:ext cx="23774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receiver weak-measures all 10 particles and averages. Noise reduces by √10 ≈ 3.2×.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6400800" y="2286000"/>
            <a:ext cx="2560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6492240" y="2340864"/>
            <a:ext cx="23774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are data particles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6492240" y="2633472"/>
            <a:ext cx="23774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particle is reserved — all 10 per row carry orientation data.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6400800" y="3611880"/>
            <a:ext cx="2560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6492240" y="3666744"/>
            <a:ext cx="23774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SNR scales with N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6492240" y="3959352"/>
            <a:ext cx="23774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particles per row → 10× noise reduction.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particles → 100× noise reduction.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Transceiver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94A3B8"/>
                </a:solidFill>
              </a:rPr>
              <a:t>Quantum Entangled Multiplexing Transceiver (QEMT)  |  Daniel Miles  ·  2026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5603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14400"/>
            <a:ext cx="25603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261872"/>
            <a:ext cx="2560320" cy="228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 + Coil Array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2194560" cy="1508760"/>
          </a:xfrm>
          <a:prstGeom prst="rect">
            <a:avLst/>
          </a:prstGeom>
          <a:solidFill>
            <a:srgbClr val="E8E8E8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54480"/>
            <a:ext cx="219456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ROWS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828800"/>
            <a:ext cx="219456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 → transmit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(same orientation per row)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127248"/>
            <a:ext cx="2194560" cy="1371600"/>
          </a:xfrm>
          <a:prstGeom prst="rect">
            <a:avLst/>
          </a:prstGeom>
          <a:solidFill>
            <a:srgbClr val="F4F4F4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127248"/>
            <a:ext cx="219456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 ROWS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401568"/>
            <a:ext cx="219456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weak-read → decode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(average N reads per row)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127248"/>
            <a:ext cx="2560320" cy="0"/>
          </a:xfrm>
          <a:prstGeom prst="line">
            <a:avLst/>
          </a:prstGeom>
          <a:noFill/>
          <a:ln w="12700">
            <a:solidFill>
              <a:srgbClr val="0F172A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457200" y="3063240"/>
            <a:ext cx="2560320" cy="182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/ RX split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217920" y="914400"/>
            <a:ext cx="25603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914400"/>
            <a:ext cx="25603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1261872"/>
            <a:ext cx="2560320" cy="228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 + Coil Array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0" y="1554480"/>
            <a:ext cx="2194560" cy="1508760"/>
          </a:xfrm>
          <a:prstGeom prst="rect">
            <a:avLst/>
          </a:prstGeom>
          <a:solidFill>
            <a:srgbClr val="E8E8E8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1554480"/>
            <a:ext cx="219456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ROWS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1828800"/>
            <a:ext cx="219456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 → transmit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(same orientation per row)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00800" y="3127248"/>
            <a:ext cx="2194560" cy="1371600"/>
          </a:xfrm>
          <a:prstGeom prst="rect">
            <a:avLst/>
          </a:prstGeom>
          <a:solidFill>
            <a:srgbClr val="F4F4F4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3127248"/>
            <a:ext cx="219456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 ROWS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3401568"/>
            <a:ext cx="219456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weak-read → decode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(average N reads per row)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309360" y="3127248"/>
            <a:ext cx="2560320" cy="0"/>
          </a:xfrm>
          <a:prstGeom prst="line">
            <a:avLst/>
          </a:prstGeom>
          <a:noFill/>
          <a:ln w="12700">
            <a:solidFill>
              <a:srgbClr val="0F172A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6309360" y="3063240"/>
            <a:ext cx="2560320" cy="182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/ RX split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154680" y="1188720"/>
            <a:ext cx="2834640" cy="105156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54680" y="1234440"/>
            <a:ext cx="28346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A-TX  →  B-RX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154680" y="1536192"/>
            <a:ext cx="283464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rows of A entangled with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 rows of B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154680" y="2514600"/>
            <a:ext cx="2834640" cy="1051560"/>
          </a:xfrm>
          <a:prstGeom prst="rect">
            <a:avLst/>
          </a:prstGeom>
          <a:solidFill>
            <a:srgbClr val="FFF7ED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54680" y="2560320"/>
            <a:ext cx="28346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B-TX  →  A-RX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154680" y="2862072"/>
            <a:ext cx="283464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rows of B entangled with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 rows of 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0" y="2304288"/>
            <a:ext cx="411480" cy="0"/>
          </a:xfrm>
          <a:prstGeom prst="line">
            <a:avLst/>
          </a:prstGeom>
          <a:noFill/>
          <a:ln w="12700">
            <a:solidFill>
              <a:srgbClr val="1E40A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89320" y="2304288"/>
            <a:ext cx="411480" cy="0"/>
          </a:xfrm>
          <a:prstGeom prst="line">
            <a:avLst/>
          </a:prstGeom>
          <a:noFill/>
          <a:ln w="12700">
            <a:solidFill>
              <a:srgbClr val="1E40A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89320" y="3538728"/>
            <a:ext cx="411480" cy="0"/>
          </a:xfrm>
          <a:prstGeom prst="line">
            <a:avLst/>
          </a:prstGeom>
          <a:noFill/>
          <a:ln w="12700">
            <a:solidFill>
              <a:srgbClr val="92400E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2743200" y="3538728"/>
            <a:ext cx="411480" cy="0"/>
          </a:xfrm>
          <a:prstGeom prst="line">
            <a:avLst/>
          </a:prstGeom>
          <a:noFill/>
          <a:ln w="12700">
            <a:solidFill>
              <a:srgbClr val="92400E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Full-duplex: simultaneous TX and RX on a single slab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Mechanism — Weak Measurement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94A3B8"/>
                </a:solidFill>
              </a:rPr>
              <a:t>Quantum Entangled Multiplexing Transceiver (QEMT)  |  Daniel Miles  ·  2026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2377440" cy="5486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96112"/>
            <a:ext cx="23774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(spin state)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554480" y="1444752"/>
            <a:ext cx="0" cy="20116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645920"/>
            <a:ext cx="2377440" cy="548640"/>
          </a:xfrm>
          <a:prstGeom prst="rect">
            <a:avLst/>
          </a:prstGeom>
          <a:solidFill>
            <a:srgbClr val="E8E8E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45920"/>
            <a:ext cx="23774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Laser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(low-power)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554480" y="2194560"/>
            <a:ext cx="0" cy="20116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395728"/>
            <a:ext cx="2377440" cy="548640"/>
          </a:xfrm>
          <a:prstGeom prst="rect">
            <a:avLst/>
          </a:prstGeom>
          <a:solidFill>
            <a:srgbClr val="E8E8E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395728"/>
            <a:ext cx="23774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Photodetector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554480" y="2944368"/>
            <a:ext cx="0" cy="20116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145536"/>
            <a:ext cx="2377440" cy="548640"/>
          </a:xfrm>
          <a:prstGeom prst="roundRect">
            <a:avLst>
              <a:gd name="adj" fmla="val 8333"/>
            </a:avLst>
          </a:prstGeom>
          <a:solidFill>
            <a:srgbClr val="E8E8E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145536"/>
            <a:ext cx="23774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(averages N reads)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554480" y="3694176"/>
            <a:ext cx="0" cy="20116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895344"/>
            <a:ext cx="2377440" cy="548640"/>
          </a:xfrm>
          <a:prstGeom prst="roundRect">
            <a:avLst>
              <a:gd name="adj" fmla="val 8333"/>
            </a:avLst>
          </a:prstGeom>
          <a:solidFill>
            <a:srgbClr val="E8E8E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895344"/>
            <a:ext cx="23774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Disc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(lookup → character)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08960" y="960120"/>
          <a:ext cx="5760720" cy="208483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Ensemble 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Angular Res.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Chars (10°)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SNR Gain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±45°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baseline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±14°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+10 dB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100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±4.5°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32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+20 dB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1,000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±1.4°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64+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+30 dB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10,000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±0.45°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Full set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+40 dB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3108960" y="3154680"/>
            <a:ext cx="57607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Angular resolution = ±45° ÷ √N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108960" y="3474720"/>
            <a:ext cx="57607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measurement: partial state interrogation — does not fully collapse the quantum state.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read extracts a small amount of orientation information. N reads converge to the true angle.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Mechanism — Setting Particle Orientation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94A3B8"/>
                </a:solidFill>
              </a:rPr>
              <a:t>Quantum Entangled Multiplexing Transceiver (QEMT)  |  Daniel Miles  ·  2026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2788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32688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32688"/>
            <a:ext cx="6400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225296"/>
            <a:ext cx="26060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ESR / Microwave Pulse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6459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Microwave pulse at Larmor frequency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0299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Pulse duration sets rotation angle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41401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Rabi oscillation → any angle achievable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79806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Precision: &lt; 0.1° achievable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4224528"/>
            <a:ext cx="2606040" cy="457200"/>
          </a:xfrm>
          <a:prstGeom prst="rect">
            <a:avLst/>
          </a:prstGeom>
          <a:solidFill>
            <a:srgbClr val="F8F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224528"/>
            <a:ext cx="26060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NMR/ESR technique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10128" y="896112"/>
            <a:ext cx="2788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01568" y="932688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01568" y="932688"/>
            <a:ext cx="6400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401568" y="1225296"/>
            <a:ext cx="26060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Pumping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47288" y="16459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Resonant laser pulse sets spin state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47288" y="20299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Beam polarisation defines axis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47288" y="241401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Nanosecond timescale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47288" y="279806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Precision: ~1° per pulse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01568" y="4224528"/>
            <a:ext cx="2606040" cy="457200"/>
          </a:xfrm>
          <a:prstGeom prst="rect">
            <a:avLst/>
          </a:prstGeom>
          <a:solidFill>
            <a:srgbClr val="F8F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01568" y="4224528"/>
            <a:ext cx="26060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NV centre quantum gates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54496" y="896112"/>
            <a:ext cx="2788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45936" y="932688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45936" y="932688"/>
            <a:ext cx="6400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345936" y="1225296"/>
            <a:ext cx="26060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Miniature Coil  ★ Recommended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91656" y="16459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Per-cavity nanoscale coil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91656" y="20299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MCU GPIO drives current pulse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91656" y="241401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No optical alignment needed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91656" y="279806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Row × column matrix addressing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45936" y="4224528"/>
            <a:ext cx="2606040" cy="457200"/>
          </a:xfrm>
          <a:prstGeom prst="rect">
            <a:avLst/>
          </a:prstGeom>
          <a:solidFill>
            <a:srgbClr val="F8F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45936" y="4224528"/>
            <a:ext cx="26060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Fabricated in same e-beam step as cavity grid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Miniature Coil — Per-Cavity Magnetic Write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94A3B8"/>
                </a:solidFill>
              </a:rPr>
              <a:t>Quantum Entangled Multiplexing Transceiver (QEMT)  |  Daniel Miles  ·  2026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896112"/>
            <a:ext cx="40233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photon cavity in the slab is surrounded by a nanoscale coil fabricated in the same electron-beam lithography step as the cavity grid.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40233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645920"/>
            <a:ext cx="40233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CAVITY CROSS-SECTION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3474720"/>
            <a:ext cx="3291840" cy="256032"/>
          </a:xfrm>
          <a:prstGeom prst="rect">
            <a:avLst/>
          </a:prstGeom>
          <a:solidFill>
            <a:srgbClr val="E8E8E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474720"/>
            <a:ext cx="329184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 / YSO substrate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965960" y="24688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65960" y="2468880"/>
            <a:ext cx="8229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qubit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965960" y="2779776"/>
            <a:ext cx="822960" cy="201168"/>
          </a:xfrm>
          <a:prstGeom prst="ellipse">
            <a:avLst/>
          </a:prstGeom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74520" y="2756916"/>
            <a:ext cx="1005840" cy="246888"/>
          </a:xfrm>
          <a:prstGeom prst="ellipse">
            <a:avLst/>
          </a:prstGeom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83080" y="2734056"/>
            <a:ext cx="1188720" cy="292608"/>
          </a:xfrm>
          <a:prstGeom prst="ellipse">
            <a:avLst/>
          </a:prstGeom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77440" y="3429000"/>
            <a:ext cx="0" cy="0"/>
          </a:xfrm>
          <a:prstGeom prst="line">
            <a:avLst/>
          </a:prstGeom>
          <a:noFill/>
          <a:ln w="12700">
            <a:solidFill>
              <a:srgbClr val="1E40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2743200"/>
            <a:ext cx="8229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B-field →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645920" y="2880360"/>
            <a:ext cx="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697480"/>
            <a:ext cx="457200" cy="365760"/>
          </a:xfrm>
          <a:prstGeom prst="rect">
            <a:avLst/>
          </a:prstGeom>
          <a:solidFill>
            <a:srgbClr val="E8E8E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697480"/>
            <a:ext cx="4572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</a:t>
            </a:r>
            <a:endParaRPr lang="en-US" sz="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914400"/>
          <a:ext cx="4297680" cy="3072384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Coil diameter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50 – 200 nm  (scales with cavity)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Wire material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Superconducting NbTi or normal Cu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Field strength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1 – 100 mT  (sufficient for Larmor rotation)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Pulse duration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1 – 100 ns  (Rabi pi-pulse to set angle)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Addressing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Row select × column select via MCU GPIO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Fabrication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E-beam lithography — same step as cavity grid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Precision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Sub-degree angular control achievable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Advantage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No laser alignment — pure electrical control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Slab Operating Modes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94A3B8"/>
                </a:solidFill>
              </a:rPr>
              <a:t>Quantum Entangled Multiplexing Transceiver (QEMT)  |  Daniel Miles  ·  2026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320040" y="896112"/>
            <a:ext cx="2788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32688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32688"/>
            <a:ext cx="6400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97280" y="932688"/>
            <a:ext cx="192024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Transmission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1261872"/>
            <a:ext cx="1371600" cy="173736"/>
          </a:xfrm>
          <a:prstGeom prst="rect">
            <a:avLst/>
          </a:prstGeom>
          <a:solidFill>
            <a:srgbClr val="D1D5D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303020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6968" y="1303020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15568" y="1303020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44168" y="1303020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72768" y="1303020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56816" y="1261872"/>
            <a:ext cx="25603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0F172A"/>
                </a:solidFill>
              </a:rPr>
              <a:t>TX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548640" y="1453896"/>
            <a:ext cx="1371600" cy="173736"/>
          </a:xfrm>
          <a:prstGeom prst="rect">
            <a:avLst/>
          </a:prstGeom>
          <a:solidFill>
            <a:srgbClr val="D1D5D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1495044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6968" y="1495044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5568" y="1495044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44168" y="1495044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72768" y="1495044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56816" y="1453896"/>
            <a:ext cx="25603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0F172A"/>
                </a:solidFill>
              </a:rPr>
              <a:t>TX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548640" y="1645920"/>
            <a:ext cx="1371600" cy="173736"/>
          </a:xfrm>
          <a:prstGeom prst="rect">
            <a:avLst/>
          </a:prstGeom>
          <a:solidFill>
            <a:srgbClr val="D1D5D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" y="1687068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6968" y="1687068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15568" y="1687068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44168" y="1687068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72768" y="1687068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56816" y="1645920"/>
            <a:ext cx="25603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0F172A"/>
                </a:solidFill>
              </a:rPr>
              <a:t>TX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548640" y="1837944"/>
            <a:ext cx="1371600" cy="173736"/>
          </a:xfrm>
          <a:prstGeom prst="rect">
            <a:avLst/>
          </a:prstGeom>
          <a:solidFill>
            <a:srgbClr val="D1D5D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8368" y="1879092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6968" y="1879092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15568" y="1879092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44168" y="1879092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572768" y="1879092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56816" y="1837944"/>
            <a:ext cx="25603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0F172A"/>
                </a:solidFill>
              </a:rPr>
              <a:t>TX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548640" y="2029968"/>
            <a:ext cx="1371600" cy="173736"/>
          </a:xfrm>
          <a:prstGeom prst="rect">
            <a:avLst/>
          </a:prstGeom>
          <a:solidFill>
            <a:srgbClr val="D1D5D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8368" y="2071116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86968" y="2071116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15568" y="2071116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44168" y="2071116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572768" y="2071116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6816" y="2029968"/>
            <a:ext cx="25603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0F172A"/>
                </a:solidFill>
              </a:rPr>
              <a:t>TX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548640" y="2221992"/>
            <a:ext cx="1371600" cy="173736"/>
          </a:xfrm>
          <a:prstGeom prst="rect">
            <a:avLst/>
          </a:prstGeom>
          <a:solidFill>
            <a:srgbClr val="D1D5D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8368" y="2263140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86968" y="2263140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15568" y="2263140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44168" y="2263140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572768" y="2263140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956816" y="2221992"/>
            <a:ext cx="25603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0F172A"/>
                </a:solidFill>
              </a:rPr>
              <a:t>TX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548640" y="2414016"/>
            <a:ext cx="1371600" cy="173736"/>
          </a:xfrm>
          <a:prstGeom prst="rect">
            <a:avLst/>
          </a:prstGeom>
          <a:solidFill>
            <a:srgbClr val="D1D5D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58368" y="2455164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86968" y="2455164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15568" y="2455164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344168" y="2455164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572768" y="2455164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956816" y="2414016"/>
            <a:ext cx="25603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0F172A"/>
                </a:solidFill>
              </a:rPr>
              <a:t>TX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548640" y="2606040"/>
            <a:ext cx="1371600" cy="173736"/>
          </a:xfrm>
          <a:prstGeom prst="rect">
            <a:avLst/>
          </a:prstGeom>
          <a:solidFill>
            <a:srgbClr val="D1D5D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58368" y="2647188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86968" y="2647188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15568" y="2647188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344168" y="2647188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572768" y="2647188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956816" y="2606040"/>
            <a:ext cx="25603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0F172A"/>
                </a:solidFill>
              </a:rPr>
              <a:t>TX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411480" y="2907792"/>
            <a:ext cx="2606040" cy="1554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rows transmit the same character simultaneously. Maximum ensemble size — all N×rows particles average together. Highest SNR. Use when channel quality is poor.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3291840" y="896112"/>
            <a:ext cx="2788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3383280" y="932688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383280" y="932688"/>
            <a:ext cx="6400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2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4069080" y="932688"/>
            <a:ext cx="192024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Half-Duplex Split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3520440" y="1261872"/>
            <a:ext cx="1371600" cy="173736"/>
          </a:xfrm>
          <a:prstGeom prst="rect">
            <a:avLst/>
          </a:prstGeom>
          <a:solidFill>
            <a:srgbClr val="D1D5D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630168" y="1303020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858768" y="1303020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087368" y="1303020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315968" y="1303020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544568" y="1303020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928616" y="1261872"/>
            <a:ext cx="25603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0F172A"/>
                </a:solidFill>
              </a:rPr>
              <a:t>TX</a:t>
            </a:r>
            <a:endParaRPr lang="en-US" sz="650" dirty="0"/>
          </a:p>
        </p:txBody>
      </p:sp>
      <p:sp>
        <p:nvSpPr>
          <p:cNvPr id="77" name="Shape 75"/>
          <p:cNvSpPr/>
          <p:nvPr/>
        </p:nvSpPr>
        <p:spPr>
          <a:xfrm>
            <a:off x="3520440" y="1453896"/>
            <a:ext cx="1371600" cy="173736"/>
          </a:xfrm>
          <a:prstGeom prst="rect">
            <a:avLst/>
          </a:prstGeom>
          <a:solidFill>
            <a:srgbClr val="D1D5D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630168" y="1495044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858768" y="1495044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087368" y="1495044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315968" y="1495044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544568" y="1495044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928616" y="1453896"/>
            <a:ext cx="25603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0F172A"/>
                </a:solidFill>
              </a:rPr>
              <a:t>TX</a:t>
            </a:r>
            <a:endParaRPr lang="en-US" sz="650" dirty="0"/>
          </a:p>
        </p:txBody>
      </p:sp>
      <p:sp>
        <p:nvSpPr>
          <p:cNvPr id="84" name="Shape 82"/>
          <p:cNvSpPr/>
          <p:nvPr/>
        </p:nvSpPr>
        <p:spPr>
          <a:xfrm>
            <a:off x="3520440" y="1645920"/>
            <a:ext cx="1371600" cy="173736"/>
          </a:xfrm>
          <a:prstGeom prst="rect">
            <a:avLst/>
          </a:prstGeom>
          <a:solidFill>
            <a:srgbClr val="D1D5D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630168" y="1687068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858768" y="1687068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087368" y="1687068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315968" y="1687068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544568" y="1687068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928616" y="1645920"/>
            <a:ext cx="25603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0F172A"/>
                </a:solidFill>
              </a:rPr>
              <a:t>TX</a:t>
            </a:r>
            <a:endParaRPr lang="en-US" sz="650" dirty="0"/>
          </a:p>
        </p:txBody>
      </p:sp>
      <p:sp>
        <p:nvSpPr>
          <p:cNvPr id="91" name="Shape 89"/>
          <p:cNvSpPr/>
          <p:nvPr/>
        </p:nvSpPr>
        <p:spPr>
          <a:xfrm>
            <a:off x="3520440" y="1837944"/>
            <a:ext cx="1371600" cy="173736"/>
          </a:xfrm>
          <a:prstGeom prst="rect">
            <a:avLst/>
          </a:prstGeom>
          <a:solidFill>
            <a:srgbClr val="D1D5D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630168" y="1879092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858768" y="1879092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087368" y="1879092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315968" y="1879092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544568" y="1879092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928616" y="1837944"/>
            <a:ext cx="25603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0F172A"/>
                </a:solidFill>
              </a:rPr>
              <a:t>TX</a:t>
            </a:r>
            <a:endParaRPr lang="en-US" sz="650" dirty="0"/>
          </a:p>
        </p:txBody>
      </p:sp>
      <p:sp>
        <p:nvSpPr>
          <p:cNvPr id="98" name="Shape 96"/>
          <p:cNvSpPr/>
          <p:nvPr/>
        </p:nvSpPr>
        <p:spPr>
          <a:xfrm>
            <a:off x="3520440" y="2029968"/>
            <a:ext cx="1371600" cy="173736"/>
          </a:xfrm>
          <a:prstGeom prst="rect">
            <a:avLst/>
          </a:prstGeom>
          <a:solidFill>
            <a:srgbClr val="F3F4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630168" y="2071116"/>
            <a:ext cx="109728" cy="10972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858768" y="2071116"/>
            <a:ext cx="109728" cy="10972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087368" y="2071116"/>
            <a:ext cx="109728" cy="10972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315968" y="2071116"/>
            <a:ext cx="109728" cy="10972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544568" y="2071116"/>
            <a:ext cx="109728" cy="10972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928616" y="2029968"/>
            <a:ext cx="25603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94A3B8"/>
                </a:solidFill>
              </a:rPr>
              <a:t>RX</a:t>
            </a:r>
            <a:endParaRPr lang="en-US" sz="650" dirty="0"/>
          </a:p>
        </p:txBody>
      </p:sp>
      <p:sp>
        <p:nvSpPr>
          <p:cNvPr id="105" name="Shape 103"/>
          <p:cNvSpPr/>
          <p:nvPr/>
        </p:nvSpPr>
        <p:spPr>
          <a:xfrm>
            <a:off x="3520440" y="2221992"/>
            <a:ext cx="1371600" cy="173736"/>
          </a:xfrm>
          <a:prstGeom prst="rect">
            <a:avLst/>
          </a:prstGeom>
          <a:solidFill>
            <a:srgbClr val="F3F4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630168" y="2263140"/>
            <a:ext cx="109728" cy="10972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858768" y="2263140"/>
            <a:ext cx="109728" cy="10972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087368" y="2263140"/>
            <a:ext cx="109728" cy="10972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315968" y="2263140"/>
            <a:ext cx="109728" cy="10972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544568" y="2263140"/>
            <a:ext cx="109728" cy="10972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928616" y="2221992"/>
            <a:ext cx="25603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94A3B8"/>
                </a:solidFill>
              </a:rPr>
              <a:t>RX</a:t>
            </a:r>
            <a:endParaRPr lang="en-US" sz="650" dirty="0"/>
          </a:p>
        </p:txBody>
      </p:sp>
      <p:sp>
        <p:nvSpPr>
          <p:cNvPr id="112" name="Shape 110"/>
          <p:cNvSpPr/>
          <p:nvPr/>
        </p:nvSpPr>
        <p:spPr>
          <a:xfrm>
            <a:off x="3520440" y="2414016"/>
            <a:ext cx="1371600" cy="173736"/>
          </a:xfrm>
          <a:prstGeom prst="rect">
            <a:avLst/>
          </a:prstGeom>
          <a:solidFill>
            <a:srgbClr val="F3F4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3630168" y="2455164"/>
            <a:ext cx="109728" cy="10972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858768" y="2455164"/>
            <a:ext cx="109728" cy="10972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087368" y="2455164"/>
            <a:ext cx="109728" cy="10972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315968" y="2455164"/>
            <a:ext cx="109728" cy="10972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544568" y="2455164"/>
            <a:ext cx="109728" cy="10972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4928616" y="2414016"/>
            <a:ext cx="25603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94A3B8"/>
                </a:solidFill>
              </a:rPr>
              <a:t>RX</a:t>
            </a:r>
            <a:endParaRPr lang="en-US" sz="650" dirty="0"/>
          </a:p>
        </p:txBody>
      </p:sp>
      <p:sp>
        <p:nvSpPr>
          <p:cNvPr id="119" name="Shape 117"/>
          <p:cNvSpPr/>
          <p:nvPr/>
        </p:nvSpPr>
        <p:spPr>
          <a:xfrm>
            <a:off x="3520440" y="2606040"/>
            <a:ext cx="1371600" cy="173736"/>
          </a:xfrm>
          <a:prstGeom prst="rect">
            <a:avLst/>
          </a:prstGeom>
          <a:solidFill>
            <a:srgbClr val="F3F4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630168" y="2647188"/>
            <a:ext cx="109728" cy="10972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3858768" y="2647188"/>
            <a:ext cx="109728" cy="10972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087368" y="2647188"/>
            <a:ext cx="109728" cy="10972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315968" y="2647188"/>
            <a:ext cx="109728" cy="10972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544568" y="2647188"/>
            <a:ext cx="109728" cy="10972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4928616" y="2606040"/>
            <a:ext cx="25603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94A3B8"/>
                </a:solidFill>
              </a:rPr>
              <a:t>RX</a:t>
            </a:r>
            <a:endParaRPr lang="en-US" sz="650" dirty="0"/>
          </a:p>
        </p:txBody>
      </p:sp>
      <p:sp>
        <p:nvSpPr>
          <p:cNvPr id="126" name="Shape 124"/>
          <p:cNvSpPr/>
          <p:nvPr/>
        </p:nvSpPr>
        <p:spPr>
          <a:xfrm>
            <a:off x="3483864" y="2029968"/>
            <a:ext cx="1444752" cy="0"/>
          </a:xfrm>
          <a:prstGeom prst="line">
            <a:avLst/>
          </a:prstGeom>
          <a:noFill/>
          <a:ln w="12700">
            <a:solidFill>
              <a:srgbClr val="0F172A"/>
            </a:solidFill>
            <a:prstDash val="dash"/>
          </a:ln>
        </p:spPr>
      </p:sp>
      <p:sp>
        <p:nvSpPr>
          <p:cNvPr id="127" name="Text 125"/>
          <p:cNvSpPr/>
          <p:nvPr/>
        </p:nvSpPr>
        <p:spPr>
          <a:xfrm>
            <a:off x="3383280" y="2907792"/>
            <a:ext cx="2606040" cy="1554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half TX, bottom half RX simultaneously. Enables real-time bidirectional data transfer. Each direction uses N×(rows/2) particles.</a:t>
            </a:r>
            <a:endParaRPr lang="en-US" sz="950" dirty="0"/>
          </a:p>
        </p:txBody>
      </p:sp>
      <p:sp>
        <p:nvSpPr>
          <p:cNvPr id="128" name="Shape 126"/>
          <p:cNvSpPr/>
          <p:nvPr/>
        </p:nvSpPr>
        <p:spPr>
          <a:xfrm>
            <a:off x="6263640" y="896112"/>
            <a:ext cx="2788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9" name="Shape 127"/>
          <p:cNvSpPr/>
          <p:nvPr/>
        </p:nvSpPr>
        <p:spPr>
          <a:xfrm>
            <a:off x="6355080" y="932688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6355080" y="932688"/>
            <a:ext cx="6400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3</a:t>
            </a:r>
            <a:endParaRPr lang="en-US" sz="800" dirty="0"/>
          </a:p>
        </p:txBody>
      </p:sp>
      <p:sp>
        <p:nvSpPr>
          <p:cNvPr id="131" name="Text 129"/>
          <p:cNvSpPr/>
          <p:nvPr/>
        </p:nvSpPr>
        <p:spPr>
          <a:xfrm>
            <a:off x="7040880" y="932688"/>
            <a:ext cx="192024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Allocation</a:t>
            </a:r>
            <a:endParaRPr lang="en-US" sz="1050" dirty="0"/>
          </a:p>
        </p:txBody>
      </p:sp>
      <p:sp>
        <p:nvSpPr>
          <p:cNvPr id="132" name="Shape 130"/>
          <p:cNvSpPr/>
          <p:nvPr/>
        </p:nvSpPr>
        <p:spPr>
          <a:xfrm>
            <a:off x="6492240" y="1261872"/>
            <a:ext cx="1371600" cy="173736"/>
          </a:xfrm>
          <a:prstGeom prst="rect">
            <a:avLst/>
          </a:prstGeom>
          <a:solidFill>
            <a:srgbClr val="D1D5D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6601968" y="1303020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6830568" y="1303020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7059168" y="1303020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7287768" y="1303020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7516368" y="1303020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7900416" y="1261872"/>
            <a:ext cx="25603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0F172A"/>
                </a:solidFill>
              </a:rPr>
              <a:t>TX</a:t>
            </a:r>
            <a:endParaRPr lang="en-US" sz="650" dirty="0"/>
          </a:p>
        </p:txBody>
      </p:sp>
      <p:sp>
        <p:nvSpPr>
          <p:cNvPr id="139" name="Shape 137"/>
          <p:cNvSpPr/>
          <p:nvPr/>
        </p:nvSpPr>
        <p:spPr>
          <a:xfrm>
            <a:off x="6492240" y="1453896"/>
            <a:ext cx="1371600" cy="173736"/>
          </a:xfrm>
          <a:prstGeom prst="rect">
            <a:avLst/>
          </a:prstGeom>
          <a:solidFill>
            <a:srgbClr val="D1D5D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6601968" y="1495044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830568" y="1495044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7059168" y="1495044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7287768" y="1495044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7516368" y="1495044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7900416" y="1453896"/>
            <a:ext cx="25603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0F172A"/>
                </a:solidFill>
              </a:rPr>
              <a:t>TX</a:t>
            </a:r>
            <a:endParaRPr lang="en-US" sz="650" dirty="0"/>
          </a:p>
        </p:txBody>
      </p:sp>
      <p:sp>
        <p:nvSpPr>
          <p:cNvPr id="146" name="Shape 144"/>
          <p:cNvSpPr/>
          <p:nvPr/>
        </p:nvSpPr>
        <p:spPr>
          <a:xfrm>
            <a:off x="6492240" y="1645920"/>
            <a:ext cx="1371600" cy="173736"/>
          </a:xfrm>
          <a:prstGeom prst="rect">
            <a:avLst/>
          </a:prstGeom>
          <a:solidFill>
            <a:srgbClr val="D1D5D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6601968" y="1687068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6830568" y="1687068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7059168" y="1687068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7287768" y="1687068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516368" y="1687068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7900416" y="1645920"/>
            <a:ext cx="25603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0F172A"/>
                </a:solidFill>
              </a:rPr>
              <a:t>TX</a:t>
            </a:r>
            <a:endParaRPr lang="en-US" sz="650" dirty="0"/>
          </a:p>
        </p:txBody>
      </p:sp>
      <p:sp>
        <p:nvSpPr>
          <p:cNvPr id="153" name="Shape 151"/>
          <p:cNvSpPr/>
          <p:nvPr/>
        </p:nvSpPr>
        <p:spPr>
          <a:xfrm>
            <a:off x="6492240" y="1837944"/>
            <a:ext cx="1371600" cy="173736"/>
          </a:xfrm>
          <a:prstGeom prst="rect">
            <a:avLst/>
          </a:prstGeom>
          <a:solidFill>
            <a:srgbClr val="D1D5D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6601968" y="1879092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6830568" y="1879092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7059168" y="1879092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7287768" y="1879092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7516368" y="1879092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7900416" y="1837944"/>
            <a:ext cx="25603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0F172A"/>
                </a:solidFill>
              </a:rPr>
              <a:t>TX</a:t>
            </a:r>
            <a:endParaRPr lang="en-US" sz="650" dirty="0"/>
          </a:p>
        </p:txBody>
      </p:sp>
      <p:sp>
        <p:nvSpPr>
          <p:cNvPr id="160" name="Shape 158"/>
          <p:cNvSpPr/>
          <p:nvPr/>
        </p:nvSpPr>
        <p:spPr>
          <a:xfrm>
            <a:off x="6492240" y="2029968"/>
            <a:ext cx="1371600" cy="173736"/>
          </a:xfrm>
          <a:prstGeom prst="rect">
            <a:avLst/>
          </a:prstGeom>
          <a:solidFill>
            <a:srgbClr val="D1D5D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601968" y="2071116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830568" y="2071116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7059168" y="2071116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7287768" y="2071116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7516368" y="2071116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7900416" y="2029968"/>
            <a:ext cx="25603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0F172A"/>
                </a:solidFill>
              </a:rPr>
              <a:t>TX</a:t>
            </a:r>
            <a:endParaRPr lang="en-US" sz="650" dirty="0"/>
          </a:p>
        </p:txBody>
      </p:sp>
      <p:sp>
        <p:nvSpPr>
          <p:cNvPr id="167" name="Shape 165"/>
          <p:cNvSpPr/>
          <p:nvPr/>
        </p:nvSpPr>
        <p:spPr>
          <a:xfrm>
            <a:off x="6492240" y="2221992"/>
            <a:ext cx="1371600" cy="173736"/>
          </a:xfrm>
          <a:prstGeom prst="rect">
            <a:avLst/>
          </a:prstGeom>
          <a:solidFill>
            <a:srgbClr val="D1D5D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601968" y="2263140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830568" y="2263140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7059168" y="2263140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7287768" y="2263140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7516368" y="2263140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7900416" y="2221992"/>
            <a:ext cx="25603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0F172A"/>
                </a:solidFill>
              </a:rPr>
              <a:t>TX</a:t>
            </a:r>
            <a:endParaRPr lang="en-US" sz="650" dirty="0"/>
          </a:p>
        </p:txBody>
      </p:sp>
      <p:sp>
        <p:nvSpPr>
          <p:cNvPr id="174" name="Shape 172"/>
          <p:cNvSpPr/>
          <p:nvPr/>
        </p:nvSpPr>
        <p:spPr>
          <a:xfrm>
            <a:off x="6492240" y="2414016"/>
            <a:ext cx="1371600" cy="173736"/>
          </a:xfrm>
          <a:prstGeom prst="rect">
            <a:avLst/>
          </a:prstGeom>
          <a:solidFill>
            <a:srgbClr val="F3F4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601968" y="2455164"/>
            <a:ext cx="109728" cy="10972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830568" y="2455164"/>
            <a:ext cx="109728" cy="10972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7059168" y="2455164"/>
            <a:ext cx="109728" cy="10972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7287768" y="2455164"/>
            <a:ext cx="109728" cy="10972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7516368" y="2455164"/>
            <a:ext cx="109728" cy="10972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7900416" y="2414016"/>
            <a:ext cx="25603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94A3B8"/>
                </a:solidFill>
              </a:rPr>
              <a:t>RX</a:t>
            </a:r>
            <a:endParaRPr lang="en-US" sz="650" dirty="0"/>
          </a:p>
        </p:txBody>
      </p:sp>
      <p:sp>
        <p:nvSpPr>
          <p:cNvPr id="181" name="Shape 179"/>
          <p:cNvSpPr/>
          <p:nvPr/>
        </p:nvSpPr>
        <p:spPr>
          <a:xfrm>
            <a:off x="6492240" y="2606040"/>
            <a:ext cx="1371600" cy="173736"/>
          </a:xfrm>
          <a:prstGeom prst="rect">
            <a:avLst/>
          </a:prstGeom>
          <a:solidFill>
            <a:srgbClr val="F3F4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601968" y="2647188"/>
            <a:ext cx="109728" cy="10972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830568" y="2647188"/>
            <a:ext cx="109728" cy="10972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059168" y="2647188"/>
            <a:ext cx="109728" cy="10972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7287768" y="2647188"/>
            <a:ext cx="109728" cy="10972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7516368" y="2647188"/>
            <a:ext cx="109728" cy="10972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7900416" y="2606040"/>
            <a:ext cx="25603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94A3B8"/>
                </a:solidFill>
              </a:rPr>
              <a:t>RX</a:t>
            </a:r>
            <a:endParaRPr lang="en-US" sz="650" dirty="0"/>
          </a:p>
        </p:txBody>
      </p:sp>
      <p:sp>
        <p:nvSpPr>
          <p:cNvPr id="188" name="Shape 186"/>
          <p:cNvSpPr/>
          <p:nvPr/>
        </p:nvSpPr>
        <p:spPr>
          <a:xfrm>
            <a:off x="6455664" y="2414016"/>
            <a:ext cx="1444752" cy="0"/>
          </a:xfrm>
          <a:prstGeom prst="line">
            <a:avLst/>
          </a:prstGeom>
          <a:noFill/>
          <a:ln w="12700">
            <a:solidFill>
              <a:srgbClr val="0F172A"/>
            </a:solidFill>
            <a:prstDash val="dash"/>
          </a:ln>
        </p:spPr>
      </p:sp>
      <p:sp>
        <p:nvSpPr>
          <p:cNvPr id="189" name="Text 187"/>
          <p:cNvSpPr/>
          <p:nvPr/>
        </p:nvSpPr>
        <p:spPr>
          <a:xfrm>
            <a:off x="6355080" y="2907792"/>
            <a:ext cx="2606040" cy="1554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 adjusts TX:RX row ratio in software per demand. Match asymmetric bandwidth (e.g. 80% TX when sending files, 20% TX when listening). Adaptive streaming.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Modes — How Messages Are Sent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94A3B8"/>
                </a:solidFill>
              </a:rPr>
              <a:t>Quantum Entangled Multiplexing Transceiver (QEMT)  |  Daniel Miles  ·  2026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320040" y="896112"/>
            <a:ext cx="2788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60120"/>
            <a:ext cx="502920" cy="50292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60120"/>
            <a:ext cx="5029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987552"/>
            <a:ext cx="201168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Signal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261872"/>
            <a:ext cx="2011680" cy="228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rows → same character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1536192"/>
            <a:ext cx="26060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600200"/>
            <a:ext cx="2606040" cy="3154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TX rows set to the same orientation simultaneously. If the slab has 100 rows × 10 particles, the receiver averages 1,000 readings for a single character.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channel quality is poor, maximum SNR needed, or confirming the channel is working.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896112"/>
            <a:ext cx="2788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960120"/>
            <a:ext cx="502920" cy="50292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960120"/>
            <a:ext cx="5029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977640" y="987552"/>
            <a:ext cx="201168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Message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77640" y="1261872"/>
            <a:ext cx="2011680" cy="228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→ different character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83280" y="1536192"/>
            <a:ext cx="26060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1600200"/>
            <a:ext cx="2606040" cy="3154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TX row set to a different orientation. A 50-row slab transmits 50 characters simultaneously. After dwell window, next 50 characters load instantly.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high throughput is the priority. Throughput = rows × chars per dwell.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63640" y="896112"/>
            <a:ext cx="2788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5080" y="960120"/>
            <a:ext cx="502920" cy="50292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960120"/>
            <a:ext cx="5029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49440" y="987552"/>
            <a:ext cx="201168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Pipeline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49440" y="1261872"/>
            <a:ext cx="2011680" cy="228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row advance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355080" y="1536192"/>
            <a:ext cx="26060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1600200"/>
            <a:ext cx="2606040" cy="3154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act as a shift register. When row 1 completes its dwell, it advances to character N+1 while row 2 still holds character N. Creates a continuous pipeline.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streaming data with minimum latency. No dead time between characters.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Process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94A3B8"/>
                </a:solidFill>
              </a:rPr>
              <a:t>Quantum Entangled Multiplexing Transceiver (QEMT)  |  Daniel Miles  ·  2026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2788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987552"/>
            <a:ext cx="365760" cy="36576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987552"/>
            <a:ext cx="3657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1005840"/>
            <a:ext cx="21488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Substrate Prep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399032"/>
            <a:ext cx="2606040" cy="1325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 wafer or rare-earth doped crystal grown and polished. Grid nodes defined by electron-beam lithography.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37560" y="896112"/>
            <a:ext cx="2788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47288" y="987552"/>
            <a:ext cx="365760" cy="36576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47288" y="987552"/>
            <a:ext cx="3657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04488" y="1005840"/>
            <a:ext cx="21488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Entanglement Source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47288" y="1399032"/>
            <a:ext cx="2606040" cy="1325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laser pumps SPDC crystal generating entangled photon pairs. Fibres route each to matching grid nodes.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309360" y="896112"/>
            <a:ext cx="2788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19088" y="987552"/>
            <a:ext cx="365760" cy="365760"/>
          </a:xfrm>
          <a:prstGeom prst="ellipse">
            <a:avLst/>
          </a:prstGeom>
          <a:solidFill>
            <a:srgbClr val="92400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9088" y="987552"/>
            <a:ext cx="3657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76288" y="1005840"/>
            <a:ext cx="21488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Loading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19088" y="1399032"/>
            <a:ext cx="2606040" cy="1325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photon captured at position [x,y] on each half. Herald photon confirms capture per position.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2980944"/>
            <a:ext cx="2788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" y="3072384"/>
            <a:ext cx="365760" cy="365760"/>
          </a:xfrm>
          <a:prstGeom prst="ellipse">
            <a:avLst/>
          </a:prstGeom>
          <a:solidFill>
            <a:srgbClr val="92400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072384"/>
            <a:ext cx="3657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32688" y="3090672"/>
            <a:ext cx="21488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Cleavage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" y="3483864"/>
            <a:ext cx="2606040" cy="1325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wafer cleaved along central plane — like splitting a book. Slab A and B result. Correspondence guaranteed by geometry.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37560" y="2980944"/>
            <a:ext cx="2788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47288" y="3072384"/>
            <a:ext cx="365760" cy="365760"/>
          </a:xfrm>
          <a:prstGeom prst="ellipse">
            <a:avLst/>
          </a:prstGeom>
          <a:solidFill>
            <a:srgbClr val="33415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47288" y="3072384"/>
            <a:ext cx="3657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904488" y="3090672"/>
            <a:ext cx="21488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47288" y="3483864"/>
            <a:ext cx="2606040" cy="1325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slab sealed in vacuum or cryo housing. RF coils, laser array, photodetector, and MCU board attached.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309360" y="2980944"/>
            <a:ext cx="2788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19088" y="3072384"/>
            <a:ext cx="365760" cy="365760"/>
          </a:xfrm>
          <a:prstGeom prst="ellipse">
            <a:avLst/>
          </a:prstGeom>
          <a:solidFill>
            <a:srgbClr val="33415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19088" y="3072384"/>
            <a:ext cx="3657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876288" y="3090672"/>
            <a:ext cx="21488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19088" y="3483864"/>
            <a:ext cx="2606040" cy="1325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Slab B shipped to remote site. No calibration required — correspondence is guaranteed by the cleavage geometry.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4645152"/>
            <a:ext cx="8412480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645152"/>
            <a:ext cx="822960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cleavage manufacturing guarantees position [x,y] on Slab A is entangled with [x,y] on Slab B — no lookup table or calibration needed.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Chip-Scale Integration — QEMT-1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94A3B8"/>
                </a:solidFill>
              </a:rPr>
              <a:t>Quantum Entangled Multiplexing Transceiver (QEMT)  |  Daniel Miles  ·  2026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2286000" y="914400"/>
            <a:ext cx="38404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0" y="4809744"/>
            <a:ext cx="3840480" cy="228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QEMT-1  Chip Package  (target: 12mm × 8mm)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423160" y="1024128"/>
            <a:ext cx="3566160" cy="662026"/>
          </a:xfrm>
          <a:prstGeom prst="rect">
            <a:avLst/>
          </a:prstGeom>
          <a:solidFill>
            <a:srgbClr val="E8E8E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024128"/>
            <a:ext cx="3474720" cy="66202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Peltier Cooling Layer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23160" y="1741018"/>
            <a:ext cx="3566160" cy="662026"/>
          </a:xfrm>
          <a:prstGeom prst="rect">
            <a:avLst/>
          </a:prstGeom>
          <a:solidFill>
            <a:srgbClr val="F0F0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741018"/>
            <a:ext cx="3474720" cy="66202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Microcontroller  (disc lookup · framing · averaging · GPIO)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23160" y="2457907"/>
            <a:ext cx="3566160" cy="662026"/>
          </a:xfrm>
          <a:prstGeom prst="rect">
            <a:avLst/>
          </a:prstGeom>
          <a:solidFill>
            <a:srgbClr val="E8E8E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2457907"/>
            <a:ext cx="3474720" cy="66202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Photodetector Array  (RX weak-read + ADC)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23160" y="3174797"/>
            <a:ext cx="3566160" cy="662026"/>
          </a:xfrm>
          <a:prstGeom prst="rect">
            <a:avLst/>
          </a:prstGeom>
          <a:solidFill>
            <a:srgbClr val="E8EE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3174797"/>
            <a:ext cx="3474720" cy="66202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Entangled Slab  (NV centre / SiC)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23160" y="3891686"/>
            <a:ext cx="3566160" cy="662026"/>
          </a:xfrm>
          <a:prstGeom prst="rect">
            <a:avLst/>
          </a:prstGeom>
          <a:solidFill>
            <a:srgbClr val="F0F0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3891686"/>
            <a:ext cx="3474720" cy="66202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Coil Array  +  Probe Laser  (TX write / RX read)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176272" y="1371600"/>
            <a:ext cx="109728" cy="18288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76272" y="1463040"/>
            <a:ext cx="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371600"/>
            <a:ext cx="109728" cy="18288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36208" y="1463040"/>
            <a:ext cx="25603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76272" y="2148840"/>
            <a:ext cx="109728" cy="18288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76272" y="2240280"/>
            <a:ext cx="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2148840"/>
            <a:ext cx="109728" cy="18288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36208" y="2240280"/>
            <a:ext cx="25603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76272" y="2926080"/>
            <a:ext cx="109728" cy="18288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76272" y="3017520"/>
            <a:ext cx="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0" y="2926080"/>
            <a:ext cx="109728" cy="18288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36208" y="3017520"/>
            <a:ext cx="25603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76272" y="3703320"/>
            <a:ext cx="109728" cy="18288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76272" y="3794760"/>
            <a:ext cx="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26480" y="3703320"/>
            <a:ext cx="109728" cy="18288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36208" y="3794760"/>
            <a:ext cx="25603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37960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/ GND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537960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I/O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537960" y="3200400"/>
            <a:ext cx="22860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Fibre optic port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537960" y="3977640"/>
            <a:ext cx="22860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Re-entangle port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00800" y="10972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No FPGA required — single MCU handles all logic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00800" y="16916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Peltier cooler replaces bulky cryo systems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00800" y="22860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RF coils eliminate optical alignment requirement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00800" y="28803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Standard chip package — solderable, portable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Viable Substrate Materials — Ranked by FTL Fitness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94A3B8"/>
                </a:solidFill>
              </a:rPr>
              <a:t>Quantum Entangled Multiplexing Transceiver (QEMT)  |  Daniel Miles  ·  2026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Coherence time is the dominant factor. Short coherence = Poor FTL fitness regardless of other advantages. Practical QEMT needs hours to days of coherence minimum.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25296"/>
          <a:ext cx="8503920" cy="3374136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Material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Coherence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Temp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Scalability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FTL Fitness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Rare Earth YSO (Eu/Pr)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HOURS  ★★★★★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4 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Moderate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6534"/>
                          </a:solidFill>
                        </a:rPr>
                        <a:t>EXCELLENT  #1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NV Centres in Diamond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ms – s  ★★★★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Room temp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Limited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6534"/>
                          </a:solidFill>
                        </a:rPr>
                        <a:t>GOOD  #2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Phosphorus in Si (Si:P)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s (nuclear) ★★★★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Room temp*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Excellent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6534"/>
                          </a:solidFill>
                        </a:rPr>
                        <a:t>GOOD  #3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Silicon Carbide (SiC)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us – ms  ★★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Room temp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Excellent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C4D00"/>
                          </a:solidFill>
                        </a:rPr>
                        <a:t>MARGINAL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Trapped Ions (Ca+)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s – min  ★★★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Near 0 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Very Poor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C4D00"/>
                          </a:solidFill>
                        </a:rPr>
                        <a:t>MARGINAL (lab only)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Photonic Crystal (Si)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ps – ns  ★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Room temp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Excellent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991B1B"/>
                          </a:solidFill>
                        </a:rPr>
                        <a:t>POOR — coherence fatal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Superconducting Qubits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us – ms  ★★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15 mK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Good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991B1B"/>
                          </a:solidFill>
                        </a:rPr>
                        <a:t>POOR — coherence + cryo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Quantum Dots (InAs)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ns – us  ★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4 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Good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991B1B"/>
                          </a:solidFill>
                        </a:rPr>
                        <a:t>POOR — coherence short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20040" y="4709160"/>
            <a:ext cx="8503920" cy="228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Si:P nuclear spin coherence at room temp. Electron spin requires cooling.  ★ = coherence quality for QEMT use.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94A3B8"/>
                </a:solidFill>
              </a:rPr>
              <a:t>Quantum Entangled Multiplexing Transceiver (QEMT)  |  Daniel Miles  ·  2026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Question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764792"/>
            <a:ext cx="201168" cy="20116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691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theorem says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" y="194767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no-communication theorem is proven within current QM formalism for discrete single-shot measurements.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2404872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331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QEMT does differently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" y="258775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Spatially parallel · continuous-variable orientation encoding · large-ensemble weak-measurement · global phase reference shared at manufacture. This regime is not fully addressed by existing proofs.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3044952"/>
            <a:ext cx="201168" cy="201168"/>
          </a:xfrm>
          <a:prstGeom prst="ellipse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971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experimental question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9808" y="322783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what ensemble size N, if any, does the averaged orientation signal on the RX slab exceed the uncertainty-principle noise floor?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685032"/>
            <a:ext cx="201168" cy="201168"/>
          </a:xfrm>
          <a:prstGeom prst="ellipse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611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result matters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9808" y="386791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 = never: theorem confirmed in new regime — publishable. If above some N: physics must be revised — historic.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4325112"/>
            <a:ext cx="201168" cy="201168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4251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value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9808" y="450799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QEMT apparatus is a world-class quantum sensor regardless of the FTL outcome. Atomic clocks · gravitational wave detection · QKD hardware.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1903</Words>
  <Application>Microsoft Office PowerPoint</Application>
  <PresentationFormat>On-screen Show (16:9)</PresentationFormat>
  <Paragraphs>324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Entangled Multiplexing Transceiver (QEMT)</dc:title>
  <dc:subject>PptxGenJS Presentation</dc:subject>
  <dc:creator>Daniel Miles</dc:creator>
  <cp:lastModifiedBy>Dan</cp:lastModifiedBy>
  <cp:revision>4</cp:revision>
  <dcterms:created xsi:type="dcterms:W3CDTF">2026-04-27T00:52:49Z</dcterms:created>
  <dcterms:modified xsi:type="dcterms:W3CDTF">2026-04-27T01:27:38Z</dcterms:modified>
</cp:coreProperties>
</file>