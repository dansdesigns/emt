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5" r:id="rId46"/>
    <p:sldId id="296" r:id="rId47"/>
    <p:sldId id="297" r:id="rId48"/>
    <p:sldId id="294" r:id="rId45"/>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42.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645920"/>
            <a:ext cx="6858000" cy="1828800"/>
          </a:xfrm>
          <a:prstGeom prst="rect">
            <a:avLst/>
          </a:prstGeom>
          <a:noFill/>
        </p:spPr>
        <p:txBody>
          <a:bodyPr wrap="square">
            <a:spAutoFit/>
          </a:bodyPr>
          <a:lstStyle/>
          <a:p>
            <a:pPr algn="ctr"/>
            <a:r>
              <a:rPr sz="4400" b="1">
                <a:solidFill>
                  <a:srgbClr val="0F172A"/>
                </a:solidFill>
              </a:rPr>
              <a:t>Entangled Multiplexing Transceiver</a:t>
            </a:r>
          </a:p>
          <a:p>
            <a:pPr algn="ctr"/>
            <a:r>
              <a:rPr sz="5600" b="1">
                <a:solidFill>
                  <a:srgbClr val="1E3A5F"/>
                </a:solidFill>
              </a:rPr>
              <a:t>EMT</a:t>
            </a:r>
          </a:p>
        </p:txBody>
      </p:sp>
      <p:sp>
        <p:nvSpPr>
          <p:cNvPr id="3" name="TextBox 2"/>
          <p:cNvSpPr txBox="1"/>
          <p:nvPr/>
        </p:nvSpPr>
        <p:spPr>
          <a:xfrm>
            <a:off x="457200" y="3840480"/>
            <a:ext cx="5943600" cy="1828800"/>
          </a:xfrm>
          <a:prstGeom prst="rect">
            <a:avLst/>
          </a:prstGeom>
          <a:noFill/>
        </p:spPr>
        <p:txBody>
          <a:bodyPr wrap="square">
            <a:spAutoFit/>
          </a:bodyPr>
          <a:lstStyle/>
          <a:p>
            <a:pPr algn="ctr"/>
            <a:r>
              <a:rPr sz="1700">
                <a:solidFill>
                  <a:srgbClr val="556581"/>
                </a:solidFill>
              </a:rPr>
              <a:t>A proposed architecture for non-classical signalling via entangled Ca⁺ ion arrays, ensemble weak measurement, and orientation-encoded multiplexing.</a:t>
            </a:r>
          </a:p>
        </p:txBody>
      </p:sp>
      <p:sp>
        <p:nvSpPr>
          <p:cNvPr id="4" name="TextBox 3"/>
          <p:cNvSpPr txBox="1"/>
          <p:nvPr/>
        </p:nvSpPr>
        <p:spPr>
          <a:xfrm>
            <a:off x="457200" y="8046720"/>
            <a:ext cx="5943600" cy="1371600"/>
          </a:xfrm>
          <a:prstGeom prst="rect">
            <a:avLst/>
          </a:prstGeom>
          <a:noFill/>
        </p:spPr>
        <p:txBody>
          <a:bodyPr wrap="square">
            <a:spAutoFit/>
          </a:bodyPr>
          <a:lstStyle/>
          <a:p>
            <a:pPr algn="ctr"/>
            <a:r>
              <a:rPr sz="1400">
                <a:solidFill>
                  <a:srgbClr val="788598"/>
                </a:solidFill>
              </a:rPr>
              <a:t>Daniel Miles  ·  2026  ·  Original Concept Paper  ·  https://alternitech.square.site</a:t>
            </a:r>
          </a:p>
          <a:p>
            <a:pPr algn="ctr"/>
            <a:r>
              <a:rPr sz="1400">
                <a:solidFill>
                  <a:srgbClr val="788598"/>
                </a:solidFill>
              </a:rPr>
              <a:t>Rev.2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Part 1 — Theoretical Foundation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Overview of this section</a:t>
            </a:r>
          </a:p>
          <a:p>
            <a:pPr algn="l"/>
            <a:r>
              <a:rPr sz="1600" lang="en-GB" dirty="0">
                <a:solidFill>
                  <a:srgbClr val="1E1E1E"/>
                </a:solidFill>
              </a:rPr>
              <a:t>This section establishes the physical and mathematical foundation of the EMT concept before any hardware is described. The sequence is:</a:t>
            </a:r>
          </a:p>
          <a:p>
            <a:pPr algn="l"/>
            <a:r>
              <a:rPr sz="700" lang="en-GB" dirty="0">
                <a:solidFill>
                  <a:srgbClr val="1E1E1E"/>
                </a:solidFill>
              </a:rPr>
              <a:t/>
            </a:r>
          </a:p>
          <a:p>
            <a:pPr algn="l" lvl="1"/>
            <a:r>
              <a:rPr sz="1600" lang="en-GB" dirty="0">
                <a:solidFill>
                  <a:srgbClr val="1E1E1E"/>
                </a:solidFill>
              </a:rPr>
              <a:t>1.1  The no-communication theorem — what it says and where it has been tested.</a:t>
            </a:r>
          </a:p>
          <a:p>
            <a:pPr algn="l" lvl="1"/>
            <a:r>
              <a:rPr sz="1600" lang="en-GB" dirty="0">
                <a:solidFill>
                  <a:srgbClr val="1E1E1E"/>
                </a:solidFill>
              </a:rPr>
              <a:t>1.2  Quantum entanglement and the joint state — what entanglement is physically.</a:t>
            </a:r>
          </a:p>
          <a:p>
            <a:pPr algn="l" lvl="1"/>
            <a:r>
              <a:rPr sz="1600" lang="en-GB" dirty="0">
                <a:solidFill>
                  <a:srgbClr val="1E1E1E"/>
                </a:solidFill>
              </a:rPr>
              <a:t>1.3  Weak measurement theory — how partial information is extracted without full collapse.</a:t>
            </a:r>
          </a:p>
          <a:p>
            <a:pPr algn="l" lvl="1"/>
            <a:r>
              <a:rPr sz="1600" lang="en-GB" dirty="0">
                <a:solidFill>
                  <a:srgbClr val="1E1E1E"/>
                </a:solidFill>
              </a:rPr>
              <a:t>1.4  Ensemble averaging — the statistical mechanism that reduces noise by √N.</a:t>
            </a:r>
          </a:p>
          <a:p>
            <a:pPr algn="l" lvl="1"/>
            <a:r>
              <a:rPr sz="1600" lang="en-GB" dirty="0">
                <a:solidFill>
                  <a:srgbClr val="1E1E1E"/>
                </a:solidFill>
              </a:rPr>
              <a:t>1.5  The central experimental question — the specific regime not covered by existing proofs.</a:t>
            </a:r>
          </a:p>
          <a:p>
            <a:pPr algn="l" lvl="1"/>
            <a:r>
              <a:rPr sz="1600" lang="en-GB" dirty="0">
                <a:solidFill>
                  <a:srgbClr val="1E1E1E"/>
                </a:solidFill>
              </a:rPr>
              <a:t>1.6  Orientation encoding — the Rotary Orientation Ring and the character-to-angle mapping.</a:t>
            </a:r>
          </a:p>
          <a:p>
            <a:pPr algn="l"/>
            <a:r>
              <a:rPr sz="700" lang="en-GB" dirty="0">
                <a:solidFill>
                  <a:srgbClr val="1E1E1E"/>
                </a:solidFill>
              </a:rPr>
              <a:t/>
            </a:r>
          </a:p>
          <a:p>
            <a:pPr algn="l"/>
            <a:r>
              <a:rPr sz="1300" lang="en-GB" dirty="0">
                <a:solidFill>
                  <a:srgbClr val="788598"/>
                </a:solidFill>
              </a:rPr>
              <a:t>All claims in this section are grounded in published experimental results. The central experimental question in section 1.5 is explicitly identified as unresolved. No claim of FTL signalling is made without this qualification.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1.1  The No-Communication Theorem</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Statement</a:t>
            </a:r>
          </a:p>
          <a:p>
            <a:pPr algn="l"/>
            <a:r>
              <a:rPr sz="1600" lang="en-GB" dirty="0">
                <a:solidFill>
                  <a:srgbClr val="1E1E1E"/>
                </a:solidFill>
              </a:rPr>
              <a:t>For any bipartite quantum state ρ_AB shared between Alice and Bob, Alice's local operations Λ_A ⊗ I_B produce no detectable change in Bob's reduced density matrix ρ_B = Tr_A(ρ_AB). Formally:</a:t>
            </a:r>
          </a:p>
          <a:p>
            <a:pPr algn="l"/>
            <a:r>
              <a:rPr sz="400" lang="en-GB" dirty="0">
                <a:solidFill>
                  <a:srgbClr val="1E1E1E"/>
                </a:solidFill>
              </a:rPr>
              <a:t/>
            </a:r>
          </a:p>
          <a:p>
            <a:pPr algn="l"/>
            <a:r>
              <a:rPr sz="1300" lang="en-GB" dirty="0">
                <a:solidFill>
                  <a:srgbClr val="1E1E1E"/>
                </a:solidFill>
                <a:latin typeface="Courier New"/>
              </a:rPr>
              <a:t>  Tr_A[(Λ_A ⊗ I_B)(ρ_AB)]  =  Tr_A[ρ_AB]  =  ρ_B</a:t>
            </a:r>
          </a:p>
          <a:p>
            <a:pPr algn="l"/>
            <a:r>
              <a:rPr sz="700" lang="en-GB" dirty="0">
                <a:solidFill>
                  <a:srgbClr val="1E1E1E"/>
                </a:solidFill>
              </a:rPr>
              <a:t/>
            </a:r>
          </a:p>
          <a:p>
            <a:pPr algn="l"/>
            <a:r>
              <a:rPr sz="1600" lang="en-GB" dirty="0">
                <a:solidFill>
                  <a:srgbClr val="1E1E1E"/>
                </a:solidFill>
              </a:rPr>
              <a:t>This holds for all local operations: unitary rotations, measurements, preparation of ancilla states, and any classical post-processing. It is proven from the linearity of quantum mechanics and the tensor product structure of composite systems.</a:t>
            </a:r>
          </a:p>
          <a:p>
            <a:pPr algn="l"/>
            <a:r>
              <a:rPr sz="700" lang="en-GB" dirty="0">
                <a:solidFill>
                  <a:srgbClr val="1E1E1E"/>
                </a:solidFill>
              </a:rPr>
              <a:t/>
            </a:r>
          </a:p>
          <a:p>
            <a:pPr algn="l">
              <a:spcBef>
                <a:spcPts val="500"/>
              </a:spcBef>
            </a:pPr>
            <a:r>
              <a:rPr sz="1700" lang="en-GB" dirty="0" b="1">
                <a:solidFill>
                  <a:srgbClr val="1E3A5F"/>
                </a:solidFill>
              </a:rPr>
              <a:t>What it does and does not say</a:t>
            </a:r>
          </a:p>
          <a:p>
            <a:pPr algn="l" lvl="1"/>
            <a:r>
              <a:rPr sz="1600" lang="en-GB" dirty="0">
                <a:solidFill>
                  <a:srgbClr val="1E1E1E"/>
                </a:solidFill>
              </a:rPr>
              <a:t>It says: Bob's marginal statistics are unchanged by Alice's actions. Single-shot measurements on individual entangled pairs carry no information about what Alice has done.</a:t>
            </a:r>
          </a:p>
          <a:p>
            <a:pPr algn="l" lvl="1"/>
            <a:r>
              <a:rPr sz="1600" lang="en-GB" dirty="0">
                <a:solidFill>
                  <a:srgbClr val="1E1E1E"/>
                </a:solidFill>
              </a:rPr>
              <a:t>It does not say: the theorem has been experimentally tested in the regime of large ensembles (N ≫ 1), continuous-variable orientation encoding, shared global phase reference, or sustained coherent state preparation. These are the conditions under which the EMT experiment operates.</a:t>
            </a:r>
          </a:p>
          <a:p>
            <a:pPr algn="l"/>
            <a:r>
              <a:rPr sz="700" lang="en-GB" dirty="0">
                <a:solidFill>
                  <a:srgbClr val="1E1E1E"/>
                </a:solidFill>
              </a:rPr>
              <a:t/>
            </a:r>
          </a:p>
          <a:p>
            <a:pPr algn="l">
              <a:spcBef>
                <a:spcPts val="500"/>
              </a:spcBef>
            </a:pPr>
            <a:r>
              <a:rPr sz="1700" lang="en-GB" dirty="0" b="1">
                <a:solidFill>
                  <a:srgbClr val="1E3A5F"/>
                </a:solidFill>
              </a:rPr>
              <a:t>Scope of existing experimental tests</a:t>
            </a:r>
          </a:p>
          <a:p>
            <a:pPr algn="l"/>
            <a:r>
              <a:rPr sz="1600" lang="en-GB" dirty="0">
                <a:solidFill>
                  <a:srgbClr val="1E1E1E"/>
                </a:solidFill>
              </a:rPr>
              <a:t>Bell test experiments (Aspect 1982, Hensen et al. 2015, Rosenfeld et al. 2017) confirm entanglement and rule out local hidden variables. They do not test ensemble orientation signalling. The EMT experiment is genuinely novel.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1.2  Quantum Entanglement — The Joint State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What entanglement is</a:t>
            </a:r>
          </a:p>
          <a:p>
            <a:pPr algn="l"/>
            <a:r>
              <a:rPr sz="1600" lang="en-GB" dirty="0">
                <a:solidFill>
                  <a:srgbClr val="1E1E1E"/>
                </a:solidFill>
              </a:rPr>
              <a:t>Two particles are entangled when their joint quantum state cannot be written as a product of individual states. For a maximally entangled Bell state:</a:t>
            </a:r>
          </a:p>
          <a:p>
            <a:pPr algn="l"/>
            <a:r>
              <a:rPr sz="400" lang="en-GB" dirty="0">
                <a:solidFill>
                  <a:srgbClr val="1E1E1E"/>
                </a:solidFill>
              </a:rPr>
              <a:t/>
            </a:r>
          </a:p>
          <a:p>
            <a:pPr algn="l"/>
            <a:r>
              <a:rPr sz="1300" lang="en-GB" dirty="0">
                <a:solidFill>
                  <a:srgbClr val="1E1E1E"/>
                </a:solidFill>
                <a:latin typeface="Courier New"/>
              </a:rPr>
              <a:t>  |Φ⁺⟩ = (1/√2)(|↑⟩_A|↑⟩_B + |↓⟩_A|↓⟩_B)</a:t>
            </a:r>
          </a:p>
          <a:p>
            <a:pPr algn="l"/>
            <a:r>
              <a:rPr sz="400" lang="en-GB" dirty="0">
                <a:solidFill>
                  <a:srgbClr val="1E1E1E"/>
                </a:solidFill>
              </a:rPr>
              <a:t/>
            </a:r>
          </a:p>
          <a:p>
            <a:pPr algn="l"/>
            <a:r>
              <a:rPr sz="1600" lang="en-GB" dirty="0">
                <a:solidFill>
                  <a:srgbClr val="1E1E1E"/>
                </a:solidFill>
              </a:rPr>
              <a:t>Neither ion A nor ion B has a definite spin state individually. The state is a property of the pair. Measurement of A instantly determines the correlated outcome of B, regardless of separation.</a:t>
            </a:r>
          </a:p>
          <a:p>
            <a:pPr algn="l"/>
            <a:r>
              <a:rPr sz="700" lang="en-GB" dirty="0">
                <a:solidFill>
                  <a:srgbClr val="1E1E1E"/>
                </a:solidFill>
              </a:rPr>
              <a:t/>
            </a:r>
          </a:p>
          <a:p>
            <a:pPr algn="l">
              <a:spcBef>
                <a:spcPts val="500"/>
              </a:spcBef>
            </a:pPr>
            <a:r>
              <a:rPr sz="1700" lang="en-GB" dirty="0" b="1">
                <a:solidFill>
                  <a:srgbClr val="1E3A5F"/>
                </a:solidFill>
              </a:rPr>
              <a:t>What entanglement is not</a:t>
            </a:r>
          </a:p>
          <a:p>
            <a:pPr algn="l" lvl="1"/>
            <a:r>
              <a:rPr sz="1600" lang="en-GB" dirty="0">
                <a:solidFill>
                  <a:srgbClr val="1E1E1E"/>
                </a:solidFill>
              </a:rPr>
              <a:t>Entanglement is not a signal channel in standard QM. Alice setting ion A to a specific state is equivalent to performing a measurement — it projects the joint state and changes the correlations. Bob's marginal statistics (the distribution he sees averaging his own measurements) are unchanged by this projection. This is the content of the no-communication theorem.</a:t>
            </a:r>
          </a:p>
          <a:p>
            <a:pPr algn="l"/>
            <a:r>
              <a:rPr sz="700" lang="en-GB" dirty="0">
                <a:solidFill>
                  <a:srgbClr val="1E1E1E"/>
                </a:solidFill>
              </a:rPr>
              <a:t/>
            </a:r>
          </a:p>
          <a:p>
            <a:pPr algn="l">
              <a:spcBef>
                <a:spcPts val="500"/>
              </a:spcBef>
            </a:pPr>
            <a:r>
              <a:rPr sz="1700" lang="en-GB" dirty="0" b="1">
                <a:solidFill>
                  <a:srgbClr val="1E3A5F"/>
                </a:solidFill>
              </a:rPr>
              <a:t>The Zeeman sublevel encoding</a:t>
            </a:r>
          </a:p>
          <a:p>
            <a:pPr algn="l"/>
            <a:r>
              <a:rPr sz="1600" lang="en-GB" dirty="0">
                <a:solidFill>
                  <a:srgbClr val="1E1E1E"/>
                </a:solidFill>
              </a:rPr>
              <a:t>For Ca⁺ in a Paul trap with static bias field B, the S₁/₂ ground state splits into Zeeman sublevels m_J = ±½ with energy separation ΔE = gμ_B·B. The qubit is encoded in a superposition of these sublevels. An arbitrary superposition |ψ⟩ = α|↑⟩ + β|↓⟩ with |α|² + |β|² = 1 represents a spin orientation angle θ on the Bloch sphere, where θ = 2·arctan(|β|/|α|).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1.3  Weak Measurement Theory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Definition</a:t>
            </a:r>
          </a:p>
          <a:p>
            <a:pPr algn="l"/>
            <a:r>
              <a:rPr sz="1600" lang="en-GB" dirty="0">
                <a:solidFill>
                  <a:srgbClr val="1E1E1E"/>
                </a:solidFill>
              </a:rPr>
              <a:t>A weak measurement couples the system to a meter with interaction strength g ≪ 1. The system state is disturbed by order g per read. The meter registers a partial projection. The expectation value of observable A is recovered by averaging many weak reads:</a:t>
            </a:r>
          </a:p>
          <a:p>
            <a:pPr algn="l"/>
            <a:r>
              <a:rPr sz="400" lang="en-GB" dirty="0">
                <a:solidFill>
                  <a:srgbClr val="1E1E1E"/>
                </a:solidFill>
              </a:rPr>
              <a:t/>
            </a:r>
          </a:p>
          <a:p>
            <a:pPr algn="l"/>
            <a:r>
              <a:rPr sz="1300" lang="en-GB" dirty="0">
                <a:solidFill>
                  <a:srgbClr val="1E1E1E"/>
                </a:solidFill>
                <a:latin typeface="Courier New"/>
              </a:rPr>
              <a:t>  ⟨A⟩  =  lim_{N→∞}  (1/N) Σᵢ aᵢ</a:t>
            </a:r>
          </a:p>
          <a:p>
            <a:pPr algn="l"/>
            <a:r>
              <a:rPr sz="700" lang="en-GB" dirty="0">
                <a:solidFill>
                  <a:srgbClr val="1E1E1E"/>
                </a:solidFill>
              </a:rPr>
              <a:t/>
            </a:r>
          </a:p>
          <a:p>
            <a:pPr algn="l"/>
            <a:r>
              <a:rPr sz="1600" lang="en-GB" dirty="0">
                <a:solidFill>
                  <a:srgbClr val="1E1E1E"/>
                </a:solidFill>
              </a:rPr>
              <a:t>where a_i are the individual meter outcomes. For finite N, the estimator has uncertainty σ/√N where σ is the single-shot uncertainty.</a:t>
            </a:r>
          </a:p>
          <a:p>
            <a:pPr algn="l"/>
            <a:r>
              <a:rPr sz="700" lang="en-GB" dirty="0">
                <a:solidFill>
                  <a:srgbClr val="1E1E1E"/>
                </a:solidFill>
              </a:rPr>
              <a:t/>
            </a:r>
          </a:p>
          <a:p>
            <a:pPr algn="l">
              <a:spcBef>
                <a:spcPts val="500"/>
              </a:spcBef>
            </a:pPr>
            <a:r>
              <a:rPr sz="1700" lang="en-GB" dirty="0" b="1">
                <a:solidFill>
                  <a:srgbClr val="1E3A5F"/>
                </a:solidFill>
              </a:rPr>
              <a:t>Application to spin orientation</a:t>
            </a:r>
          </a:p>
          <a:p>
            <a:pPr algn="l" lvl="1"/>
            <a:r>
              <a:rPr sz="1600" lang="en-GB" dirty="0">
                <a:solidFill>
                  <a:srgbClr val="1E1E1E"/>
                </a:solidFill>
              </a:rPr>
              <a:t>For a Ca⁺ ion in state |ψ(θ)⟩, probing with σ+ polarised 397 nm light gives fluorescence intensity I ∝ P(↑) = cos²(θ/2). Probing with σ− gives I ∝ P(↓) = sin²(θ/2). The ratio recovers θ to precision limited by photon shot noise.</a:t>
            </a:r>
          </a:p>
          <a:p>
            <a:pPr algn="l" lvl="1"/>
            <a:r>
              <a:rPr sz="1600" lang="en-GB" dirty="0">
                <a:solidFill>
                  <a:srgbClr val="1E1E1E"/>
                </a:solidFill>
              </a:rPr>
              <a:t>Weak measurement regime: probe power set so that the average photon recoil per interaction is much less than the spin coherence energy. Each read disturbs the state by a small rotation on the Bloch sphere. The ion remains in a superposition throughout the measurement sequence.</a:t>
            </a:r>
          </a:p>
          <a:p>
            <a:pPr algn="l"/>
            <a:r>
              <a:rPr sz="700" lang="en-GB" dirty="0">
                <a:solidFill>
                  <a:srgbClr val="1E1E1E"/>
                </a:solidFill>
              </a:rPr>
              <a:t/>
            </a:r>
          </a:p>
          <a:p>
            <a:pPr algn="l">
              <a:spcBef>
                <a:spcPts val="500"/>
              </a:spcBef>
            </a:pPr>
            <a:r>
              <a:rPr sz="1700" lang="en-GB" dirty="0" b="1">
                <a:solidFill>
                  <a:srgbClr val="1E3A5F"/>
                </a:solidFill>
              </a:rPr>
              <a:t>State disturbance per weak read</a:t>
            </a:r>
          </a:p>
          <a:p>
            <a:pPr algn="l"/>
            <a:r>
              <a:rPr sz="1600" lang="en-GB" dirty="0">
                <a:solidFill>
                  <a:srgbClr val="1E1E1E"/>
                </a:solidFill>
              </a:rPr>
              <a:t>Each fluorescence event has probability p of flipping the spin. For off-resonance probing, p ≪ 1. The coherence decays as e^(−Np) over N reads. For N = 1000 reads and p = 10⁻³, coherence loss is e^(−1) ≈ 37%. This is the fundamental trade-off: more reads give better SNR but at the cost of greater state disturbance.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1.4  Ensemble Averaging — Noise Reduction by √N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Statistical basis</a:t>
            </a:r>
          </a:p>
          <a:p>
            <a:pPr algn="l"/>
            <a:r>
              <a:rPr sz="1600" lang="en-GB" dirty="0">
                <a:solidFill>
                  <a:srgbClr val="1E1E1E"/>
                </a:solidFill>
              </a:rPr>
              <a:t>If N independent estimates x_i each have mean μ and standard deviation σ, the sample mean μ_hat = (1/N)Σx_i has standard deviation σ/√N. This is the central limit theorem. It applies to any averaging process regardless of the underlying distribution.</a:t>
            </a:r>
          </a:p>
          <a:p>
            <a:pPr algn="l"/>
            <a:r>
              <a:rPr sz="700" lang="en-GB" dirty="0">
                <a:solidFill>
                  <a:srgbClr val="1E1E1E"/>
                </a:solidFill>
              </a:rPr>
              <a:t/>
            </a:r>
          </a:p>
          <a:p>
            <a:pPr algn="l">
              <a:spcBef>
                <a:spcPts val="500"/>
              </a:spcBef>
            </a:pPr>
            <a:r>
              <a:rPr sz="1700" lang="en-GB" dirty="0" b="1">
                <a:solidFill>
                  <a:srgbClr val="1E3A5F"/>
                </a:solidFill>
              </a:rPr>
              <a:t>Application to EMT row structure</a:t>
            </a:r>
          </a:p>
          <a:p>
            <a:pPr algn="l"/>
            <a:r>
              <a:rPr sz="1600" lang="en-GB" dirty="0">
                <a:solidFill>
                  <a:srgbClr val="1E1E1E"/>
                </a:solidFill>
              </a:rPr>
              <a:t>Each row contains N ions all prepared in the same orientation state θ. Each ion is independently weak-measured. The MCU averages the N results. The noise on the estimated angle is:</a:t>
            </a:r>
          </a:p>
          <a:p>
            <a:pPr algn="l"/>
            <a:r>
              <a:rPr sz="400" lang="en-GB" dirty="0">
                <a:solidFill>
                  <a:srgbClr val="1E1E1E"/>
                </a:solidFill>
              </a:rPr>
              <a:t/>
            </a:r>
          </a:p>
          <a:p>
            <a:pPr algn="l"/>
            <a:r>
              <a:rPr sz="1300" lang="en-GB" dirty="0">
                <a:solidFill>
                  <a:srgbClr val="1E1E1E"/>
                </a:solidFill>
                <a:latin typeface="Courier New"/>
              </a:rPr>
              <a:t>  σ_θ  =  σ_single / √N  =  ±45° / √N</a:t>
            </a:r>
          </a:p>
          <a:p>
            <a:pPr algn="l"/>
            <a:r>
              <a:rPr sz="400" lang="en-GB" dirty="0">
                <a:solidFill>
                  <a:srgbClr val="1E1E1E"/>
                </a:solidFill>
              </a:rPr>
              <a:t/>
            </a:r>
          </a:p>
          <a:p>
            <a:pPr algn="l"/>
            <a:r>
              <a:rPr sz="1600" lang="en-GB" dirty="0">
                <a:solidFill>
                  <a:srgbClr val="1E1E1E"/>
                </a:solidFill>
              </a:rPr>
              <a:t>The baseline single-ion uncertainty of ±45° is set by the Heisenberg limit for a spin-½ particle in a single projective measurement. Weak measurement degrades this somewhat; the ±45° figure is the practical order-of-magnitude estimate.</a:t>
            </a:r>
          </a:p>
          <a:p>
            <a:pPr algn="l"/>
            <a:r>
              <a:rPr sz="700" lang="en-GB" dirty="0">
                <a:solidFill>
                  <a:srgbClr val="1E1E1E"/>
                </a:solidFill>
              </a:rPr>
              <a:t/>
            </a:r>
          </a:p>
          <a:p>
            <a:pPr algn="l">
              <a:spcBef>
                <a:spcPts val="500"/>
              </a:spcBef>
            </a:pPr>
            <a:r>
              <a:rPr sz="1700" lang="en-GB" dirty="0" b="1">
                <a:solidFill>
                  <a:srgbClr val="1E3A5F"/>
                </a:solidFill>
              </a:rPr>
              <a:t>Resolution vs ensemble size</a:t>
            </a:r>
          </a:p>
          <a:p>
            <a:pPr algn="l"/>
            <a:r>
              <a:rPr sz="1600" lang="en-GB" dirty="0">
                <a:solidFill>
                  <a:srgbClr val="1E1E1E"/>
                </a:solidFill>
              </a:rPr>
              <a:t>For 10° angular spacing between characters (36 characters per ring):</a:t>
            </a:r>
          </a:p>
          <a:p>
            <a:pPr algn="l"/>
            <a:r>
              <a:rPr sz="300" lang="en-GB" dirty="0">
                <a:solidFill>
                  <a:srgbClr val="1E1E1E"/>
                </a:solidFill>
              </a:rPr>
              <a:t/>
            </a:r>
          </a:p>
          <a:p>
            <a:pPr algn="l"/>
            <a:r>
              <a:rPr sz="1300" lang="en-GB" dirty="0">
                <a:solidFill>
                  <a:srgbClr val="1E1E1E"/>
                </a:solidFill>
                <a:latin typeface="Courier New"/>
              </a:rPr>
              <a:t>  N = 10        σ_θ = ±14.2°   — marginal for 10° spacing</a:t>
            </a:r>
          </a:p>
          <a:p>
            <a:pPr algn="l"/>
            <a:r>
              <a:rPr sz="1300" lang="en-GB" dirty="0">
                <a:solidFill>
                  <a:srgbClr val="1E1E1E"/>
                </a:solidFill>
                <a:latin typeface="Courier New"/>
              </a:rPr>
              <a:t>  N = 100       σ_θ = ±4.5°    — reliable for 10° spacing</a:t>
            </a:r>
          </a:p>
          <a:p>
            <a:pPr algn="l"/>
            <a:r>
              <a:rPr sz="1300" lang="en-GB" dirty="0">
                <a:solidFill>
                  <a:srgbClr val="1E1E1E"/>
                </a:solidFill>
                <a:latin typeface="Courier New"/>
              </a:rPr>
              <a:t>  N = 1,000     σ_θ = ±1.4°    — reliable for 5° spacing</a:t>
            </a:r>
          </a:p>
          <a:p>
            <a:pPr algn="l"/>
            <a:r>
              <a:rPr sz="1300" lang="en-GB" dirty="0">
                <a:solidFill>
                  <a:srgbClr val="1E1E1E"/>
                </a:solidFill>
                <a:latin typeface="Courier New"/>
              </a:rPr>
              <a:t>  N = 10,000    σ_θ = ±0.45°   — full character set achievable</a:t>
            </a:r>
          </a:p>
          <a:p>
            <a:pPr algn="l"/>
            <a:r>
              <a:rPr sz="700" lang="en-GB" dirty="0">
                <a:solidFill>
                  <a:srgbClr val="1E1E1E"/>
                </a:solidFill>
              </a:rPr>
              <a:t/>
            </a:r>
          </a:p>
          <a:p>
            <a:pPr algn="l"/>
            <a:r>
              <a:rPr sz="1600" lang="en-GB" dirty="0">
                <a:solidFill>
                  <a:srgbClr val="1E1E1E"/>
                </a:solidFill>
              </a:rPr>
              <a:t>For dual-ring (two perpendicular axes), the character space is 36×36 = 1,296 states at 10° resolution per axis. This covers the full ASCII printable set with margin.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1.5  The Central Experimental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critical question</a:t>
            </a:r>
          </a:p>
          <a:p>
            <a:pPr algn="l"/>
            <a:r>
              <a:rPr sz="1600" lang="en-GB" dirty="0">
                <a:solidFill>
                  <a:srgbClr val="1E1E1E"/>
                </a:solidFill>
              </a:rPr>
              <a:t>Standard quantum mechanics predicts that setting all N ions in a row to orientation θ on Alice's side produces no change in the statistics of Bob's measurements on his N entangled partner ions. The reduced density matrix of Bob's system is:</a:t>
            </a:r>
          </a:p>
          <a:p>
            <a:pPr algn="l"/>
            <a:r>
              <a:rPr sz="400" lang="en-GB" dirty="0">
                <a:solidFill>
                  <a:srgbClr val="1E1E1E"/>
                </a:solidFill>
              </a:rPr>
              <a:t/>
            </a:r>
          </a:p>
          <a:p>
            <a:pPr algn="l"/>
            <a:r>
              <a:rPr sz="1300" lang="en-GB" dirty="0">
                <a:solidFill>
                  <a:srgbClr val="1E1E1E"/>
                </a:solidFill>
                <a:latin typeface="Courier New"/>
              </a:rPr>
              <a:t>  ρ_B  =  Tr_A(ρ_AB)  =  I/2   (maximally mixed)</a:t>
            </a:r>
          </a:p>
          <a:p>
            <a:pPr algn="l"/>
            <a:r>
              <a:rPr sz="400" lang="en-GB" dirty="0">
                <a:solidFill>
                  <a:srgbClr val="1E1E1E"/>
                </a:solidFill>
              </a:rPr>
              <a:t/>
            </a:r>
          </a:p>
          <a:p>
            <a:pPr algn="l"/>
            <a:r>
              <a:rPr sz="1600" lang="en-GB" dirty="0">
                <a:solidFill>
                  <a:srgbClr val="1E1E1E"/>
                </a:solidFill>
              </a:rPr>
              <a:t>regardless of Alice's orientation θ. Bob always sees 50/50 outcomes.</a:t>
            </a:r>
          </a:p>
          <a:p>
            <a:pPr algn="l"/>
            <a:r>
              <a:rPr sz="700" lang="en-GB" dirty="0">
                <a:solidFill>
                  <a:srgbClr val="1E1E1E"/>
                </a:solidFill>
              </a:rPr>
              <a:t/>
            </a:r>
          </a:p>
          <a:p>
            <a:pPr algn="l">
              <a:spcBef>
                <a:spcPts val="500"/>
              </a:spcBef>
            </a:pPr>
            <a:r>
              <a:rPr sz="1700" lang="en-GB" dirty="0" b="1">
                <a:solidFill>
                  <a:srgbClr val="1E3A5F"/>
                </a:solidFill>
              </a:rPr>
              <a:t>The untested regime</a:t>
            </a:r>
          </a:p>
          <a:p>
            <a:pPr algn="l"/>
            <a:r>
              <a:rPr sz="1600" lang="en-GB" dirty="0">
                <a:solidFill>
                  <a:srgbClr val="1E1E1E"/>
                </a:solidFill>
              </a:rPr>
              <a:t>The theorem is proven for arbitrary local operations on individual pairs. What has not been directly tested is whether a macroscopic ensemble of N entangled pairs, all prepared identically, with a shared global phase reference established at manufacture, produces a coherent collective response that is detectable by ensemble averaging.</a:t>
            </a:r>
          </a:p>
          <a:p>
            <a:pPr algn="l"/>
            <a:r>
              <a:rPr sz="700" lang="en-GB" dirty="0">
                <a:solidFill>
                  <a:srgbClr val="1E1E1E"/>
                </a:solidFill>
              </a:rPr>
              <a:t/>
            </a:r>
          </a:p>
          <a:p>
            <a:pPr algn="l"/>
            <a:r>
              <a:rPr sz="1600" lang="en-GB" dirty="0">
                <a:solidFill>
                  <a:srgbClr val="1E1E1E"/>
                </a:solidFill>
              </a:rPr>
              <a:t>The EMT hypothesis is not that the theorem is wrong. It is that the theorem may be incomplete in this regime — that there exists a collective variable of the N-pair ensemble that is not captured by the sum of N individual reduced density matrices. This is the measurement object of the experiment.</a:t>
            </a:r>
          </a:p>
          <a:p>
            <a:pPr algn="l"/>
            <a:r>
              <a:rPr sz="700" lang="en-GB" dirty="0">
                <a:solidFill>
                  <a:srgbClr val="1E1E1E"/>
                </a:solidFill>
              </a:rPr>
              <a:t/>
            </a:r>
          </a:p>
          <a:p>
            <a:pPr algn="l">
              <a:spcBef>
                <a:spcPts val="500"/>
              </a:spcBef>
            </a:pPr>
            <a:r>
              <a:rPr sz="1700" lang="en-GB" dirty="0" b="1">
                <a:solidFill>
                  <a:srgbClr val="1E3A5F"/>
                </a:solidFill>
              </a:rPr>
              <a:t>Guaranteed scientific value</a:t>
            </a:r>
          </a:p>
          <a:p>
            <a:pPr algn="l" lvl="1"/>
            <a:r>
              <a:rPr sz="1600" lang="en-GB" dirty="0">
                <a:solidFill>
                  <a:srgbClr val="1E1E1E"/>
                </a:solidFill>
              </a:rPr>
              <a:t>Result A — signal detected: requires revision of QM formalism. Historic.</a:t>
            </a:r>
          </a:p>
          <a:p>
            <a:pPr algn="l" lvl="1"/>
            <a:r>
              <a:rPr sz="1600" lang="en-GB" dirty="0">
                <a:solidFill>
                  <a:srgbClr val="1E1E1E"/>
                </a:solidFill>
              </a:rPr>
              <a:t>Result B — no signal: confirms the theorem in a previously untested regime. Publishable. Tightens the bounds on any non-local hidden variable theories.</a:t>
            </a:r>
          </a:p>
          <a:p>
            <a:pPr algn="l" lvl="1"/>
            <a:r>
              <a:rPr sz="1600" lang="en-GB" dirty="0">
                <a:solidFill>
                  <a:srgbClr val="1E1E1E"/>
                </a:solidFill>
              </a:rPr>
              <a:t>The experiment has significant scientific value regardless of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1.6  Orientation Encoding — The Rotary Orientation Ring</a:t>
            </a:r>
          </a:p>
        </p:txBody>
      </p:sp>
      <p:sp>
        <p:nvSpPr>
          <p:cNvPr id="3" name="TextBox 2"/>
          <p:cNvSpPr txBox="1"/>
          <p:nvPr/>
        </p:nvSpPr>
        <p:spPr>
          <a:xfrm>
            <a:off x="150187" y="671901"/>
            <a:ext cx="6563531" cy="9006840"/>
          </a:xfrm>
          <a:prstGeom prst="rect">
            <a:avLst/>
          </a:prstGeom>
          <a:noFill/>
        </p:spPr>
        <p:txBody>
          <a:bodyPr wrap="square">
            <a:spAutoFit/>
          </a:bodyPr>
          <a:lstStyle/>
          <a:p>
            <a:pPr algn="l">
              <a:spcBef>
                <a:spcPts val="500"/>
              </a:spcBef>
            </a:pPr>
            <a:r>
              <a:rPr sz="1700" lang="en-GB" dirty="0" b="1">
                <a:solidFill>
                  <a:srgbClr val="1E3A5F"/>
                </a:solidFill>
              </a:rPr>
              <a:t>Encoding principle</a:t>
            </a:r>
          </a:p>
          <a:p>
            <a:pPr algn="l"/>
            <a:r>
              <a:rPr sz="1600" lang="en-GB" dirty="0">
                <a:solidFill>
                  <a:srgbClr val="1E1E1E"/>
                </a:solidFill>
              </a:rPr>
              <a:t>Each character is assigned a unique orientation angle θ on a circular lookup table — the Rotary Orientation Ring (ROR). The HOME position at θ = 0° is permanently reserved as a message delimiter and is never assigned to any character. Character A begins at the first angular position after the HOME zone.</a:t>
            </a:r>
          </a:p>
          <a:p>
            <a:pPr algn="l"/>
            <a:r>
              <a:rPr sz="700" lang="en-GB" dirty="0">
                <a:solidFill>
                  <a:srgbClr val="1E1E1E"/>
                </a:solidFill>
              </a:rPr>
              <a:t/>
            </a:r>
          </a:p>
          <a:p>
            <a:pPr algn="l"/>
            <a:r>
              <a:rPr sz="1600" lang="en-GB" dirty="0">
                <a:solidFill>
                  <a:srgbClr val="1E1E1E"/>
                </a:solidFill>
              </a:rPr>
              <a:t>The ROR table is loaded identically onto both EMT units at manufacture. Device B's table is inverted (θ_B = 180° − θ_A) to account for the spin-anticorrelation of the Bell state used for entanglement.</a:t>
            </a:r>
          </a:p>
          <a:p>
            <a:pPr algn="l"/>
            <a:r>
              <a:rPr sz="700" lang="en-GB" dirty="0">
                <a:solidFill>
                  <a:srgbClr val="1E1E1E"/>
                </a:solidFill>
              </a:rPr>
              <a:t/>
            </a:r>
          </a:p>
          <a:p>
            <a:pPr algn="l">
              <a:spcBef>
                <a:spcPts val="500"/>
              </a:spcBef>
            </a:pPr>
            <a:r>
              <a:rPr sz="1700" lang="en-GB" dirty="0" b="1">
                <a:solidFill>
                  <a:srgbClr val="1E3A5F"/>
                </a:solidFill>
              </a:rPr>
              <a:t>Single-ring configuration</a:t>
            </a:r>
          </a:p>
          <a:p>
            <a:pPr algn="l"/>
            <a:r>
              <a:rPr sz="1300" lang="en-GB" dirty="0">
                <a:solidFill>
                  <a:srgbClr val="1E1E1E"/>
                </a:solidFill>
                <a:latin typeface="Courier New"/>
              </a:rPr>
              <a:t>  36 positions at 10° spacing → 35 characters + HOME</a:t>
            </a:r>
          </a:p>
          <a:p>
            <a:pPr algn="l"/>
            <a:r>
              <a:rPr sz="1300" lang="en-GB" dirty="0">
                <a:solidFill>
                  <a:srgbClr val="1E1E1E"/>
                </a:solidFill>
                <a:latin typeface="Courier New"/>
              </a:rPr>
              <a:t>  72 positions at 5° spacing  → 71 characters + HOME</a:t>
            </a:r>
          </a:p>
          <a:p>
            <a:pPr algn="l"/>
            <a:r>
              <a:rPr sz="1300" lang="en-GB" dirty="0">
                <a:solidFill>
                  <a:srgbClr val="1E1E1E"/>
                </a:solidFill>
                <a:latin typeface="Courier New"/>
              </a:rPr>
              <a:t>  360 positions at 1° spacing → limited by angular resolution</a:t>
            </a:r>
          </a:p>
          <a:p>
            <a:pPr algn="l"/>
            <a:r>
              <a:rPr sz="700" lang="en-GB" dirty="0">
                <a:solidFill>
                  <a:srgbClr val="1E1E1E"/>
                </a:solidFill>
              </a:rPr>
              <a:t/>
            </a:r>
          </a:p>
          <a:p>
            <a:pPr algn="l">
              <a:spcBef>
                <a:spcPts val="500"/>
              </a:spcBef>
            </a:pPr>
            <a:r>
              <a:rPr sz="1700" lang="en-GB" dirty="0" b="1">
                <a:solidFill>
                  <a:srgbClr val="1E3A5F"/>
                </a:solidFill>
              </a:rPr>
              <a:t>Dual-ring configuration</a:t>
            </a:r>
          </a:p>
          <a:p>
            <a:pPr algn="l"/>
            <a:r>
              <a:rPr sz="1600" lang="en-GB" dirty="0">
                <a:solidFill>
                  <a:srgbClr val="1E1E1E"/>
                </a:solidFill>
              </a:rPr>
              <a:t>Adding a second ring oriented on the perpendicular vertical axis gives two independent orientation axes per ion. At 10° resolution per axis:</a:t>
            </a:r>
          </a:p>
          <a:p>
            <a:pPr algn="l"/>
            <a:r>
              <a:rPr sz="300" lang="en-GB" dirty="0">
                <a:solidFill>
                  <a:srgbClr val="1E1E1E"/>
                </a:solidFill>
              </a:rPr>
              <a:t/>
            </a:r>
          </a:p>
          <a:p>
            <a:pPr algn="l"/>
            <a:r>
              <a:rPr sz="1300" lang="en-GB" dirty="0">
                <a:solidFill>
                  <a:srgbClr val="1E1E1E"/>
                </a:solidFill>
                <a:latin typeface="Courier New"/>
              </a:rPr>
              <a:t>  36 × 36 = 1,296 unique states</a:t>
            </a:r>
          </a:p>
          <a:p>
            <a:pPr algn="l"/>
            <a:r>
              <a:rPr sz="1300" lang="en-GB" dirty="0">
                <a:solidFill>
                  <a:srgbClr val="1E1E1E"/>
                </a:solidFill>
                <a:latin typeface="Courier New"/>
              </a:rPr>
              <a:t>  Covers: A–Z, a–z, 0–9, punctuation, control characters</a:t>
            </a:r>
          </a:p>
          <a:p>
            <a:pPr algn="l"/>
            <a:r>
              <a:rPr sz="700" lang="en-GB" dirty="0">
                <a:solidFill>
                  <a:srgbClr val="1E1E1E"/>
                </a:solidFill>
              </a:rPr>
              <a:t/>
            </a:r>
          </a:p>
          <a:p>
            <a:pPr algn="l">
              <a:spcBef>
                <a:spcPts val="500"/>
              </a:spcBef>
            </a:pPr>
            <a:r>
              <a:rPr sz="1700" lang="en-GB" dirty="0" b="1">
                <a:solidFill>
                  <a:srgbClr val="1E3A5F"/>
                </a:solidFill>
              </a:rPr>
              <a:t>Row multiplexing</a:t>
            </a:r>
          </a:p>
          <a:p>
            <a:pPr algn="l"/>
            <a:r>
              <a:rPr sz="1600" lang="en-GB" dirty="0">
                <a:solidFill>
                  <a:srgbClr val="1E1E1E"/>
                </a:solidFill>
              </a:rPr>
              <a:t>Each row of N ions encodes exactly one character. All N ions in the row are set to the identical orientation angle. Multiple rows in the slab allow multiple characters to be transmitted or received simultaneously. The number of rows determines the channel throughput.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Part 2 — Experimental Pathway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Overview of this section</a:t>
            </a:r>
          </a:p>
          <a:p>
            <a:pPr algn="l"/>
            <a:r>
              <a:rPr sz="1600" lang="en-GB" dirty="0">
                <a:solidFill>
                  <a:srgbClr val="1E1E1E"/>
                </a:solidFill>
              </a:rPr>
              <a:t>This section describes the experimental programme in order of increasing complexity. Each stage tests a specific hypothesis and produces publishable results independent of subsequent stages.</a:t>
            </a:r>
          </a:p>
          <a:p>
            <a:pPr algn="l"/>
            <a:r>
              <a:rPr sz="700" lang="en-GB" dirty="0">
                <a:solidFill>
                  <a:srgbClr val="1E1E1E"/>
                </a:solidFill>
              </a:rPr>
              <a:t/>
            </a:r>
          </a:p>
          <a:p>
            <a:pPr algn="l" lvl="1"/>
            <a:r>
              <a:rPr sz="1600" lang="en-GB" dirty="0">
                <a:solidFill>
                  <a:srgbClr val="1E1E1E"/>
                </a:solidFill>
              </a:rPr>
              <a:t>Stage 1 — Single Ca⁺ pair: entanglement, orientation control, weak readout.</a:t>
            </a:r>
          </a:p>
          <a:p>
            <a:pPr algn="l" lvl="1"/>
            <a:r>
              <a:rPr sz="1600" lang="en-GB" dirty="0">
                <a:solidFill>
                  <a:srgbClr val="1E1E1E"/>
                </a:solidFill>
              </a:rPr>
              <a:t>Stage 2 — Single pair, remote sites: Mach-Zehnder isolation test.</a:t>
            </a:r>
          </a:p>
          <a:p>
            <a:pPr algn="l" lvl="1"/>
            <a:r>
              <a:rPr sz="1600" lang="en-GB" dirty="0">
                <a:solidFill>
                  <a:srgbClr val="1E1E1E"/>
                </a:solidFill>
              </a:rPr>
              <a:t>Stage 3 — Small ensemble (N = 10–100): orientation SNR characterisation.</a:t>
            </a:r>
          </a:p>
          <a:p>
            <a:pPr algn="l" lvl="1"/>
            <a:r>
              <a:rPr sz="1600" lang="en-GB" dirty="0">
                <a:solidFill>
                  <a:srgbClr val="1E1E1E"/>
                </a:solidFill>
              </a:rPr>
              <a:t>Stage 4 — Large ensemble (N = 1,000+): the primary EMT signal test.</a:t>
            </a:r>
          </a:p>
          <a:p>
            <a:pPr algn="l" lvl="1"/>
            <a:r>
              <a:rPr sz="1600" lang="en-GB" dirty="0">
                <a:solidFill>
                  <a:srgbClr val="1E1E1E"/>
                </a:solidFill>
              </a:rPr>
              <a:t>Stage 5 — Multi-row slab: multiplexed transmission test.</a:t>
            </a:r>
          </a:p>
          <a:p>
            <a:pPr algn="l" lvl="1"/>
            <a:r>
              <a:rPr sz="1600" lang="en-GB" dirty="0">
                <a:solidFill>
                  <a:srgbClr val="1E1E1E"/>
                </a:solidFill>
              </a:rPr>
              <a:t>Stage 6 — Self-healing grid: dynamical decoupling + bootstrap re-entanglement.</a:t>
            </a:r>
          </a:p>
          <a:p>
            <a:pPr algn="l"/>
            <a:r>
              <a:rPr sz="700" lang="en-GB" dirty="0">
                <a:solidFill>
                  <a:srgbClr val="1E1E1E"/>
                </a:solidFill>
              </a:rPr>
              <a:t/>
            </a:r>
          </a:p>
          <a:p>
            <a:pPr algn="l"/>
            <a:r>
              <a:rPr sz="1300" lang="en-GB" dirty="0">
                <a:solidFill>
                  <a:srgbClr val="788598"/>
                </a:solidFill>
              </a:rPr>
              <a:t>Stages 1–3 are achievable with existing ion trap apparatus at institutions including Oxford, Innsbruck, NIST, and PTB. Stage 4 is the critical experiment. Stages 5–6 are engineering development contingent on Stage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2.1  Ca⁺ as the Experimental Substrate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Why Ca⁺ is the correct choice</a:t>
            </a:r>
          </a:p>
          <a:p>
            <a:pPr algn="l"/>
            <a:r>
              <a:rPr sz="1600" lang="en-GB" dirty="0">
                <a:solidFill>
                  <a:srgbClr val="1E1E1E"/>
                </a:solidFill>
              </a:rPr>
              <a:t>Calcium-40 ions in a Paul trap are the most mature platform for the precision quantum state control required by the EMT experiment. Every capability required has been individually demonstrated:</a:t>
            </a:r>
          </a:p>
          <a:p>
            <a:pPr algn="l"/>
            <a:r>
              <a:rPr sz="700" lang="en-GB" dirty="0">
                <a:solidFill>
                  <a:srgbClr val="1E1E1E"/>
                </a:solidFill>
              </a:rPr>
              <a:t/>
            </a:r>
          </a:p>
          <a:p>
            <a:pPr algn="l" lvl="1"/>
            <a:r>
              <a:rPr sz="1600" lang="en-GB" dirty="0">
                <a:solidFill>
                  <a:srgbClr val="1E1E1E"/>
                </a:solidFill>
              </a:rPr>
              <a:t>Coherence time: T₂* ∼ 1 ms (electron spin, no decoupling); T₂ ∼ 1 s with CPMG-8 dynamical decoupling; up to 10 hours with XY-64 DD on the nuclear spin of Ca-43.</a:t>
            </a:r>
          </a:p>
          <a:p>
            <a:pPr algn="l" lvl="1"/>
            <a:r>
              <a:rPr sz="1600" lang="en-GB" dirty="0">
                <a:solidFill>
                  <a:srgbClr val="1E1E1E"/>
                </a:solidFill>
              </a:rPr>
              <a:t>Write mechanism: microwave pulse at the Larmor frequency ω_L = gμ_B B/ħ rotates the spin to any target angle. Rabi oscillation gives precise angle control. Precision &lt; 0.1° demonstrated.</a:t>
            </a:r>
          </a:p>
          <a:p>
            <a:pPr algn="l" lvl="1"/>
            <a:r>
              <a:rPr sz="1600" lang="en-GB" dirty="0">
                <a:solidFill>
                  <a:srgbClr val="1E1E1E"/>
                </a:solidFill>
              </a:rPr>
              <a:t>Read mechanism: state-selective fluorescence at 397 nm. Readout fidelity &gt; 99.9% per shot demonstrated at PTB and NIST. This is the highest single-shot readout fidelity of any qubit platform.</a:t>
            </a:r>
          </a:p>
          <a:p>
            <a:pPr algn="l" lvl="1"/>
            <a:r>
              <a:rPr sz="1600" lang="en-GB" dirty="0">
                <a:solidFill>
                  <a:srgbClr val="1E1E1E"/>
                </a:solidFill>
              </a:rPr>
              <a:t>Entanglement: Mølmer–Sørensen (MS) two-qubit gate entangles ions via their shared axial motional mode. Gate fidelity &gt; 99.9% demonstrated. No external photon intermediary required.</a:t>
            </a:r>
          </a:p>
          <a:p>
            <a:pPr algn="l" lvl="1"/>
            <a:r>
              <a:rPr sz="1600" lang="en-GB" dirty="0">
                <a:solidFill>
                  <a:srgbClr val="1E1E1E"/>
                </a:solidFill>
              </a:rPr>
              <a:t>Ion shuttling: multi-zone trap chips allow ions to be moved between trap zones without coherence loss. Demonstrated at Oxford and Innsbruck.</a:t>
            </a:r>
          </a:p>
          <a:p>
            <a:pPr algn="l"/>
            <a:r>
              <a:rPr sz="700" lang="en-GB" dirty="0">
                <a:solidFill>
                  <a:srgbClr val="1E1E1E"/>
                </a:solidFill>
              </a:rPr>
              <a:t/>
            </a:r>
          </a:p>
          <a:p>
            <a:pPr algn="l">
              <a:spcBef>
                <a:spcPts val="500"/>
              </a:spcBef>
            </a:pPr>
            <a:r>
              <a:rPr sz="1700" lang="en-GB" dirty="0" b="1">
                <a:solidFill>
                  <a:srgbClr val="1E3A5F"/>
                </a:solidFill>
              </a:rPr>
              <a:t>Trap compatibility with magnetic orientation control</a:t>
            </a:r>
          </a:p>
          <a:p>
            <a:pPr algn="l"/>
            <a:r>
              <a:rPr sz="1600" lang="en-GB" dirty="0">
                <a:solidFill>
                  <a:srgbClr val="1E1E1E"/>
                </a:solidFill>
              </a:rPr>
              <a:t>The Paul trap confines Ca⁺ via oscillating electric fields at 10–100 MHz. A static magnetic bias field (1–10 mT) defines the quantisation axis and splits the Zeeman sublevels. These operate at completely different frequencies and do not interfere.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2.2  Stage 1 — Single Pair Entanglement and Readout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Objective</a:t>
            </a:r>
          </a:p>
          <a:p>
            <a:pPr algn="l"/>
            <a:r>
              <a:rPr sz="1600" lang="en-GB" dirty="0">
                <a:solidFill>
                  <a:srgbClr val="1E1E1E"/>
                </a:solidFill>
              </a:rPr>
              <a:t>Demonstrate entanglement of a single Ca⁺ ion pair, controlled orientation setting via magnetic pulse, and weak-measurement readout of the orientation angle. This is existing ion trap quantum computing capability, adapted for continuous-variable orientation rather than discrete qubit states.</a:t>
            </a:r>
          </a:p>
          <a:p>
            <a:pPr algn="l"/>
            <a:r>
              <a:rPr sz="700" lang="en-GB" dirty="0">
                <a:solidFill>
                  <a:srgbClr val="1E1E1E"/>
                </a:solidFill>
              </a:rPr>
              <a:t/>
            </a:r>
          </a:p>
          <a:p>
            <a:pPr algn="l">
              <a:spcBef>
                <a:spcPts val="500"/>
              </a:spcBef>
            </a:pPr>
            <a:r>
              <a:rPr sz="1700" lang="en-GB" dirty="0" b="1">
                <a:solidFill>
                  <a:srgbClr val="1E3A5F"/>
                </a:solidFill>
              </a:rPr>
              <a:t>Protocol</a:t>
            </a:r>
          </a:p>
          <a:p>
            <a:pPr algn="l" lvl="1"/>
            <a:r>
              <a:rPr sz="1600" lang="en-GB" dirty="0">
                <a:solidFill>
                  <a:srgbClr val="1E1E1E"/>
                </a:solidFill>
              </a:rPr>
              <a:t>1. Load two Ca⁺ ions into adjacent zones of a multi-zone Paul trap.</a:t>
            </a:r>
          </a:p>
          <a:p>
            <a:pPr algn="l" lvl="1"/>
            <a:r>
              <a:rPr sz="1600" lang="en-GB" dirty="0">
                <a:solidFill>
                  <a:srgbClr val="1E1E1E"/>
                </a:solidFill>
              </a:rPr>
              <a:t>2. Laser cool both ions to motional ground state: Doppler cooling (397 nm) then sideband cooling (729 nm) to achieve ⟨n⟩ &lt; 0.05.</a:t>
            </a:r>
          </a:p>
          <a:p>
            <a:pPr algn="l" lvl="1"/>
            <a:r>
              <a:rPr sz="1600" lang="en-GB" dirty="0">
                <a:solidFill>
                  <a:srgbClr val="1E1E1E"/>
                </a:solidFill>
              </a:rPr>
              <a:t>3. Apply Mølmer–Sørensen gate pulse to create Bell state |Φ⁺⟩ = (1/√2)(|↑↑⟩ + |↓↓⟩). Verify entanglement by measuring Bell inequality violation.</a:t>
            </a:r>
          </a:p>
          <a:p>
            <a:pPr algn="l" lvl="1"/>
            <a:r>
              <a:rPr sz="1600" lang="en-GB" dirty="0">
                <a:solidFill>
                  <a:srgbClr val="1E1E1E"/>
                </a:solidFill>
              </a:rPr>
              <a:t>4. Apply magnetic pulse to ion A to set orientation angle θ_A at a target value from the ROR table.</a:t>
            </a:r>
          </a:p>
          <a:p>
            <a:pPr algn="l" lvl="1"/>
            <a:r>
              <a:rPr sz="1600" lang="en-GB" dirty="0">
                <a:solidFill>
                  <a:srgbClr val="1E1E1E"/>
                </a:solidFill>
              </a:rPr>
              <a:t>5. Weak-measure ion B with rotating probe polarisation. Average multiple reads. Decode orientation angle θ_B.</a:t>
            </a:r>
          </a:p>
          <a:p>
            <a:pPr algn="l" lvl="1"/>
            <a:r>
              <a:rPr sz="1600" lang="en-GB" dirty="0">
                <a:solidFill>
                  <a:srgbClr val="1E1E1E"/>
                </a:solidFill>
              </a:rPr>
              <a:t>6. Verify: θ_B corresponds to the entanglement-correlated value.</a:t>
            </a:r>
          </a:p>
          <a:p>
            <a:pPr algn="l"/>
            <a:r>
              <a:rPr sz="700" lang="en-GB" dirty="0">
                <a:solidFill>
                  <a:srgbClr val="1E1E1E"/>
                </a:solidFill>
              </a:rPr>
              <a:t/>
            </a:r>
          </a:p>
          <a:p>
            <a:pPr algn="l">
              <a:spcBef>
                <a:spcPts val="500"/>
              </a:spcBef>
            </a:pPr>
            <a:r>
              <a:rPr sz="1700" lang="en-GB" dirty="0" b="1">
                <a:solidFill>
                  <a:srgbClr val="1E3A5F"/>
                </a:solidFill>
              </a:rPr>
              <a:t>Expected result</a:t>
            </a:r>
          </a:p>
          <a:p>
            <a:pPr algn="l"/>
            <a:r>
              <a:rPr sz="1600" lang="en-GB" dirty="0">
                <a:solidFill>
                  <a:srgbClr val="1E1E1E"/>
                </a:solidFill>
              </a:rPr>
              <a:t>Ion B will show the correlated orientation in its fluorescence intensity pattern. This confirms the write/read chain works for a single pair. It does not yet test FTL signalling.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2.3  Stage 2 — Remote Isolation Test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Objective</a:t>
            </a:r>
          </a:p>
          <a:p>
            <a:pPr algn="l"/>
            <a:r>
              <a:rPr sz="1600" lang="en-GB" dirty="0">
                <a:solidFill>
                  <a:srgbClr val="1E1E1E"/>
                </a:solidFill>
              </a:rPr>
              <a:t>Repeat Stage 1 with ions A and B separated by a distance sufficient to exclude classical electromagnetic coupling. The Delft NV-centre experiment (Hensen et al. 2015) used 1.3 km separation with photon-mediated entanglement. For Ca⁺ the same principle applies using the MS gate at manufacture followed by physical separation of the trap halves.</a:t>
            </a:r>
          </a:p>
          <a:p>
            <a:pPr algn="l"/>
            <a:r>
              <a:rPr sz="700" lang="en-GB" dirty="0">
                <a:solidFill>
                  <a:srgbClr val="1E1E1E"/>
                </a:solidFill>
              </a:rPr>
              <a:t/>
            </a:r>
          </a:p>
          <a:p>
            <a:pPr algn="l">
              <a:spcBef>
                <a:spcPts val="500"/>
              </a:spcBef>
            </a:pPr>
            <a:r>
              <a:rPr sz="1700" lang="en-GB" dirty="0" b="1">
                <a:solidFill>
                  <a:srgbClr val="1E3A5F"/>
                </a:solidFill>
              </a:rPr>
              <a:t>Separation requirement</a:t>
            </a:r>
          </a:p>
          <a:p>
            <a:pPr algn="l" lvl="1"/>
            <a:r>
              <a:rPr sz="1600" lang="en-GB" dirty="0">
                <a:solidFill>
                  <a:srgbClr val="1E1E1E"/>
                </a:solidFill>
              </a:rPr>
              <a:t>The Paul trap chip is cleaved along a central plane, separating ion A and ion B into two independent vacuum systems. Minimum useful separation: &gt; 1 m to exclude RF field leakage from the trapping electrodes. Optimal: &gt; 10 m to exclude all conceivable classical coupling.</a:t>
            </a:r>
          </a:p>
          <a:p>
            <a:pPr algn="l" lvl="1"/>
            <a:r>
              <a:rPr sz="1600" lang="en-GB" dirty="0">
                <a:solidFill>
                  <a:srgbClr val="1E1E1E"/>
                </a:solidFill>
              </a:rPr>
              <a:t>Both trap halves must be independently shielded with mu-metal magnetic shielding to exclude common-mode field noise. This is standard in precision spectroscopy.</a:t>
            </a:r>
          </a:p>
          <a:p>
            <a:pPr algn="l"/>
            <a:r>
              <a:rPr sz="700" lang="en-GB" dirty="0">
                <a:solidFill>
                  <a:srgbClr val="1E1E1E"/>
                </a:solidFill>
              </a:rPr>
              <a:t/>
            </a:r>
          </a:p>
          <a:p>
            <a:pPr algn="l">
              <a:spcBef>
                <a:spcPts val="500"/>
              </a:spcBef>
            </a:pPr>
            <a:r>
              <a:rPr sz="1700" lang="en-GB" dirty="0" b="1">
                <a:solidFill>
                  <a:srgbClr val="1E3A5F"/>
                </a:solidFill>
              </a:rPr>
              <a:t>Test condition</a:t>
            </a:r>
          </a:p>
          <a:p>
            <a:pPr algn="l"/>
            <a:r>
              <a:rPr sz="1600" lang="en-GB" dirty="0">
                <a:solidFill>
                  <a:srgbClr val="1E1E1E"/>
                </a:solidFill>
              </a:rPr>
              <a:t>Alice (ion A side) applies orientation pulses. Bob (ion B side) performs weak measurements with no knowledge of Alice's actions. The experiment is run double-blind: Alice's orientation settings are pre-programmed and recorded; Bob's measurements are recorded independently. Data are compared only after both sequences complete.</a:t>
            </a:r>
          </a:p>
          <a:p>
            <a:pPr algn="l"/>
            <a:r>
              <a:rPr sz="700" lang="en-GB" dirty="0">
                <a:solidFill>
                  <a:srgbClr val="1E1E1E"/>
                </a:solidFill>
              </a:rPr>
              <a:t/>
            </a:r>
          </a:p>
          <a:p>
            <a:pPr algn="l">
              <a:spcBef>
                <a:spcPts val="500"/>
              </a:spcBef>
            </a:pPr>
            <a:r>
              <a:rPr sz="1700" lang="en-GB" dirty="0" b="1">
                <a:solidFill>
                  <a:srgbClr val="1E3A5F"/>
                </a:solidFill>
              </a:rPr>
              <a:t>Control conditions</a:t>
            </a:r>
          </a:p>
          <a:p>
            <a:pPr algn="l"/>
            <a:r>
              <a:rPr sz="1600" lang="en-GB" dirty="0">
                <a:solidFill>
                  <a:srgbClr val="1E1E1E"/>
                </a:solidFill>
              </a:rPr>
              <a:t>Identical experiment with non-entangled ion pair: both in |+x⟩ state. Should show no correlation. Identical experiment with entangled pair, Alice holds fixed orientation. Should show stable correlation.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2.4  Stages 3 &amp; 4 — Ensemble Size Scaling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Stage 3: Small ensemble (N = 10 to 100)</a:t>
            </a:r>
          </a:p>
          <a:p>
            <a:pPr algn="l" lvl="1"/>
            <a:r>
              <a:rPr sz="1600" lang="en-GB" dirty="0">
                <a:solidFill>
                  <a:srgbClr val="1E1E1E"/>
                </a:solidFill>
              </a:rPr>
              <a:t>Fabricate a trap chip containing a 1D array of N ion pairs (N between 10 and 100) all entangled and all set to the same orientation angle by Alice. Bob averages his N weak measurements. The purpose is to characterise the SNR as a function of N and verify the √N scaling in the entangled regime.</a:t>
            </a:r>
          </a:p>
          <a:p>
            <a:pPr algn="l" lvl="1"/>
            <a:r>
              <a:rPr sz="1600" lang="en-GB" dirty="0">
                <a:solidFill>
                  <a:srgbClr val="1E1E1E"/>
                </a:solidFill>
              </a:rPr>
              <a:t>Expected: SNR improves as √N for the correlated measurement of the entanglement orientation. The orientation angle should be recoverable with decreasing error as N increases. This is established physics and should be confirmable within existing experimental capability.</a:t>
            </a:r>
          </a:p>
          <a:p>
            <a:pPr algn="l"/>
            <a:r>
              <a:rPr sz="700" lang="en-GB" dirty="0">
                <a:solidFill>
                  <a:srgbClr val="1E1E1E"/>
                </a:solidFill>
              </a:rPr>
              <a:t/>
            </a:r>
          </a:p>
          <a:p>
            <a:pPr algn="l">
              <a:spcBef>
                <a:spcPts val="500"/>
              </a:spcBef>
            </a:pPr>
            <a:r>
              <a:rPr sz="1700" lang="en-GB" dirty="0" b="1">
                <a:solidFill>
                  <a:srgbClr val="1E3A5F"/>
                </a:solidFill>
              </a:rPr>
              <a:t>Stage 4: Large ensemble — the primary EMT signal test</a:t>
            </a:r>
          </a:p>
          <a:p>
            <a:pPr algn="l" lvl="1"/>
            <a:r>
              <a:rPr sz="1600" lang="en-GB" dirty="0">
                <a:solidFill>
                  <a:srgbClr val="1E1E1E"/>
                </a:solidFill>
              </a:rPr>
              <a:t>Scale to N = 1,000 to 10,000 ion pairs per row. Alice sets all ions to orientation θ. Bob averages all N reads. The question: does the averaged output on Bob's side encode θ, above the noise floor predicted by the no-communication theorem?</a:t>
            </a:r>
          </a:p>
          <a:p>
            <a:pPr algn="l"/>
            <a:r>
              <a:rPr sz="700" lang="en-GB" dirty="0">
                <a:solidFill>
                  <a:srgbClr val="1E1E1E"/>
                </a:solidFill>
              </a:rPr>
              <a:t/>
            </a:r>
          </a:p>
          <a:p>
            <a:pPr algn="l">
              <a:spcBef>
                <a:spcPts val="500"/>
              </a:spcBef>
            </a:pPr>
            <a:r>
              <a:rPr sz="1700" lang="en-GB" dirty="0" b="1">
                <a:solidFill>
                  <a:srgbClr val="1E3A5F"/>
                </a:solidFill>
              </a:rPr>
              <a:t>Signal threshold</a:t>
            </a:r>
          </a:p>
          <a:p>
            <a:pPr algn="l"/>
            <a:r>
              <a:rPr sz="1300" lang="en-GB" dirty="0">
                <a:solidFill>
                  <a:srgbClr val="1E1E1E"/>
                </a:solidFill>
                <a:latin typeface="Courier New"/>
              </a:rPr>
              <a:t>  NCT prediction: Bob's output = noise only (zero signal)</a:t>
            </a:r>
          </a:p>
          <a:p>
            <a:pPr algn="l"/>
            <a:r>
              <a:rPr sz="1300" lang="en-GB" dirty="0">
                <a:solidFill>
                  <a:srgbClr val="1E1E1E"/>
                </a:solidFill>
                <a:latin typeface="Courier New"/>
              </a:rPr>
              <a:t>  EMT hypothesis:  Bob's output = f(θ) + noise/√N</a:t>
            </a:r>
          </a:p>
          <a:p>
            <a:pPr algn="l"/>
            <a:r>
              <a:rPr sz="1300" lang="en-GB" dirty="0">
                <a:solidFill>
                  <a:srgbClr val="1E1E1E"/>
                </a:solidFill>
                <a:latin typeface="Courier New"/>
              </a:rPr>
              <a:t>  Required SNR for detection: &gt; 5σ above NCT noise floor</a:t>
            </a:r>
          </a:p>
          <a:p>
            <a:pPr algn="l"/>
            <a:r>
              <a:rPr sz="1300" lang="en-GB" dirty="0">
                <a:solidFill>
                  <a:srgbClr val="1E1E1E"/>
                </a:solidFill>
                <a:latin typeface="Courier New"/>
              </a:rPr>
              <a:t>  Required N at 5σ: determined by Stage 3 calibration</a:t>
            </a:r>
          </a:p>
          <a:p>
            <a:pPr algn="l"/>
            <a:r>
              <a:rPr sz="700" lang="en-GB" dirty="0">
                <a:solidFill>
                  <a:srgbClr val="1E1E1E"/>
                </a:solidFill>
              </a:rPr>
              <a:t/>
            </a:r>
          </a:p>
          <a:p>
            <a:pPr algn="l"/>
            <a:r>
              <a:rPr sz="1300" lang="en-GB" dirty="0">
                <a:solidFill>
                  <a:srgbClr val="788598"/>
                </a:solidFill>
              </a:rPr>
              <a:t>Stage 4 is the critical experiment. All subsequent sections describe hardware and architecture that is built only if Stage 4 produces a positive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2.5  Stage 5 — Multi-Row Slab and Multiplexing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Objective</a:t>
            </a:r>
          </a:p>
          <a:p>
            <a:pPr algn="l"/>
            <a:r>
              <a:rPr sz="1600" lang="en-GB" dirty="0">
                <a:solidFill>
                  <a:srgbClr val="1E1E1E"/>
                </a:solidFill>
              </a:rPr>
              <a:t>Demonstrate simultaneous transmission of multiple characters by operating multiple rows of the ion slab in parallel. Each row is set to a different orientation angle by Alice. Bob reads all rows simultaneously. This tests the channel capacity and multiplexing concept.</a:t>
            </a:r>
          </a:p>
          <a:p>
            <a:pPr algn="l"/>
            <a:r>
              <a:rPr sz="700" lang="en-GB" dirty="0">
                <a:solidFill>
                  <a:srgbClr val="1E1E1E"/>
                </a:solidFill>
              </a:rPr>
              <a:t/>
            </a:r>
          </a:p>
          <a:p>
            <a:pPr algn="l">
              <a:spcBef>
                <a:spcPts val="500"/>
              </a:spcBef>
            </a:pPr>
            <a:r>
              <a:rPr sz="1700" lang="en-GB" dirty="0" b="1">
                <a:solidFill>
                  <a:srgbClr val="1E3A5F"/>
                </a:solidFill>
              </a:rPr>
              <a:t>Transmission modes under test</a:t>
            </a:r>
          </a:p>
          <a:p>
            <a:pPr algn="l" lvl="1"/>
            <a:r>
              <a:rPr sz="1600" lang="en-GB" dirty="0">
                <a:solidFill>
                  <a:srgbClr val="1E1E1E"/>
                </a:solidFill>
              </a:rPr>
              <a:t>Mode A — Maximum signal: all rows set to the same orientation simultaneously. Total ensemble = N_rows × N_per_row. Maximises SNR per character at the cost of throughput.</a:t>
            </a:r>
          </a:p>
          <a:p>
            <a:pPr algn="l" lvl="1"/>
            <a:r>
              <a:rPr sz="1600" lang="en-GB" dirty="0">
                <a:solidFill>
                  <a:srgbClr val="1E1E1E"/>
                </a:solidFill>
              </a:rPr>
              <a:t>Mode B — Parallel message: each row set to a different character. Throughput = N_rows characters per dwell window. Each character uses only N_per_row ensemble averaging.</a:t>
            </a:r>
          </a:p>
          <a:p>
            <a:pPr algn="l" lvl="1"/>
            <a:r>
              <a:rPr sz="1600" lang="en-GB" dirty="0">
                <a:solidFill>
                  <a:srgbClr val="1E1E1E"/>
                </a:solidFill>
              </a:rPr>
              <a:t>Mode C — Cascading pipeline: rows advance as a shift register, giving continuous character throughput with no dead time between transmission windows.</a:t>
            </a:r>
          </a:p>
          <a:p>
            <a:pPr algn="l"/>
            <a:r>
              <a:rPr sz="700" lang="en-GB" dirty="0">
                <a:solidFill>
                  <a:srgbClr val="1E1E1E"/>
                </a:solidFill>
              </a:rPr>
              <a:t/>
            </a:r>
          </a:p>
          <a:p>
            <a:pPr algn="l">
              <a:spcBef>
                <a:spcPts val="500"/>
              </a:spcBef>
            </a:pPr>
            <a:r>
              <a:rPr sz="1700" lang="en-GB" dirty="0" b="1">
                <a:solidFill>
                  <a:srgbClr val="1E3A5F"/>
                </a:solidFill>
              </a:rPr>
              <a:t>Dwell window</a:t>
            </a:r>
          </a:p>
          <a:p>
            <a:pPr algn="l"/>
            <a:r>
              <a:rPr sz="1600" lang="en-GB" dirty="0">
                <a:solidFill>
                  <a:srgbClr val="1E1E1E"/>
                </a:solidFill>
              </a:rPr>
              <a:t>The dwell window t_dwell is the time Alice holds an orientation while Bob accumulates reads. The minimum t_dwell is set by the number of reads N required to achieve the target SNR:</a:t>
            </a:r>
          </a:p>
          <a:p>
            <a:pPr algn="l"/>
            <a:r>
              <a:rPr sz="300" lang="en-GB" dirty="0">
                <a:solidFill>
                  <a:srgbClr val="1E1E1E"/>
                </a:solidFill>
              </a:rPr>
              <a:t/>
            </a:r>
          </a:p>
          <a:p>
            <a:pPr algn="l"/>
            <a:r>
              <a:rPr sz="1300" lang="en-GB" dirty="0">
                <a:solidFill>
                  <a:srgbClr val="1E1E1E"/>
                </a:solidFill>
                <a:latin typeface="Courier New"/>
              </a:rPr>
              <a:t>  t_dwell = N × t_read</a:t>
            </a:r>
          </a:p>
          <a:p>
            <a:pPr algn="l"/>
            <a:r>
              <a:rPr sz="1300" lang="en-GB" dirty="0">
                <a:solidFill>
                  <a:srgbClr val="1E1E1E"/>
                </a:solidFill>
                <a:latin typeface="Courier New"/>
              </a:rPr>
              <a:t>  t_read ≈ 10–100 μs per weak measurement</a:t>
            </a:r>
          </a:p>
          <a:p>
            <a:pPr algn="l"/>
            <a:r>
              <a:rPr sz="1300" lang="en-GB" dirty="0">
                <a:solidFill>
                  <a:srgbClr val="1E1E1E"/>
                </a:solidFill>
                <a:latin typeface="Courier New"/>
              </a:rPr>
              <a:t>  For N = 1000: t_dwell ≈ 10–100 ms</a:t>
            </a:r>
          </a:p>
          <a:p>
            <a:pPr algn="l"/>
            <a:r>
              <a:rPr sz="1300" lang="en-GB" dirty="0">
                <a:solidFill>
                  <a:srgbClr val="1E1E1E"/>
                </a:solidFill>
                <a:latin typeface="Courier New"/>
              </a:rPr>
              <a:t>  Throughput at 100 rows: 100 chars / t_dwell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2.6  Stage 6 — Self-Healing Grid and Coherence Maintenance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Dynamical decoupling</a:t>
            </a:r>
          </a:p>
          <a:p>
            <a:pPr algn="l"/>
            <a:r>
              <a:rPr sz="1600" lang="en-GB" dirty="0">
                <a:solidFill>
                  <a:srgbClr val="1E1E1E"/>
                </a:solidFill>
              </a:rPr>
              <a:t>Entangled pairs decohere due to magnetic field noise, phonon coupling, and charge noise. Dynamical decoupling (DD) applies refocusing pulses that cancel slow-frequency noise by reversing accumulated phase error before it destroys the entanglement.</a:t>
            </a:r>
          </a:p>
          <a:p>
            <a:pPr algn="l"/>
            <a:r>
              <a:rPr sz="300" lang="en-GB" dirty="0">
                <a:solidFill>
                  <a:srgbClr val="1E1E1E"/>
                </a:solidFill>
              </a:rPr>
              <a:t/>
            </a:r>
          </a:p>
          <a:p>
            <a:pPr algn="l"/>
            <a:r>
              <a:rPr sz="1300" lang="en-GB" dirty="0">
                <a:solidFill>
                  <a:srgbClr val="1E1E1E"/>
                </a:solidFill>
                <a:latin typeface="Courier New"/>
              </a:rPr>
              <a:t>  Electron spin, no DD:        T₂* ≈ 1 ms</a:t>
            </a:r>
          </a:p>
          <a:p>
            <a:pPr algn="l"/>
            <a:r>
              <a:rPr sz="1300" lang="en-GB" dirty="0">
                <a:solidFill>
                  <a:srgbClr val="1E1E1E"/>
                </a:solidFill>
                <a:latin typeface="Courier New"/>
              </a:rPr>
              <a:t>  Electron spin, CPMG-8:       T₂  ≈ 1 s</a:t>
            </a:r>
          </a:p>
          <a:p>
            <a:pPr algn="l"/>
            <a:r>
              <a:rPr sz="1300" lang="en-GB" dirty="0">
                <a:solidFill>
                  <a:srgbClr val="1E1E1E"/>
                </a:solidFill>
                <a:latin typeface="Courier New"/>
              </a:rPr>
              <a:t>  Nuclear spin, XY-64:         T₂  ≈ 10 hours (demonstrated)</a:t>
            </a:r>
          </a:p>
          <a:p>
            <a:pPr algn="l"/>
            <a:r>
              <a:rPr sz="700" lang="en-GB" dirty="0">
                <a:solidFill>
                  <a:srgbClr val="1E1E1E"/>
                </a:solidFill>
              </a:rPr>
              <a:t/>
            </a:r>
          </a:p>
          <a:p>
            <a:pPr algn="l">
              <a:spcBef>
                <a:spcPts val="500"/>
              </a:spcBef>
            </a:pPr>
            <a:r>
              <a:rPr sz="1700" lang="en-GB" dirty="0" b="1">
                <a:solidFill>
                  <a:srgbClr val="1E3A5F"/>
                </a:solidFill>
              </a:rPr>
              <a:t>Bootstrap re-entanglement protocol</a:t>
            </a:r>
          </a:p>
          <a:p>
            <a:pPr algn="l" lvl="1"/>
            <a:r>
              <a:rPr sz="1600" lang="en-GB" dirty="0">
                <a:solidFill>
                  <a:srgbClr val="1E1E1E"/>
                </a:solidFill>
              </a:rPr>
              <a:t>When a row's coherence drops below threshold, the system channel (a reserved subset of rows still operational) transmits a refresh request to the remote unit. Both units simultaneously emit entanglement photons from a reserve Ca⁺ ion. A Bell measurement is performed at one site. The classical result is sent on the system channel. Correction pulses applied. New ion pair entangled and loaded into the active grid.</a:t>
            </a:r>
          </a:p>
          <a:p>
            <a:pPr algn="l"/>
            <a:r>
              <a:rPr sz="700" lang="en-GB" dirty="0">
                <a:solidFill>
                  <a:srgbClr val="1E1E1E"/>
                </a:solidFill>
              </a:rPr>
              <a:t/>
            </a:r>
          </a:p>
          <a:p>
            <a:pPr algn="l">
              <a:spcBef>
                <a:spcPts val="500"/>
              </a:spcBef>
            </a:pPr>
            <a:r>
              <a:rPr sz="1700" lang="en-GB" dirty="0" b="1">
                <a:solidFill>
                  <a:srgbClr val="1E3A5F"/>
                </a:solidFill>
              </a:rPr>
              <a:t>Stability condition</a:t>
            </a:r>
          </a:p>
          <a:p>
            <a:pPr algn="l"/>
            <a:r>
              <a:rPr sz="1300" lang="en-GB" dirty="0">
                <a:solidFill>
                  <a:srgbClr val="1E1E1E"/>
                </a:solidFill>
                <a:latin typeface="Courier New"/>
              </a:rPr>
              <a:t>  R_refresh &gt; R_decoherence</a:t>
            </a:r>
          </a:p>
          <a:p>
            <a:pPr algn="l"/>
            <a:r>
              <a:rPr sz="1300" lang="en-GB" dirty="0">
                <a:solidFill>
                  <a:srgbClr val="1E1E1E"/>
                </a:solidFill>
                <a:latin typeface="Courier New"/>
              </a:rPr>
              <a:t>  1/t_refresh  &gt;  N_grid / τ_c</a:t>
            </a:r>
          </a:p>
          <a:p>
            <a:pPr algn="l"/>
            <a:r>
              <a:rPr sz="1300" lang="en-GB" dirty="0">
                <a:solidFill>
                  <a:srgbClr val="1E1E1E"/>
                </a:solidFill>
                <a:latin typeface="Courier New"/>
              </a:rPr>
              <a:t>  Required system rows: N_sys = ⌈N_grid × C_proto × t_dwell / τ_c⌉</a:t>
            </a:r>
          </a:p>
          <a:p>
            <a:pPr algn="l"/>
            <a:r>
              <a:rPr sz="1300" lang="en-GB" dirty="0">
                <a:solidFill>
                  <a:srgbClr val="1E1E1E"/>
                </a:solidFill>
                <a:latin typeface="Courier New"/>
              </a:rPr>
              <a:t>  Ca⁺ nuclear spin (τ_c = 36,000 s): N_sys = 1 row for 10,000 pairs</a:t>
            </a:r>
          </a:p>
          <a:p>
            <a:pPr algn="l"/>
            <a:r>
              <a:rPr sz="700" lang="en-GB" dirty="0">
                <a:solidFill>
                  <a:srgbClr val="1E1E1E"/>
                </a:solidFill>
              </a:rPr>
              <a:t/>
            </a:r>
          </a:p>
          <a:p>
            <a:pPr algn="l"/>
            <a:r>
              <a:rPr sz="1600" lang="en-GB" dirty="0">
                <a:solidFill>
                  <a:srgbClr val="1E1E1E"/>
                </a:solidFill>
              </a:rPr>
              <a:t>The ion reserve is a store of ordinary unentangled Ca⁺ ions, replenished by photoionisation from a small calcium metal source on-chip. No pre-entangled pairs are required in the reserve.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Part 3 — System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Overview of this section</a:t>
            </a:r>
          </a:p>
          <a:p>
            <a:pPr algn="l"/>
            <a:r>
              <a:rPr sz="1600" lang="en-GB" dirty="0">
                <a:solidFill>
                  <a:srgbClr val="1E1E1E"/>
                </a:solidFill>
              </a:rPr>
              <a:t>This section describes the hardware architecture of a production EMT unit, contingent on Stage 4 experimental confirmation. The design uses Ca⁺ ion traps as the primary substrate throughout.</a:t>
            </a:r>
          </a:p>
          <a:p>
            <a:pPr algn="l"/>
            <a:r>
              <a:rPr sz="700" lang="en-GB" dirty="0">
                <a:solidFill>
                  <a:srgbClr val="1E1E1E"/>
                </a:solidFill>
              </a:rPr>
              <a:t/>
            </a:r>
          </a:p>
          <a:p>
            <a:pPr algn="l" lvl="1"/>
            <a:r>
              <a:rPr sz="1600" lang="en-GB" dirty="0">
                <a:solidFill>
                  <a:srgbClr val="1E1E1E"/>
                </a:solidFill>
              </a:rPr>
              <a:t>3.1  Manufacturing process — Ca⁺ ion trap chip.</a:t>
            </a:r>
          </a:p>
          <a:p>
            <a:pPr algn="l" lvl="1"/>
            <a:r>
              <a:rPr sz="1600" lang="en-GB" dirty="0">
                <a:solidFill>
                  <a:srgbClr val="1E1E1E"/>
                </a:solidFill>
              </a:rPr>
              <a:t>3.2  Write mechanism — miniature coil array.</a:t>
            </a:r>
          </a:p>
          <a:p>
            <a:pPr algn="l" lvl="1"/>
            <a:r>
              <a:rPr sz="1600" lang="en-GB" dirty="0">
                <a:solidFill>
                  <a:srgbClr val="1E1E1E"/>
                </a:solidFill>
              </a:rPr>
              <a:t>3.3  Read mechanism — 397 nm fluorescence and ensemble averaging.</a:t>
            </a:r>
          </a:p>
          <a:p>
            <a:pPr algn="l" lvl="1"/>
            <a:r>
              <a:rPr sz="1600" lang="en-GB" dirty="0">
                <a:solidFill>
                  <a:srgbClr val="1E1E1E"/>
                </a:solidFill>
              </a:rPr>
              <a:t>3.4  Full-duplex transceiver architecture.</a:t>
            </a:r>
          </a:p>
          <a:p>
            <a:pPr algn="l" lvl="1"/>
            <a:r>
              <a:rPr sz="1600" lang="en-GB" dirty="0">
                <a:solidFill>
                  <a:srgbClr val="1E1E1E"/>
                </a:solidFill>
              </a:rPr>
              <a:t>3.5  Chip-scale integration.</a:t>
            </a:r>
          </a:p>
          <a:p>
            <a:pPr algn="l" lvl="1"/>
            <a:r>
              <a:rPr sz="1600" lang="en-GB" dirty="0">
                <a:solidFill>
                  <a:srgbClr val="1E1E1E"/>
                </a:solidFill>
              </a:rPr>
              <a:t>3.6  Substrate material comparison.</a:t>
            </a:r>
          </a:p>
          <a:p>
            <a:pPr algn="l"/>
            <a:r>
              <a:rPr sz="700" lang="en-GB" dirty="0">
                <a:solidFill>
                  <a:srgbClr val="1E1E1E"/>
                </a:solidFill>
              </a:rPr>
              <a:t/>
            </a:r>
          </a:p>
          <a:p>
            <a:pPr algn="l"/>
            <a:r>
              <a:rPr sz="1300" lang="en-GB" dirty="0">
                <a:solidFill>
                  <a:srgbClr val="788598"/>
                </a:solidFill>
              </a:rPr>
              <a:t>All hardware described in this section is an engineering extrapolation of demonstrated laboratory techniques. No new physical mechanisms are required beyond the Stage 4 confirmation.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3.1  Manufacturing Process — Ca⁺ Ion Trap</a:t>
            </a:r>
          </a:p>
        </p:txBody>
      </p:sp>
      <p:sp>
        <p:nvSpPr>
          <p:cNvPr id="3" name="TextBox 2"/>
          <p:cNvSpPr txBox="1"/>
          <p:nvPr/>
        </p:nvSpPr>
        <p:spPr>
          <a:xfrm>
            <a:off x="150187" y="671901"/>
            <a:ext cx="6563531" cy="4956048"/>
          </a:xfrm>
          <a:prstGeom prst="rect">
            <a:avLst/>
          </a:prstGeom>
          <a:noFill/>
        </p:spPr>
        <p:txBody>
          <a:bodyPr wrap="square">
            <a:spAutoFit/>
          </a:bodyPr>
          <a:lstStyle/>
          <a:p>
            <a:pPr algn="l"/>
            <a:r>
              <a:rPr sz="1600" lang="en-GB" dirty="0">
                <a:solidFill>
                  <a:srgbClr val="1E1E1E"/>
                </a:solidFill>
              </a:rPr>
              <a:t>Both EMT slabs are produced from a single combined multi-zone Paul trap. The entanglement is established in situ using the Mølmer–Sørensen gate before the trap chip is cleaved. No external photon source is required.</a:t>
            </a:r>
          </a:p>
          <a:p>
            <a:pPr algn="l"/>
            <a:r>
              <a:rPr sz="700" lang="en-GB" dirty="0">
                <a:solidFill>
                  <a:srgbClr val="1E1E1E"/>
                </a:solidFill>
              </a:rPr>
              <a:t/>
            </a:r>
          </a:p>
          <a:p>
            <a:pPr algn="l">
              <a:spcBef>
                <a:spcPts val="500"/>
              </a:spcBef>
            </a:pPr>
            <a:r>
              <a:rPr sz="1700" lang="en-GB" dirty="0" b="1">
                <a:solidFill>
                  <a:srgbClr val="1E3A5F"/>
                </a:solidFill>
              </a:rPr>
              <a:t>Process steps</a:t>
            </a:r>
          </a:p>
          <a:p>
            <a:pPr algn="l" lvl="1"/>
            <a:r>
              <a:rPr sz="1600" lang="en-GB" dirty="0">
                <a:solidFill>
                  <a:srgbClr val="1E1E1E"/>
                </a:solidFill>
              </a:rPr>
              <a:t>1. Trap chip fabrication: electron-beam lithography defines the electrode geometry and cavity grid. Miniature write coils are deposited in the same lithography step.</a:t>
            </a:r>
          </a:p>
          <a:p>
            <a:pPr algn="l" lvl="1"/>
            <a:r>
              <a:rPr sz="1600" lang="en-GB" dirty="0">
                <a:solidFill>
                  <a:srgbClr val="1E1E1E"/>
                </a:solidFill>
              </a:rPr>
              <a:t>2. Calcium loading: neutral Ca metal is heated to produce Ca atoms which are photoionised (423 nm + 375 nm) into Ca⁺ and loaded into the trap zones.</a:t>
            </a:r>
          </a:p>
          <a:p>
            <a:pPr algn="l" lvl="1"/>
            <a:r>
              <a:rPr sz="1600" lang="en-GB" dirty="0">
                <a:solidFill>
                  <a:srgbClr val="1E1E1E"/>
                </a:solidFill>
              </a:rPr>
              <a:t>3. Laser cooling: Doppler cooling (397 nm + 866 nm) reduces ion temperature to ∼1 mK. Resolved-sideband cooling (729 nm) achieves motional ground state ⟨n⟩ &lt; 0.05.</a:t>
            </a:r>
          </a:p>
          <a:p>
            <a:pPr algn="l" lvl="1"/>
            <a:r>
              <a:rPr sz="1600" lang="en-GB" dirty="0">
                <a:solidFill>
                  <a:srgbClr val="1E1E1E"/>
                </a:solidFill>
              </a:rPr>
              <a:t>4. Mølmer–Sørensen entanglement: bichromatic laser pulses drive the shared axial motional mode, entangling ion pairs across the central cleavage plane. Gate fidelity &gt; 99.9% demonstrated.</a:t>
            </a:r>
          </a:p>
          <a:p>
            <a:pPr algn="l" lvl="1"/>
            <a:r>
              <a:rPr sz="1600" lang="en-GB" dirty="0">
                <a:solidFill>
                  <a:srgbClr val="1E1E1E"/>
                </a:solidFill>
              </a:rPr>
              <a:t>5. Cleavage: the trap chip is cleaved along the central plane. Position correspondence of each ion pair is guaranteed by geometry. No calibration of the entanglement mapping is required.</a:t>
            </a:r>
          </a:p>
          <a:p>
            <a:pPr algn="l" lvl="1"/>
            <a:r>
              <a:rPr sz="1600" lang="en-GB" dirty="0">
                <a:solidFill>
                  <a:srgbClr val="1E1E1E"/>
                </a:solidFill>
              </a:rPr>
              <a:t>6. Encapsulation and deployment: each slab is vacuum-sealed with laser optics, photodetector array, coil driver board, and MCU. Slab B is shipped to the remote site. DD activated immediately.</a:t>
            </a:r>
          </a:p>
        </p:txBody>
      </p:sp>
      <p:pic>
        <p:nvPicPr>
          <p:cNvPr id="4" name="Picture 3" descr="image14.png"/>
          <p:cNvPicPr>
            <a:picLocks noChangeAspect="1"/>
          </p:cNvPicPr>
          <p:nvPr/>
        </p:nvPicPr>
        <p:blipFill>
          <a:blip r:embed="rId2"/>
          <a:stretch>
            <a:fillRect/>
          </a:stretch>
        </p:blipFill>
        <p:spPr>
          <a:xfrm>
            <a:off x="36576" y="5760720"/>
            <a:ext cx="6784848" cy="397763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3.2  Write Mechanism — Miniature Coil Array</a:t>
            </a:r>
          </a:p>
        </p:txBody>
      </p:sp>
      <p:sp>
        <p:nvSpPr>
          <p:cNvPr id="3" name="TextBox 2"/>
          <p:cNvSpPr txBox="1"/>
          <p:nvPr/>
        </p:nvSpPr>
        <p:spPr>
          <a:xfrm>
            <a:off x="150187" y="671901"/>
            <a:ext cx="6563531" cy="5687567"/>
          </a:xfrm>
          <a:prstGeom prst="rect">
            <a:avLst/>
          </a:prstGeom>
          <a:noFill/>
        </p:spPr>
        <p:txBody>
          <a:bodyPr wrap="square">
            <a:spAutoFit/>
          </a:bodyPr>
          <a:lstStyle/>
          <a:p>
            <a:pPr algn="l">
              <a:spcBef>
                <a:spcPts val="500"/>
              </a:spcBef>
            </a:pPr>
            <a:r>
              <a:rPr sz="1700" lang="en-GB" dirty="0" b="1">
                <a:solidFill>
                  <a:srgbClr val="1E3A5F"/>
                </a:solidFill>
              </a:rPr>
              <a:t>Operating principle</a:t>
            </a:r>
          </a:p>
          <a:p>
            <a:pPr algn="l"/>
            <a:r>
              <a:rPr sz="1600" lang="en-GB" dirty="0">
                <a:solidFill>
                  <a:srgbClr val="1E1E1E"/>
                </a:solidFill>
              </a:rPr>
              <a:t>Each ion trap cavity in the slab is surrounded by a nanoscale coil fabricated in the same electron-beam step as the cavity grid. A current pulse through the coil generates a localised magnetic field that drives a spin rotation via the Zeeman effect. The field pulse is a microwave-frequency pulse at the Larmor frequency ω_L = gμ_B B_bias / ħ, where B_bias is the static bias field (1–10 mT).</a:t>
            </a:r>
          </a:p>
          <a:p>
            <a:pPr algn="l"/>
            <a:r>
              <a:rPr sz="700" lang="en-GB" dirty="0">
                <a:solidFill>
                  <a:srgbClr val="1E1E1E"/>
                </a:solidFill>
              </a:rPr>
              <a:t/>
            </a:r>
          </a:p>
          <a:p>
            <a:pPr algn="l">
              <a:spcBef>
                <a:spcPts val="500"/>
              </a:spcBef>
            </a:pPr>
            <a:r>
              <a:rPr sz="1700" lang="en-GB" dirty="0" b="1">
                <a:solidFill>
                  <a:srgbClr val="1E3A5F"/>
                </a:solidFill>
              </a:rPr>
              <a:t>Rotation mechanics</a:t>
            </a:r>
          </a:p>
          <a:p>
            <a:pPr algn="l"/>
            <a:r>
              <a:rPr sz="1600" lang="en-GB" dirty="0">
                <a:solidFill>
                  <a:srgbClr val="1E1E1E"/>
                </a:solidFill>
              </a:rPr>
              <a:t>Pulse duration τ and Rabi frequency Ω_R = μ_B B_coil / ħ determine the rotation angle: θ = Ω_R · τ. Arbitrary angles are achievable by varying τ. Phase of the pulse sets the rotation axis on the Bloch sphere. Precision &lt; 0.1° has been demonstrated in trapped-ion gates.</a:t>
            </a:r>
          </a:p>
          <a:p>
            <a:pPr algn="l"/>
            <a:r>
              <a:rPr sz="700" lang="en-GB" dirty="0">
                <a:solidFill>
                  <a:srgbClr val="1E1E1E"/>
                </a:solidFill>
              </a:rPr>
              <a:t/>
            </a:r>
          </a:p>
          <a:p>
            <a:pPr algn="l">
              <a:spcBef>
                <a:spcPts val="500"/>
              </a:spcBef>
            </a:pPr>
            <a:r>
              <a:rPr sz="1700" lang="en-GB" dirty="0" b="1">
                <a:solidFill>
                  <a:srgbClr val="1E3A5F"/>
                </a:solidFill>
              </a:rPr>
              <a:t>Coil specifications</a:t>
            </a:r>
          </a:p>
          <a:p>
            <a:pPr algn="l"/>
            <a:r>
              <a:rPr sz="1300" lang="en-GB" dirty="0">
                <a:solidFill>
                  <a:srgbClr val="1E1E1E"/>
                </a:solidFill>
                <a:latin typeface="Courier New"/>
              </a:rPr>
              <a:t>  Coil diameter:   50–200 nm (scales with cavity pitch)</a:t>
            </a:r>
          </a:p>
          <a:p>
            <a:pPr algn="l"/>
            <a:r>
              <a:rPr sz="1300" lang="en-GB" dirty="0">
                <a:solidFill>
                  <a:srgbClr val="1E1E1E"/>
                </a:solidFill>
                <a:latin typeface="Courier New"/>
              </a:rPr>
              <a:t>  Wire material:   NbTi superconducting or standard Cu</a:t>
            </a:r>
          </a:p>
          <a:p>
            <a:pPr algn="l"/>
            <a:r>
              <a:rPr sz="1300" lang="en-GB" dirty="0">
                <a:solidFill>
                  <a:srgbClr val="1E1E1E"/>
                </a:solidFill>
                <a:latin typeface="Courier New"/>
              </a:rPr>
              <a:t>  Field strength:  1–100 mT at ion position</a:t>
            </a:r>
          </a:p>
          <a:p>
            <a:pPr algn="l"/>
            <a:r>
              <a:rPr sz="1300" lang="en-GB" dirty="0">
                <a:solidFill>
                  <a:srgbClr val="1E1E1E"/>
                </a:solidFill>
                <a:latin typeface="Courier New"/>
              </a:rPr>
              <a:t>  Pulse duration:  1–100 ns (Rabi π-pulse for full flip)</a:t>
            </a:r>
          </a:p>
          <a:p>
            <a:pPr algn="l"/>
            <a:r>
              <a:rPr sz="1300" lang="en-GB" dirty="0">
                <a:solidFill>
                  <a:srgbClr val="1E1E1E"/>
                </a:solidFill>
                <a:latin typeface="Courier New"/>
              </a:rPr>
              <a:t>  Addressing:      row × column matrix via MCU GPIO</a:t>
            </a:r>
          </a:p>
          <a:p>
            <a:pPr algn="l"/>
            <a:r>
              <a:rPr sz="1300" lang="en-GB" dirty="0">
                <a:solidFill>
                  <a:srgbClr val="1E1E1E"/>
                </a:solidFill>
                <a:latin typeface="Courier New"/>
              </a:rPr>
              <a:t>  Fabrication:     e-beam lithography, same mask as cavity grid</a:t>
            </a:r>
          </a:p>
          <a:p>
            <a:pPr algn="l"/>
            <a:r>
              <a:rPr sz="700" lang="en-GB" dirty="0">
                <a:solidFill>
                  <a:srgbClr val="1E1E1E"/>
                </a:solidFill>
              </a:rPr>
              <a:t/>
            </a:r>
          </a:p>
          <a:p>
            <a:pPr algn="l"/>
            <a:r>
              <a:rPr sz="1600" lang="en-GB" dirty="0">
                <a:solidFill>
                  <a:srgbClr val="1E1E1E"/>
                </a:solidFill>
              </a:rPr>
              <a:t>No optical alignment is required. Write operations are purely electrical, controlled directly by MCU GPIO output. All ions in a row are pulsed simultaneously to the same angle for Mode A and Mode B transmission.</a:t>
            </a:r>
          </a:p>
        </p:txBody>
      </p:sp>
      <p:pic>
        <p:nvPicPr>
          <p:cNvPr id="4" name="Picture 3" descr="image5.png"/>
          <p:cNvPicPr>
            <a:picLocks noChangeAspect="1"/>
          </p:cNvPicPr>
          <p:nvPr/>
        </p:nvPicPr>
        <p:blipFill>
          <a:blip r:embed="rId2"/>
          <a:stretch>
            <a:fillRect/>
          </a:stretch>
        </p:blipFill>
        <p:spPr>
          <a:xfrm>
            <a:off x="36576" y="6492240"/>
            <a:ext cx="6784848" cy="327355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3.3  Read Mechanism — Weak Measurement Fluorescence</a:t>
            </a:r>
          </a:p>
        </p:txBody>
      </p:sp>
      <p:sp>
        <p:nvSpPr>
          <p:cNvPr id="3" name="TextBox 2"/>
          <p:cNvSpPr txBox="1"/>
          <p:nvPr/>
        </p:nvSpPr>
        <p:spPr>
          <a:xfrm>
            <a:off x="150187" y="671901"/>
            <a:ext cx="6563531" cy="2898648"/>
          </a:xfrm>
          <a:prstGeom prst="rect">
            <a:avLst/>
          </a:prstGeom>
          <a:noFill/>
        </p:spPr>
        <p:txBody>
          <a:bodyPr wrap="square">
            <a:spAutoFit/>
          </a:bodyPr>
          <a:lstStyle/>
          <a:p>
            <a:pPr algn="l"/>
            <a:r>
              <a:rPr sz="1600" lang="en-GB" dirty="0">
                <a:solidFill>
                  <a:srgbClr val="1E1E1E"/>
                </a:solidFill>
              </a:rPr>
              <a:t>Ion orientation is read by weak measurement using a low-power 397 nm probe laser. The probe drives the S₁/₂ → P₁/₂ transition in Ca⁺. The emitted fluorescence intensity is proportional to the projection of the spin state onto the probe polarisation axis.</a:t>
            </a:r>
          </a:p>
          <a:p>
            <a:pPr algn="l"/>
            <a:r>
              <a:rPr sz="400" lang="en-GB" dirty="0">
                <a:solidFill>
                  <a:srgbClr val="1E1E1E"/>
                </a:solidFill>
              </a:rPr>
              <a:t/>
            </a:r>
          </a:p>
          <a:p>
            <a:pPr algn="l">
              <a:spcBef>
                <a:spcPts val="500"/>
              </a:spcBef>
            </a:pPr>
            <a:r>
              <a:rPr sz="1700" lang="en-GB" dirty="0" b="1">
                <a:solidFill>
                  <a:srgbClr val="1E3A5F"/>
                </a:solidFill>
              </a:rPr>
              <a:t>Polarimetry protocol</a:t>
            </a:r>
          </a:p>
          <a:p>
            <a:pPr algn="l" lvl="1"/>
            <a:r>
              <a:rPr sz="1600" lang="en-GB" dirty="0">
                <a:solidFill>
                  <a:srgbClr val="1E1E1E"/>
                </a:solidFill>
              </a:rPr>
              <a:t>Probe with σ+ polarisation: intensity I+ ∝ cos²(θ/2).</a:t>
            </a:r>
          </a:p>
          <a:p>
            <a:pPr algn="l" lvl="1"/>
            <a:r>
              <a:rPr sz="1600" lang="en-GB" dirty="0">
                <a:solidFill>
                  <a:srgbClr val="1E1E1E"/>
                </a:solidFill>
              </a:rPr>
              <a:t>Probe with σ− polarisation: intensity I− ∝ sin²(θ/2).</a:t>
            </a:r>
          </a:p>
          <a:p>
            <a:pPr algn="l" lvl="1"/>
            <a:r>
              <a:rPr sz="1600" lang="en-GB" dirty="0">
                <a:solidFill>
                  <a:srgbClr val="1E1E1E"/>
                </a:solidFill>
              </a:rPr>
              <a:t>Angle recovery: θ = 2·arctan(√(I−/I+)).</a:t>
            </a:r>
          </a:p>
          <a:p>
            <a:pPr algn="l" lvl="1"/>
            <a:r>
              <a:rPr sz="1600" lang="en-GB" dirty="0">
                <a:solidFill>
                  <a:srgbClr val="1E1E1E"/>
                </a:solidFill>
              </a:rPr>
              <a:t>Photon direction: emission follows electric dipole torus pattern (strongest perpendicular to dipole axis, zero along it). Direction does not encode orientation — intensity and polarisation do.</a:t>
            </a:r>
          </a:p>
        </p:txBody>
      </p:sp>
      <p:pic>
        <p:nvPicPr>
          <p:cNvPr id="4" name="Picture 3" descr="read_gs.png"/>
          <p:cNvPicPr>
            <a:picLocks noChangeAspect="1"/>
          </p:cNvPicPr>
          <p:nvPr/>
        </p:nvPicPr>
        <p:blipFill>
          <a:blip r:embed="rId2"/>
          <a:stretch>
            <a:fillRect/>
          </a:stretch>
        </p:blipFill>
        <p:spPr>
          <a:xfrm>
            <a:off x="36576" y="3703320"/>
            <a:ext cx="6784848" cy="54864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3.3b  Fluorescence Photon Direction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Why direction is not a pointer</a:t>
            </a:r>
          </a:p>
          <a:p>
            <a:pPr algn="l"/>
            <a:r>
              <a:rPr sz="1600" lang="en-GB" dirty="0">
                <a:solidFill>
                  <a:srgbClr val="1E1E1E"/>
                </a:solidFill>
              </a:rPr>
              <a:t>The 397 nm transition in Ca⁺ is an electric dipole transition. The photon emission pattern is a radiation torus with maximum emission perpendicular to the dipole axis and zero emission along it. The dipole axis is fixed by the probe laser polarisation and the static B-field quantisation axis, not by the spin orientation of the individual ion. Spin orientation controls which transitions are driven, not where photons go.</a:t>
            </a:r>
          </a:p>
          <a:p>
            <a:pPr algn="l"/>
            <a:r>
              <a:rPr sz="700" lang="en-GB" dirty="0">
                <a:solidFill>
                  <a:srgbClr val="1E1E1E"/>
                </a:solidFill>
              </a:rPr>
              <a:t/>
            </a:r>
          </a:p>
          <a:p>
            <a:pPr algn="l">
              <a:spcBef>
                <a:spcPts val="500"/>
              </a:spcBef>
            </a:pPr>
            <a:r>
              <a:rPr sz="1700" lang="en-GB" dirty="0" b="1">
                <a:solidFill>
                  <a:srgbClr val="1E3A5F"/>
                </a:solidFill>
              </a:rPr>
              <a:t>What spin orientation controls</a:t>
            </a:r>
          </a:p>
          <a:p>
            <a:pPr algn="l" lvl="1"/>
            <a:r>
              <a:rPr sz="1600" lang="en-GB" dirty="0">
                <a:solidFill>
                  <a:srgbClr val="1E1E1E"/>
                </a:solidFill>
              </a:rPr>
              <a:t>Probing with σ+ light: mJ = +½ ions are bright (fluoresce strongly). mJ = −½ ions are dark (do not absorb). The continuous Zeeman superposition angle modulates the brightness continuously. This intensity variation is the orientation signal.</a:t>
            </a:r>
          </a:p>
          <a:p>
            <a:pPr algn="l"/>
            <a:r>
              <a:rPr sz="700" lang="en-GB" dirty="0">
                <a:solidFill>
                  <a:srgbClr val="1E1E1E"/>
                </a:solidFill>
              </a:rPr>
              <a:t/>
            </a:r>
          </a:p>
          <a:p>
            <a:pPr algn="l">
              <a:spcBef>
                <a:spcPts val="500"/>
              </a:spcBef>
            </a:pPr>
            <a:r>
              <a:rPr sz="1700" lang="en-GB" dirty="0" b="1">
                <a:solidFill>
                  <a:srgbClr val="1E3A5F"/>
                </a:solidFill>
              </a:rPr>
              <a:t>The chiral waveguide exception</a:t>
            </a:r>
          </a:p>
          <a:p>
            <a:pPr algn="l" lvl="1"/>
            <a:r>
              <a:rPr sz="1600" lang="en-GB" dirty="0">
                <a:solidFill>
                  <a:srgbClr val="1E1E1E"/>
                </a:solidFill>
              </a:rPr>
              <a:t>In a chiral nanophotonic waveguide, spin-momentum locking causes ions to emit photons preferentially to the left or right depending on their spin state. In this geometry, photon direction IS a pointer to the spin projection. This has been experimentally demonstrated. Coupling Ca⁺ ions to a chiral waveguide would make the read mechanism directional rather than intensity-based. This is an active research direction and a potential future upgrade to the EMT read architecture.</a:t>
            </a:r>
          </a:p>
          <a:p>
            <a:pPr algn="l"/>
            <a:r>
              <a:rPr sz="700" lang="en-GB" dirty="0">
                <a:solidFill>
                  <a:srgbClr val="1E1E1E"/>
                </a:solidFill>
              </a:rPr>
              <a:t/>
            </a:r>
          </a:p>
          <a:p>
            <a:pPr algn="l">
              <a:spcBef>
                <a:spcPts val="500"/>
              </a:spcBef>
            </a:pPr>
            <a:r>
              <a:rPr sz="1700" lang="en-GB" dirty="0" b="1">
                <a:solidFill>
                  <a:srgbClr val="1E3A5F"/>
                </a:solidFill>
              </a:rPr>
              <a:t>Current read method</a:t>
            </a:r>
          </a:p>
          <a:p>
            <a:pPr algn="l"/>
            <a:r>
              <a:rPr sz="1600" lang="en-GB" dirty="0">
                <a:solidFill>
                  <a:srgbClr val="1E1E1E"/>
                </a:solidFill>
              </a:rPr>
              <a:t>For the initial EMT device, orientation is read by polarimetry: measure intensity with two orthogonal probe polarisations and compute the angle from the ratio. No chiral waveguide is required.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3.4  Full-Duplex Transceiver Architecture</a:t>
            </a:r>
          </a:p>
        </p:txBody>
      </p:sp>
      <p:sp>
        <p:nvSpPr>
          <p:cNvPr id="3" name="TextBox 2"/>
          <p:cNvSpPr txBox="1"/>
          <p:nvPr/>
        </p:nvSpPr>
        <p:spPr>
          <a:xfrm>
            <a:off x="150187" y="671901"/>
            <a:ext cx="6563531" cy="5916167"/>
          </a:xfrm>
          <a:prstGeom prst="rect">
            <a:avLst/>
          </a:prstGeom>
          <a:noFill/>
        </p:spPr>
        <p:txBody>
          <a:bodyPr wrap="square">
            <a:spAutoFit/>
          </a:bodyPr>
          <a:lstStyle/>
          <a:p>
            <a:pPr algn="l">
              <a:spcBef>
                <a:spcPts val="500"/>
              </a:spcBef>
            </a:pPr>
            <a:r>
              <a:rPr sz="1700" lang="en-GB" dirty="0" b="1">
                <a:solidFill>
                  <a:srgbClr val="1E3A5F"/>
                </a:solidFill>
              </a:rPr>
              <a:t>One slab per unit, split TX / RX</a:t>
            </a:r>
          </a:p>
          <a:p>
            <a:pPr algn="l"/>
            <a:r>
              <a:rPr sz="1600" lang="en-GB" dirty="0">
                <a:solidFill>
                  <a:srgbClr val="1E1E1E"/>
                </a:solidFill>
              </a:rPr>
              <a:t>Each EMT unit contains one slab. The slab is divided horizontally: the upper half operates in TX mode (Alice sets orientations) and the lower half operates in RX mode (Bob weak-reads). This gives simultaneous bidirectional operation.</a:t>
            </a:r>
          </a:p>
          <a:p>
            <a:pPr algn="l"/>
            <a:r>
              <a:rPr sz="700" lang="en-GB" dirty="0">
                <a:solidFill>
                  <a:srgbClr val="1E1E1E"/>
                </a:solidFill>
              </a:rPr>
              <a:t/>
            </a:r>
          </a:p>
          <a:p>
            <a:pPr algn="l"/>
            <a:r>
              <a:rPr sz="1600" lang="en-GB" dirty="0">
                <a:solidFill>
                  <a:srgbClr val="1E1E1E"/>
                </a:solidFill>
              </a:rPr>
              <a:t>The entanglement is crossed at manufacture: TX rows of Machine A are entangled with RX rows of Machine B, and vice versa. Both slabs originate from a single combined trap, entangled by the MS gate, then cleaved.</a:t>
            </a:r>
          </a:p>
          <a:p>
            <a:pPr algn="l"/>
            <a:r>
              <a:rPr sz="700" lang="en-GB" dirty="0">
                <a:solidFill>
                  <a:srgbClr val="1E1E1E"/>
                </a:solidFill>
              </a:rPr>
              <a:t/>
            </a:r>
          </a:p>
          <a:p>
            <a:pPr algn="l">
              <a:spcBef>
                <a:spcPts val="500"/>
              </a:spcBef>
            </a:pPr>
            <a:r>
              <a:rPr sz="1700" lang="en-GB" dirty="0" b="1">
                <a:solidFill>
                  <a:srgbClr val="1E3A5F"/>
                </a:solidFill>
              </a:rPr>
              <a:t>Software-defined TX/RX ratio</a:t>
            </a:r>
          </a:p>
          <a:p>
            <a:pPr algn="l" lvl="1"/>
            <a:r>
              <a:rPr sz="1600" lang="en-GB" dirty="0">
                <a:solidFill>
                  <a:srgbClr val="1E1E1E"/>
                </a:solidFill>
              </a:rPr>
              <a:t>Mode 1 — Full TX: all rows transmit. Maximum ensemble and SNR. No simultaneous reception.</a:t>
            </a:r>
          </a:p>
          <a:p>
            <a:pPr algn="l" lvl="1"/>
            <a:r>
              <a:rPr sz="1600" lang="en-GB" dirty="0">
                <a:solidFill>
                  <a:srgbClr val="1E1E1E"/>
                </a:solidFill>
              </a:rPr>
              <a:t>Mode 2 — Half-duplex split: top half TX, bottom half RX. Simultaneous bidirectional transmission at half ensemble per direction.</a:t>
            </a:r>
          </a:p>
          <a:p>
            <a:pPr algn="l" lvl="1"/>
            <a:r>
              <a:rPr sz="1600" lang="en-GB" dirty="0">
                <a:solidFill>
                  <a:srgbClr val="1E1E1E"/>
                </a:solidFill>
              </a:rPr>
              <a:t>Mode 3 — Dynamic: MCU adjusts TX/RX row boundary in software to match asymmetric bandwidth demand in real time.</a:t>
            </a:r>
          </a:p>
          <a:p>
            <a:pPr algn="l"/>
            <a:r>
              <a:rPr sz="700" lang="en-GB" dirty="0">
                <a:solidFill>
                  <a:srgbClr val="1E1E1E"/>
                </a:solidFill>
              </a:rPr>
              <a:t/>
            </a:r>
          </a:p>
          <a:p>
            <a:pPr algn="l">
              <a:spcBef>
                <a:spcPts val="500"/>
              </a:spcBef>
            </a:pPr>
            <a:r>
              <a:rPr sz="1700" lang="en-GB" dirty="0" b="1">
                <a:solidFill>
                  <a:srgbClr val="1E3A5F"/>
                </a:solidFill>
              </a:rPr>
              <a:t>System channel reservation</a:t>
            </a:r>
          </a:p>
          <a:p>
            <a:pPr algn="l"/>
            <a:r>
              <a:rPr sz="1600" lang="en-GB" dirty="0">
                <a:solidFill>
                  <a:srgbClr val="1E1E1E"/>
                </a:solidFill>
              </a:rPr>
              <a:t>A fixed allocation of rows is reserved for the self-maintenance protocol (coherence monitoring, refresh requests, Bell measurement coordination). For Ca⁺ nuclear spin with DD, one system row is sufficient to maintain 10,000 active pairs.</a:t>
            </a:r>
          </a:p>
        </p:txBody>
      </p:sp>
      <p:pic>
        <p:nvPicPr>
          <p:cNvPr id="4" name="Picture 3" descr="image8.png"/>
          <p:cNvPicPr>
            <a:picLocks noChangeAspect="1"/>
          </p:cNvPicPr>
          <p:nvPr/>
        </p:nvPicPr>
        <p:blipFill>
          <a:blip r:embed="rId2"/>
          <a:stretch>
            <a:fillRect/>
          </a:stretch>
        </p:blipFill>
        <p:spPr>
          <a:xfrm>
            <a:off x="36576" y="6720840"/>
            <a:ext cx="6784848" cy="30632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3.5  Chip-Scale Integration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Target form factor</a:t>
            </a:r>
          </a:p>
          <a:p>
            <a:pPr algn="l"/>
            <a:r>
              <a:rPr sz="1600" lang="en-GB" dirty="0">
                <a:solidFill>
                  <a:srgbClr val="1E1E1E"/>
                </a:solidFill>
              </a:rPr>
              <a:t>The EMT unit targets a standard chip package of approximately 12 mm × 8 mm plus a compact vacuum housing. The architecture requires no FPGA — a single MCU handles all logic.</a:t>
            </a:r>
          </a:p>
          <a:p>
            <a:pPr algn="l"/>
            <a:r>
              <a:rPr sz="700" lang="en-GB" dirty="0">
                <a:solidFill>
                  <a:srgbClr val="1E1E1E"/>
                </a:solidFill>
              </a:rPr>
              <a:t/>
            </a:r>
          </a:p>
          <a:p>
            <a:pPr algn="l">
              <a:spcBef>
                <a:spcPts val="500"/>
              </a:spcBef>
            </a:pPr>
            <a:r>
              <a:rPr sz="1700" lang="en-GB" dirty="0" b="1">
                <a:solidFill>
                  <a:srgbClr val="1E3A5F"/>
                </a:solidFill>
              </a:rPr>
              <a:t>Internal layer stack (bottom to top)</a:t>
            </a:r>
          </a:p>
          <a:p>
            <a:pPr algn="l" lvl="1"/>
            <a:r>
              <a:rPr sz="1600" lang="en-GB" dirty="0">
                <a:solidFill>
                  <a:srgbClr val="1E1E1E"/>
                </a:solidFill>
              </a:rPr>
              <a:t>Peltier cooling layer: maintains trap temperature. Peltier coolers are sufficient for the Ca⁺ trap operating regime.</a:t>
            </a:r>
          </a:p>
          <a:p>
            <a:pPr algn="l" lvl="1"/>
            <a:r>
              <a:rPr sz="1600" lang="en-GB" dirty="0">
                <a:solidFill>
                  <a:srgbClr val="1E1E1E"/>
                </a:solidFill>
              </a:rPr>
              <a:t>Microcontroller: ROR lookup, message framing, ADC averaging, DD pulse generation, GPIO coil addressing, coherence monitoring.</a:t>
            </a:r>
          </a:p>
          <a:p>
            <a:pPr algn="l" lvl="1"/>
            <a:r>
              <a:rPr sz="1600" lang="en-GB" dirty="0">
                <a:solidFill>
                  <a:srgbClr val="1E1E1E"/>
                </a:solidFill>
              </a:rPr>
              <a:t>Photodetector array: 397 nm fluorescence collection for RX rows.</a:t>
            </a:r>
          </a:p>
          <a:p>
            <a:pPr algn="l" lvl="1"/>
            <a:r>
              <a:rPr sz="1600" lang="en-GB" dirty="0">
                <a:solidFill>
                  <a:srgbClr val="1E1E1E"/>
                </a:solidFill>
              </a:rPr>
              <a:t>Ion trap slab: Ca⁺ entangled grid with per-cavity coil array.</a:t>
            </a:r>
          </a:p>
          <a:p>
            <a:pPr algn="l" lvl="1"/>
            <a:r>
              <a:rPr sz="1600" lang="en-GB" dirty="0">
                <a:solidFill>
                  <a:srgbClr val="1E1E1E"/>
                </a:solidFill>
              </a:rPr>
              <a:t>397 nm probe laser: row-wide illumination for RX weak measurement.</a:t>
            </a:r>
          </a:p>
          <a:p>
            <a:pPr algn="l" lvl="1"/>
            <a:r>
              <a:rPr sz="1600" lang="en-GB" dirty="0">
                <a:solidFill>
                  <a:srgbClr val="1E1E1E"/>
                </a:solidFill>
              </a:rPr>
              <a:t>Calcium ion source: small Ca metal reservoir for reserve ion supply. Photoionisation laser loads fresh ions on demand.</a:t>
            </a:r>
          </a:p>
          <a:p>
            <a:pPr algn="l"/>
            <a:r>
              <a:rPr sz="700" lang="en-GB" dirty="0">
                <a:solidFill>
                  <a:srgbClr val="1E1E1E"/>
                </a:solidFill>
              </a:rPr>
              <a:t/>
            </a:r>
          </a:p>
          <a:p>
            <a:pPr algn="l">
              <a:spcBef>
                <a:spcPts val="500"/>
              </a:spcBef>
            </a:pPr>
            <a:r>
              <a:rPr sz="1700" lang="en-GB" dirty="0" b="1">
                <a:solidFill>
                  <a:srgbClr val="1E3A5F"/>
                </a:solidFill>
              </a:rPr>
              <a:t>Vacuum requirement</a:t>
            </a:r>
          </a:p>
          <a:p>
            <a:pPr algn="l"/>
            <a:r>
              <a:rPr sz="1600" lang="en-GB" dirty="0">
                <a:solidFill>
                  <a:srgbClr val="1E1E1E"/>
                </a:solidFill>
              </a:rPr>
              <a:t>Ultra-high vacuum (&lt; 10⁻¹⁰ mbar) is required for ion trapping. This is the primary portability constraint. Modern compact ion trap systems (e.g. Quantinuum H-series, Oxford Ionics) are rack-mounted and field-deployable. Chip-scale UHV packaging is an active engineering problem.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3.6  Substrate Materials — Coherence-First Ranking</a:t>
            </a:r>
          </a:p>
        </p:txBody>
      </p:sp>
      <p:sp>
        <p:nvSpPr>
          <p:cNvPr id="3" name="TextBox 2"/>
          <p:cNvSpPr txBox="1"/>
          <p:nvPr/>
        </p:nvSpPr>
        <p:spPr>
          <a:xfrm>
            <a:off x="150187" y="671901"/>
            <a:ext cx="6563531" cy="9096634"/>
          </a:xfrm>
          <a:prstGeom prst="rect">
            <a:avLst/>
          </a:prstGeom>
          <a:noFill/>
        </p:spPr>
        <p:txBody>
          <a:bodyPr wrap="square">
            <a:spAutoFit/>
          </a:bodyPr>
          <a:lstStyle/>
          <a:p>
            <a:pPr algn="l"/>
            <a:r>
              <a:rPr sz="1600" lang="en-GB" dirty="0">
                <a:solidFill>
                  <a:srgbClr val="1E1E1E"/>
                </a:solidFill>
              </a:rPr>
              <a:t>Coherence time is the dominant factor. A device at a remote site must maintain entanglement for the entire mission duration. Materials with sub-second coherence are unsuitable for any deployment beyond laboratory distance.</a:t>
            </a:r>
          </a:p>
          <a:p>
            <a:pPr algn="l"/>
            <a:r>
              <a:rPr sz="700" lang="en-GB" dirty="0">
                <a:solidFill>
                  <a:srgbClr val="1E1E1E"/>
                </a:solidFill>
              </a:rPr>
              <a:t/>
            </a:r>
          </a:p>
          <a:p>
            <a:pPr algn="l">
              <a:spcBef>
                <a:spcPts val="500"/>
              </a:spcBef>
            </a:pPr>
            <a:r>
              <a:rPr sz="1700" lang="en-GB" dirty="0" b="1">
                <a:solidFill>
                  <a:srgbClr val="1E3A5F"/>
                </a:solidFill>
              </a:rPr>
              <a:t>Tier 1 — Deployable</a:t>
            </a:r>
          </a:p>
          <a:p>
            <a:pPr algn="l" lvl="1"/>
            <a:r>
              <a:rPr sz="1600" lang="en-GB" dirty="0">
                <a:solidFill>
                  <a:srgbClr val="1E1E1E"/>
                </a:solidFill>
              </a:rPr>
              <a:t>Ca⁺ trapped ions: T₂ up to 10 hours (nuclear spin + XY-64 DD). 99.9% readout fidelity. Requires UHV + laser cooling. Primary substrate for EMT.</a:t>
            </a:r>
          </a:p>
          <a:p>
            <a:pPr algn="l" lvl="1"/>
            <a:r>
              <a:rPr sz="1600" lang="en-GB" dirty="0">
                <a:solidFill>
                  <a:srgbClr val="1E1E1E"/>
                </a:solidFill>
              </a:rPr>
              <a:t>Rare earth YSO (Eu³⁺ or Pr³⁺ in Y₂SiO₅): T₂ hours at 4 K. Record solid-state coherence. Optical quantum memory demonstrated. Peltier-coolable.</a:t>
            </a:r>
          </a:p>
          <a:p>
            <a:pPr algn="l"/>
            <a:r>
              <a:rPr sz="700" lang="en-GB" dirty="0">
                <a:solidFill>
                  <a:srgbClr val="1E1E1E"/>
                </a:solidFill>
              </a:rPr>
              <a:t/>
            </a:r>
          </a:p>
          <a:p>
            <a:pPr algn="l">
              <a:spcBef>
                <a:spcPts val="500"/>
              </a:spcBef>
            </a:pPr>
            <a:r>
              <a:rPr sz="1700" lang="en-GB" dirty="0" b="1">
                <a:solidFill>
                  <a:srgbClr val="1E3A5F"/>
                </a:solidFill>
              </a:rPr>
              <a:t>Tier 2 — Promising, engineering challenges remain</a:t>
            </a:r>
          </a:p>
          <a:p>
            <a:pPr algn="l" lvl="1"/>
            <a:r>
              <a:rPr sz="1600" lang="en-GB" dirty="0">
                <a:solidFill>
                  <a:srgbClr val="1E1E1E"/>
                </a:solidFill>
              </a:rPr>
              <a:t>Si:P (phosphorus in silicon): nuclear spin T₂ seconds at room temperature. CMOS-compatible. Scalable fabrication. Long-term strong candidate.</a:t>
            </a:r>
          </a:p>
          <a:p>
            <a:pPr algn="l"/>
            <a:r>
              <a:rPr sz="700" lang="en-GB" dirty="0">
                <a:solidFill>
                  <a:srgbClr val="1E1E1E"/>
                </a:solidFill>
              </a:rPr>
              <a:t/>
            </a:r>
          </a:p>
          <a:p>
            <a:pPr algn="l">
              <a:spcBef>
                <a:spcPts val="500"/>
              </a:spcBef>
            </a:pPr>
            <a:r>
              <a:rPr sz="1700" lang="en-GB" dirty="0" b="1">
                <a:solidFill>
                  <a:srgbClr val="1E3A5F"/>
                </a:solidFill>
              </a:rPr>
              <a:t>Tier 3 — Unsuitable for EMT at range</a:t>
            </a:r>
          </a:p>
          <a:p>
            <a:pPr algn="l" lvl="1"/>
            <a:r>
              <a:rPr sz="1600" lang="en-GB" dirty="0">
                <a:solidFill>
                  <a:srgbClr val="1E1E1E"/>
                </a:solidFill>
              </a:rPr>
              <a:t>SiC divacancy: T₂ μs–ms. Room temperature. Excellent fab story but coherence too short for any useful deployment range.</a:t>
            </a:r>
          </a:p>
          <a:p>
            <a:pPr algn="l" lvl="1"/>
            <a:r>
              <a:rPr sz="1600" lang="en-GB" dirty="0">
                <a:solidFill>
                  <a:srgbClr val="1E1E1E"/>
                </a:solidFill>
              </a:rPr>
              <a:t>Superconducting qubits: T₂ μs–ms. Requires 15 mK dilution refrigerator. Not deployable.</a:t>
            </a:r>
          </a:p>
          <a:p>
            <a:pPr algn="l" lvl="1"/>
            <a:r>
              <a:rPr sz="1600" lang="en-GB" dirty="0">
                <a:solidFill>
                  <a:srgbClr val="1E1E1E"/>
                </a:solidFill>
              </a:rPr>
              <a:t>Photonic crystal (Si/SiN): T₂ ps–ns. Coherence fatal for EMT.</a:t>
            </a:r>
          </a:p>
          <a:p>
            <a:pPr algn="l" lvl="1"/>
            <a:r>
              <a:rPr sz="1600" lang="en-GB" dirty="0">
                <a:solidFill>
                  <a:srgbClr val="1E1E1E"/>
                </a:solidFill>
              </a:rPr>
              <a:t>NV centres in diamond: T₂ ms–s at room temperature. 1 km entanglement demonstrated (Delft 2015). Moderate candidate for short-range links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Part 4 — Network Architecture and Extended Concepts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Overview of this section</a:t>
            </a:r>
          </a:p>
          <a:p>
            <a:pPr algn="l"/>
            <a:r>
              <a:rPr sz="1600" lang="en-GB" dirty="0">
                <a:solidFill>
                  <a:srgbClr val="1E1E1E"/>
                </a:solidFill>
              </a:rPr>
              <a:t>This section describes network-level architecture assuming the EMT channel is confirmed operational. Two network models are presented: the fixed-pair model (achievable with known physics) and the pairing-code model (contingent on additional unproven physics).</a:t>
            </a:r>
          </a:p>
          <a:p>
            <a:pPr algn="l"/>
            <a:r>
              <a:rPr sz="700" lang="en-GB" dirty="0">
                <a:solidFill>
                  <a:srgbClr val="1E1E1E"/>
                </a:solidFill>
              </a:rPr>
              <a:t/>
            </a:r>
          </a:p>
          <a:p>
            <a:pPr algn="l" lvl="1"/>
            <a:r>
              <a:rPr sz="1600" lang="en-GB" dirty="0">
                <a:solidFill>
                  <a:srgbClr val="1E1E1E"/>
                </a:solidFill>
              </a:rPr>
              <a:t>4.1  Fixed-pair bidirectional link and the call-centre topology.</a:t>
            </a:r>
          </a:p>
          <a:p>
            <a:pPr algn="l" lvl="1"/>
            <a:r>
              <a:rPr sz="1600" lang="en-GB" dirty="0">
                <a:solidFill>
                  <a:srgbClr val="1E1E1E"/>
                </a:solidFill>
              </a:rPr>
              <a:t>4.2  Re-entanglement range and the speed-of-light constraint.</a:t>
            </a:r>
          </a:p>
          <a:p>
            <a:pPr algn="l" lvl="1"/>
            <a:r>
              <a:rPr sz="1600" lang="en-GB" dirty="0">
                <a:solidFill>
                  <a:srgbClr val="1E1E1E"/>
                </a:solidFill>
              </a:rPr>
              <a:t>4.3  Total decoherence recovery — the physics boundary.</a:t>
            </a:r>
          </a:p>
          <a:p>
            <a:pPr algn="l" lvl="1"/>
            <a:r>
              <a:rPr sz="1600" lang="en-GB" dirty="0">
                <a:solidFill>
                  <a:srgbClr val="1E1E1E"/>
                </a:solidFill>
              </a:rPr>
              <a:t>4.4  Retroactive causality — what delayed-choice experiments show.</a:t>
            </a:r>
          </a:p>
          <a:p>
            <a:pPr algn="l" lvl="1"/>
            <a:r>
              <a:rPr sz="1600" lang="en-GB" dirty="0">
                <a:solidFill>
                  <a:srgbClr val="1E1E1E"/>
                </a:solidFill>
              </a:rPr>
              <a:t>4.5  The virtual Bell measurement and pairing code concept.</a:t>
            </a:r>
          </a:p>
          <a:p>
            <a:pPr algn="l" lvl="1"/>
            <a:r>
              <a:rPr sz="1600" lang="en-GB" dirty="0">
                <a:solidFill>
                  <a:srgbClr val="1E1E1E"/>
                </a:solidFill>
              </a:rPr>
              <a:t>4.6  Phone-like operation and the ring protocol.</a:t>
            </a:r>
          </a:p>
          <a:p>
            <a:pPr algn="l"/>
            <a:r>
              <a:rPr sz="700" lang="en-GB" dirty="0">
                <a:solidFill>
                  <a:srgbClr val="1E1E1E"/>
                </a:solidFill>
              </a:rPr>
              <a:t/>
            </a:r>
          </a:p>
          <a:p>
            <a:pPr algn="l"/>
            <a:r>
              <a:rPr sz="1300" lang="en-GB" dirty="0">
                <a:solidFill>
                  <a:srgbClr val="788598"/>
                </a:solidFill>
              </a:rPr>
              <a:t>Sections 4.1–4.2 describe physics that is fully consistent with known quantum mechanics. Sections 4.3–4.6 describe speculative extensions that rest on the same open question as the EMT channel itself. They are presented as hypotheses, not as established capabilities.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4.1  Fixed-Pair Link and the Call-Centre Topology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fixed-pair model</a:t>
            </a:r>
          </a:p>
          <a:p>
            <a:pPr algn="l"/>
            <a:r>
              <a:rPr sz="1600" lang="en-GB" dirty="0">
                <a:solidFill>
                  <a:srgbClr val="1E1E1E"/>
                </a:solidFill>
              </a:rPr>
              <a:t>In the confirmed EMT architecture, each device is permanently entangled with exactly one partner device at manufacture. Device A can communicate with Device B and no other device directly.</a:t>
            </a:r>
          </a:p>
          <a:p>
            <a:pPr algn="l"/>
            <a:r>
              <a:rPr sz="700" lang="en-GB" dirty="0">
                <a:solidFill>
                  <a:srgbClr val="1E1E1E"/>
                </a:solidFill>
              </a:rPr>
              <a:t/>
            </a:r>
          </a:p>
          <a:p>
            <a:pPr algn="l">
              <a:spcBef>
                <a:spcPts val="500"/>
              </a:spcBef>
            </a:pPr>
            <a:r>
              <a:rPr sz="1700" lang="en-GB" dirty="0" b="1">
                <a:solidFill>
                  <a:srgbClr val="1E3A5F"/>
                </a:solidFill>
              </a:rPr>
              <a:t>Extending reach — the call-centre model</a:t>
            </a:r>
          </a:p>
          <a:p>
            <a:pPr algn="l" lvl="1"/>
            <a:r>
              <a:rPr sz="1600" lang="en-GB" dirty="0">
                <a:solidFill>
                  <a:srgbClr val="1E1E1E"/>
                </a:solidFill>
              </a:rPr>
              <a:t>To enable A to reach C (where A and C are not entangled with each other), a relay station S holds one device entangled with A and one entangled with C. The station bridges the two EMT channels classically: data received from A is re-transmitted to C over the A–C classical connection internal to the station.</a:t>
            </a:r>
          </a:p>
          <a:p>
            <a:pPr algn="l" lvl="1"/>
            <a:r>
              <a:rPr sz="1600" lang="en-GB" dirty="0">
                <a:solidFill>
                  <a:srgbClr val="1E1E1E"/>
                </a:solidFill>
              </a:rPr>
              <a:t>Example: Mars ↔ Earth station ↔ Jupiter ship. Mars communicates with the Earth station over the Mars EMT link. The station re-transmits to the ship over the ship EMT link. The classical re-routing inside the station is instantaneous.</a:t>
            </a:r>
          </a:p>
          <a:p>
            <a:pPr algn="l"/>
            <a:r>
              <a:rPr sz="700" lang="en-GB" dirty="0">
                <a:solidFill>
                  <a:srgbClr val="1E1E1E"/>
                </a:solidFill>
              </a:rPr>
              <a:t/>
            </a:r>
          </a:p>
          <a:p>
            <a:pPr algn="l">
              <a:spcBef>
                <a:spcPts val="500"/>
              </a:spcBef>
            </a:pPr>
            <a:r>
              <a:rPr sz="1700" lang="en-GB" dirty="0" b="1">
                <a:solidFill>
                  <a:srgbClr val="1E3A5F"/>
                </a:solidFill>
              </a:rPr>
              <a:t>Limitations of this model</a:t>
            </a:r>
          </a:p>
          <a:p>
            <a:pPr algn="l" lvl="1"/>
            <a:r>
              <a:rPr sz="1600" lang="en-GB" dirty="0">
                <a:solidFill>
                  <a:srgbClr val="1E1E1E"/>
                </a:solidFill>
              </a:rPr>
              <a:t>Hub and spoke: the station is a single point of failure.</a:t>
            </a:r>
          </a:p>
          <a:p>
            <a:pPr algn="l" lvl="1"/>
            <a:r>
              <a:rPr sz="1600" lang="en-GB" dirty="0">
                <a:solidFill>
                  <a:srgbClr val="1E1E1E"/>
                </a:solidFill>
              </a:rPr>
              <a:t>Scalability: each new destination requires a new device pair at the station.</a:t>
            </a:r>
          </a:p>
          <a:p>
            <a:pPr algn="l" lvl="1"/>
            <a:r>
              <a:rPr sz="1600" lang="en-GB" dirty="0">
                <a:solidFill>
                  <a:srgbClr val="1E1E1E"/>
                </a:solidFill>
              </a:rPr>
              <a:t>Range: the station must be reachable by all parties.</a:t>
            </a:r>
          </a:p>
          <a:p>
            <a:pPr algn="l"/>
            <a:r>
              <a:rPr sz="700" lang="en-GB" dirty="0">
                <a:solidFill>
                  <a:srgbClr val="1E1E1E"/>
                </a:solidFill>
              </a:rPr>
              <a:t/>
            </a:r>
          </a:p>
          <a:p>
            <a:pPr algn="l">
              <a:spcBef>
                <a:spcPts val="500"/>
              </a:spcBef>
            </a:pPr>
            <a:r>
              <a:rPr sz="1700" lang="en-GB" dirty="0" b="1">
                <a:solidFill>
                  <a:srgbClr val="1E3A5F"/>
                </a:solidFill>
              </a:rPr>
              <a:t>Range without FTL — Ca⁺ nuclear spin</a:t>
            </a:r>
          </a:p>
          <a:p>
            <a:pPr algn="l"/>
            <a:r>
              <a:rPr sz="1300" lang="en-GB" dirty="0">
                <a:solidFill>
                  <a:srgbClr val="1E1E1E"/>
                </a:solidFill>
                <a:latin typeface="Courier New"/>
              </a:rPr>
              <a:t>  τ_c = 36,000 s (10 hours with XY-64 DD)</a:t>
            </a:r>
          </a:p>
          <a:p>
            <a:pPr algn="l"/>
            <a:r>
              <a:rPr sz="1300" lang="en-GB" dirty="0">
                <a:solidFill>
                  <a:srgbClr val="1E1E1E"/>
                </a:solidFill>
                <a:latin typeface="Courier New"/>
              </a:rPr>
              <a:t>  Max re-entanglement round-trip: c × τ_c / 2 = 36 AU</a:t>
            </a:r>
          </a:p>
          <a:p>
            <a:pPr algn="l"/>
            <a:r>
              <a:rPr sz="1300" lang="en-GB" dirty="0">
                <a:solidFill>
                  <a:srgbClr val="1E1E1E"/>
                </a:solidFill>
                <a:latin typeface="Courier New"/>
              </a:rPr>
              <a:t>  Covers: Earth–Saturn range with seamless re-entanglement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4.2  Re-entanglement Range and the Speed-of-Light Limit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re-entanglement coordination signal</a:t>
            </a:r>
          </a:p>
          <a:p>
            <a:pPr algn="l"/>
            <a:r>
              <a:rPr sz="1600" lang="en-GB" dirty="0">
                <a:solidFill>
                  <a:srgbClr val="1E1E1E"/>
                </a:solidFill>
              </a:rPr>
              <a:t>The bootstrap re-entanglement protocol requires classical coordination: the Bell measurement result must be transmitted from one site to the other so the correction pulse can be applied. This classical signal travels at most at the speed of light. Therefore:</a:t>
            </a:r>
          </a:p>
          <a:p>
            <a:pPr algn="l"/>
            <a:r>
              <a:rPr sz="300" lang="en-GB" dirty="0">
                <a:solidFill>
                  <a:srgbClr val="1E1E1E"/>
                </a:solidFill>
              </a:rPr>
              <a:t/>
            </a:r>
          </a:p>
          <a:p>
            <a:pPr algn="l"/>
            <a:r>
              <a:rPr sz="1300" lang="en-GB" dirty="0">
                <a:solidFill>
                  <a:srgbClr val="1E1E1E"/>
                </a:solidFill>
                <a:latin typeface="Courier New"/>
              </a:rPr>
              <a:t>  Re-entanglement round-trip time ≥ 2D/c</a:t>
            </a:r>
          </a:p>
          <a:p>
            <a:pPr algn="l"/>
            <a:r>
              <a:rPr sz="1300" lang="en-GB" dirty="0">
                <a:solidFill>
                  <a:srgbClr val="1E1E1E"/>
                </a:solidFill>
                <a:latin typeface="Courier New"/>
              </a:rPr>
              <a:t>  For re-entanglement to complete before coherence decays:</a:t>
            </a:r>
          </a:p>
          <a:p>
            <a:pPr algn="l"/>
            <a:r>
              <a:rPr sz="1300" lang="en-GB" dirty="0">
                <a:solidFill>
                  <a:srgbClr val="1E1E1E"/>
                </a:solidFill>
                <a:latin typeface="Courier New"/>
              </a:rPr>
              <a:t>  2D/c  &lt;  τ_c</a:t>
            </a:r>
          </a:p>
          <a:p>
            <a:pPr algn="l"/>
            <a:r>
              <a:rPr sz="1300" lang="en-GB" dirty="0">
                <a:solidFill>
                  <a:srgbClr val="1E1E1E"/>
                </a:solidFill>
                <a:latin typeface="Courier New"/>
              </a:rPr>
              <a:t>  D  &lt;  c × τ_c / 2</a:t>
            </a:r>
          </a:p>
          <a:p>
            <a:pPr algn="l"/>
            <a:r>
              <a:rPr sz="700" lang="en-GB" dirty="0">
                <a:solidFill>
                  <a:srgbClr val="1E1E1E"/>
                </a:solidFill>
              </a:rPr>
              <a:t/>
            </a:r>
          </a:p>
          <a:p>
            <a:pPr algn="l">
              <a:spcBef>
                <a:spcPts val="500"/>
              </a:spcBef>
            </a:pPr>
            <a:r>
              <a:rPr sz="1700" lang="en-GB" dirty="0" b="1">
                <a:solidFill>
                  <a:srgbClr val="1E3A5F"/>
                </a:solidFill>
              </a:rPr>
              <a:t>Range by substrate</a:t>
            </a:r>
          </a:p>
          <a:p>
            <a:pPr algn="l"/>
            <a:r>
              <a:rPr sz="1300" lang="en-GB" dirty="0">
                <a:solidFill>
                  <a:srgbClr val="1E1E1E"/>
                </a:solidFill>
                <a:latin typeface="Courier New"/>
              </a:rPr>
              <a:t>  Ca⁺ electron spin + CPMG  (τ_c = 1 s):    D &lt; 150,000 km</a:t>
            </a:r>
          </a:p>
          <a:p>
            <a:pPr algn="l"/>
            <a:r>
              <a:rPr sz="1300" lang="en-GB" dirty="0">
                <a:solidFill>
                  <a:srgbClr val="1E1E1E"/>
                </a:solidFill>
                <a:latin typeface="Courier New"/>
              </a:rPr>
              <a:t>  Ca⁺ nuclear spin + XY-64  (τ_c = 10 hr):  D &lt; 36 AU</a:t>
            </a:r>
          </a:p>
          <a:p>
            <a:pPr algn="l"/>
            <a:r>
              <a:rPr sz="1300" lang="en-GB" dirty="0">
                <a:solidFill>
                  <a:srgbClr val="1E1E1E"/>
                </a:solidFill>
                <a:latin typeface="Courier New"/>
              </a:rPr>
              <a:t>  YSO rare earth             (τ_c = hours):  D &lt; 36 AU</a:t>
            </a:r>
          </a:p>
          <a:p>
            <a:pPr algn="l"/>
            <a:r>
              <a:rPr sz="1300" lang="en-GB" dirty="0">
                <a:solidFill>
                  <a:srgbClr val="1E1E1E"/>
                </a:solidFill>
                <a:latin typeface="Courier New"/>
              </a:rPr>
              <a:t>  Si:P nuclear spin          (τ_c = seconds): D &lt; 150,000 km</a:t>
            </a:r>
          </a:p>
          <a:p>
            <a:pPr algn="l"/>
            <a:r>
              <a:rPr sz="700" lang="en-GB" dirty="0">
                <a:solidFill>
                  <a:srgbClr val="1E1E1E"/>
                </a:solidFill>
              </a:rPr>
              <a:t/>
            </a:r>
          </a:p>
          <a:p>
            <a:pPr algn="l">
              <a:spcBef>
                <a:spcPts val="500"/>
              </a:spcBef>
            </a:pPr>
            <a:r>
              <a:rPr sz="1700" lang="en-GB" dirty="0" b="1">
                <a:solidFill>
                  <a:srgbClr val="1E3A5F"/>
                </a:solidFill>
              </a:rPr>
              <a:t>If the EMT channel itself operates faster than light</a:t>
            </a:r>
          </a:p>
          <a:p>
            <a:pPr algn="l" lvl="1"/>
            <a:r>
              <a:rPr sz="1600" lang="en-GB" dirty="0">
                <a:solidFill>
                  <a:srgbClr val="1E1E1E"/>
                </a:solidFill>
              </a:rPr>
              <a:t>The coordination signal can also travel via the EMT channel. If the EMT channel is FTL, re-entanglement coordination is also FTL and the range limit disappears. The two questions resolve together: the Stage 4 experiment determines both simultaneously.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4.3  Total Decoherence — The Physics Boundary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Scenario definition</a:t>
            </a:r>
          </a:p>
          <a:p>
            <a:pPr algn="l"/>
            <a:r>
              <a:rPr sz="1600" lang="en-GB" dirty="0">
                <a:solidFill>
                  <a:srgbClr val="1E1E1E"/>
                </a:solidFill>
              </a:rPr>
              <a:t>All entangled pairs have decohered. The calcium reserve contains only ordinary unentangled Ca⁺ ions. No EMT channel exists. No classical communication is possible. No photon link can be established.</a:t>
            </a:r>
          </a:p>
          <a:p>
            <a:pPr algn="l"/>
            <a:r>
              <a:rPr sz="700" lang="en-GB" dirty="0">
                <a:solidFill>
                  <a:srgbClr val="1E1E1E"/>
                </a:solidFill>
              </a:rPr>
              <a:t/>
            </a:r>
          </a:p>
          <a:p>
            <a:pPr algn="l">
              <a:spcBef>
                <a:spcPts val="500"/>
              </a:spcBef>
            </a:pPr>
            <a:r>
              <a:rPr sz="1700" lang="en-GB" dirty="0" b="1">
                <a:solidFill>
                  <a:srgbClr val="1E3A5F"/>
                </a:solidFill>
              </a:rPr>
              <a:t>What is possible within known physics</a:t>
            </a:r>
          </a:p>
          <a:p>
            <a:pPr algn="l" lvl="1"/>
            <a:r>
              <a:rPr sz="1600" lang="en-GB" dirty="0">
                <a:solidFill>
                  <a:srgbClr val="1E1E1E"/>
                </a:solidFill>
              </a:rPr>
              <a:t>Within the standard quantum mechanical formalism, two systems that have never interacted and share no entanglement cannot become entangled by local operations alone. This follows from the tensor product structure: local operations on A ⊗ B cannot create non-classical correlations that were not present in the initial state. No pairing code, however detailed, circumvents this.</a:t>
            </a:r>
          </a:p>
          <a:p>
            <a:pPr algn="l"/>
            <a:r>
              <a:rPr sz="700" lang="en-GB" dirty="0">
                <a:solidFill>
                  <a:srgbClr val="1E1E1E"/>
                </a:solidFill>
              </a:rPr>
              <a:t/>
            </a:r>
          </a:p>
          <a:p>
            <a:pPr algn="l">
              <a:spcBef>
                <a:spcPts val="500"/>
              </a:spcBef>
            </a:pPr>
            <a:r>
              <a:rPr sz="1700" lang="en-GB" dirty="0" b="1">
                <a:solidFill>
                  <a:srgbClr val="1E3A5F"/>
                </a:solidFill>
              </a:rPr>
              <a:t>What might be possible if the EMT hypothesis is correct</a:t>
            </a:r>
          </a:p>
          <a:p>
            <a:pPr algn="l" lvl="1"/>
            <a:r>
              <a:rPr sz="1600" lang="en-GB" dirty="0">
                <a:solidFill>
                  <a:srgbClr val="1E1E1E"/>
                </a:solidFill>
              </a:rPr>
              <a:t>If the EMT channel works, it implies a non-local structure in the N-pair ensemble that is not captured by the standard formalism. If such a structure exists, then two devices independently prepared to identical quantum states — using a shared classical specification (the pairing code) — might be able to establish a joint correlation by resonating into that structure.</a:t>
            </a:r>
          </a:p>
          <a:p>
            <a:pPr algn="l" lvl="1"/>
            <a:r>
              <a:rPr sz="1600" lang="en-GB" dirty="0">
                <a:solidFill>
                  <a:srgbClr val="1E1E1E"/>
                </a:solidFill>
              </a:rPr>
              <a:t>This is a significantly larger hypothesis than the EMT channel itself. The EMT claim is that existing entanglement supports signalling. The recovery claim is that entanglement can be created without prior interaction. These are distinct conjectures. The pairing code recovery is presented as a hypothesis, not as a working mechanism.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4.4  Retroactive Causality — Delayed-Choice Experiments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Ma et al. (2012) experiment</a:t>
            </a:r>
          </a:p>
          <a:p>
            <a:pPr algn="l"/>
            <a:r>
              <a:rPr sz="1600" lang="en-GB" dirty="0">
                <a:solidFill>
                  <a:srgbClr val="1E1E1E"/>
                </a:solidFill>
              </a:rPr>
              <a:t>Two entangled photon pairs are produced: pair 1–2 from source S1, pair 3–4 from source S2. Photons 1 and 4 are sent to Alice and Bob and measured. Their results are recorded. Photons 2 and 3 are sent to Victor, who later decides whether to perform a Bell measurement on them or measure them independently.</a:t>
            </a:r>
          </a:p>
          <a:p>
            <a:pPr algn="l"/>
            <a:r>
              <a:rPr sz="700" lang="en-GB" dirty="0">
                <a:solidFill>
                  <a:srgbClr val="1E1E1E"/>
                </a:solidFill>
              </a:rPr>
              <a:t/>
            </a:r>
          </a:p>
          <a:p>
            <a:pPr algn="l"/>
            <a:r>
              <a:rPr sz="1600" lang="en-GB" dirty="0">
                <a:solidFill>
                  <a:srgbClr val="1E1E1E"/>
                </a:solidFill>
              </a:rPr>
              <a:t>Result: if Victor performs the Bell measurement, Alice and Bob's already-recorded results are found to show entanglement correlations. If Victor does not, they show no correlations. Victor's decision, made after Alice and Bob have finished, retroactively determines whether their particles were entangled. This is experimentally confirmed.</a:t>
            </a:r>
          </a:p>
          <a:p>
            <a:pPr algn="l"/>
            <a:r>
              <a:rPr sz="700" lang="en-GB" dirty="0">
                <a:solidFill>
                  <a:srgbClr val="1E1E1E"/>
                </a:solidFill>
              </a:rPr>
              <a:t/>
            </a:r>
          </a:p>
          <a:p>
            <a:pPr algn="l">
              <a:spcBef>
                <a:spcPts val="500"/>
              </a:spcBef>
            </a:pPr>
            <a:r>
              <a:rPr sz="1700" lang="en-GB" dirty="0" b="1">
                <a:solidFill>
                  <a:srgbClr val="1E3A5F"/>
                </a:solidFill>
              </a:rPr>
              <a:t>What this means</a:t>
            </a:r>
          </a:p>
          <a:p>
            <a:pPr algn="l" lvl="1"/>
            <a:r>
              <a:rPr sz="1600" lang="en-GB" dirty="0">
                <a:solidFill>
                  <a:srgbClr val="1E1E1E"/>
                </a:solidFill>
              </a:rPr>
              <a:t>Entanglement is not simply established at the moment of physical interaction and then passively maintained. The joint quantum state is not fully determined until the complete measurement context is fixed. The causal structure of entanglement is more complex than classical intuition suggests.</a:t>
            </a:r>
          </a:p>
          <a:p>
            <a:pPr algn="l"/>
            <a:r>
              <a:rPr sz="700" lang="en-GB" dirty="0">
                <a:solidFill>
                  <a:srgbClr val="1E1E1E"/>
                </a:solidFill>
              </a:rPr>
              <a:t/>
            </a:r>
          </a:p>
          <a:p>
            <a:pPr algn="l">
              <a:spcBef>
                <a:spcPts val="500"/>
              </a:spcBef>
            </a:pPr>
            <a:r>
              <a:rPr sz="1700" lang="en-GB" dirty="0" b="1">
                <a:solidFill>
                  <a:srgbClr val="1E3A5F"/>
                </a:solidFill>
              </a:rPr>
              <a:t>Scope of the result</a:t>
            </a:r>
          </a:p>
          <a:p>
            <a:pPr algn="l" lvl="1"/>
            <a:r>
              <a:rPr sz="1600" lang="en-GB" dirty="0">
                <a:solidFill>
                  <a:srgbClr val="1E1E1E"/>
                </a:solidFill>
              </a:rPr>
              <a:t>In every delayed-choice experiment, the physical intermediary (Victor's photons) is real and his measurement is real. The retroactivity is in timing, not in the absence of a physical connection. The intermediary is never removed from the experiment. This distinction is important for the virtual Bell measurement concept.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4.5  The Virtual Bell Measurement and Pairing Code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concept</a:t>
            </a:r>
          </a:p>
          <a:p>
            <a:pPr algn="l"/>
            <a:r>
              <a:rPr sz="1600" lang="en-GB" dirty="0">
                <a:solidFill>
                  <a:srgbClr val="1E1E1E"/>
                </a:solidFill>
              </a:rPr>
              <a:t>The pairing code is a classical document specifying the complete quantum state preparation parameters for a specific device: trap secular frequencies, laser cooling parameters, MS gate pulse sequence, initial spin state, and ROR table. Following the pairing code, both devices independently prepare their fresh ions to the identical quantum state.</a:t>
            </a:r>
          </a:p>
          <a:p>
            <a:pPr algn="l"/>
            <a:r>
              <a:rPr sz="700" lang="en-GB" dirty="0">
                <a:solidFill>
                  <a:srgbClr val="1E1E1E"/>
                </a:solidFill>
              </a:rPr>
              <a:t/>
            </a:r>
          </a:p>
          <a:p>
            <a:pPr algn="l">
              <a:spcBef>
                <a:spcPts val="500"/>
              </a:spcBef>
            </a:pPr>
            <a:r>
              <a:rPr sz="1700" lang="en-GB" dirty="0" b="1">
                <a:solidFill>
                  <a:srgbClr val="1E3A5F"/>
                </a:solidFill>
              </a:rPr>
              <a:t>The virtual Bell measurement protocol</a:t>
            </a:r>
          </a:p>
          <a:p>
            <a:pPr algn="l" lvl="1"/>
            <a:r>
              <a:rPr sz="1600" lang="en-GB" dirty="0">
                <a:solidFill>
                  <a:srgbClr val="1E1E1E"/>
                </a:solidFill>
              </a:rPr>
              <a:t>Both devices then perform the local unitary operations that constitute their respective half of a Bell measurement on a virtual joint system. The Pauli correction operations for all four possible Bell outcomes are pre-specified in the pairing code and applied simultaneously in superposition, removing the need for classical communication of the measurement result.</a:t>
            </a:r>
          </a:p>
          <a:p>
            <a:pPr algn="l"/>
            <a:r>
              <a:rPr sz="700" lang="en-GB" dirty="0">
                <a:solidFill>
                  <a:srgbClr val="1E1E1E"/>
                </a:solidFill>
              </a:rPr>
              <a:t/>
            </a:r>
          </a:p>
          <a:p>
            <a:pPr algn="l">
              <a:spcBef>
                <a:spcPts val="500"/>
              </a:spcBef>
            </a:pPr>
            <a:r>
              <a:rPr sz="1700" lang="en-GB" dirty="0" b="1">
                <a:solidFill>
                  <a:srgbClr val="1E3A5F"/>
                </a:solidFill>
              </a:rPr>
              <a:t>Physical assessment</a:t>
            </a:r>
          </a:p>
          <a:p>
            <a:pPr algn="l" lvl="1"/>
            <a:r>
              <a:rPr sz="1600" lang="en-GB" dirty="0">
                <a:solidFill>
                  <a:srgbClr val="1E1E1E"/>
                </a:solidFill>
              </a:rPr>
              <a:t>Within standard QM: this does not work. Two systems with no shared quantum history cannot occupy a joint state. Local operations on independent systems cannot create entanglement.</a:t>
            </a:r>
          </a:p>
          <a:p>
            <a:pPr algn="l" lvl="1"/>
            <a:r>
              <a:rPr sz="1600" lang="en-GB" dirty="0">
                <a:solidFill>
                  <a:srgbClr val="1E1E1E"/>
                </a:solidFill>
              </a:rPr>
              <a:t>Within the EMT hypothesis: if a deeper non-local structure exists that supports the EMT channel, the same structure may allow independently prepared identical states to resonate into a joint correlation. This is speculative and would be a larger departure from known physics than the EMT channel claim itself.</a:t>
            </a:r>
          </a:p>
          <a:p>
            <a:pPr algn="l" lvl="1"/>
            <a:r>
              <a:rPr sz="1600" lang="en-GB" dirty="0">
                <a:solidFill>
                  <a:srgbClr val="1E1E1E"/>
                </a:solidFill>
              </a:rPr>
              <a:t>The pairing code recovery attempt is a well-defined experiment: attempt it, try the EMT channel. If it works, the mechanism is confirmed. If it does not, the limitation is identified.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dirty="0">
                <a:solidFill>
                  <a:srgbClr val="0F172A"/>
                </a:solidFill>
              </a:rPr>
              <a:t>4.6  Phone-Like Operation and the Ring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Architectural implication of the pairing code</a:t>
            </a:r>
          </a:p>
          <a:p>
            <a:pPr algn="l"/>
            <a:r>
              <a:rPr sz="1600" lang="en-GB" dirty="0">
                <a:solidFill>
                  <a:srgbClr val="1E1E1E"/>
                </a:solidFill>
              </a:rPr>
              <a:t>If the virtual Bell measurement works, EMT devices no longer need to be pre-paired at manufacture. Any device can establish a channel to any other device using the target's pairing code. The pairing code functions as a phone number.</a:t>
            </a:r>
          </a:p>
          <a:p>
            <a:pPr algn="l"/>
            <a:r>
              <a:rPr sz="700" lang="en-GB" dirty="0">
                <a:solidFill>
                  <a:srgbClr val="1E1E1E"/>
                </a:solidFill>
              </a:rPr>
              <a:t/>
            </a:r>
          </a:p>
          <a:p>
            <a:pPr algn="l">
              <a:spcBef>
                <a:spcPts val="500"/>
              </a:spcBef>
            </a:pPr>
            <a:r>
              <a:rPr sz="1700" lang="en-GB" dirty="0" b="1">
                <a:solidFill>
                  <a:srgbClr val="1E3A5F"/>
                </a:solidFill>
              </a:rPr>
              <a:t>The ring protocol</a:t>
            </a:r>
          </a:p>
          <a:p>
            <a:pPr algn="l" lvl="1"/>
            <a:r>
              <a:rPr sz="1600" lang="en-GB" dirty="0">
                <a:solidFill>
                  <a:srgbClr val="1E1E1E"/>
                </a:solidFill>
              </a:rPr>
              <a:t>Step 1 — Ring: caller prepares its ions using the target's pairing code and transmits a pre-agreed ring pattern (a specific orientation sequence specified in the target's pairing code). The ring pattern repeats.</a:t>
            </a:r>
          </a:p>
          <a:p>
            <a:pPr algn="l" lvl="1"/>
            <a:r>
              <a:rPr sz="1600" lang="en-GB" dirty="0">
                <a:solidFill>
                  <a:srgbClr val="1E1E1E"/>
                </a:solidFill>
              </a:rPr>
              <a:t>Step 2 — Detect: the called device monitors its ions for its own ring pattern. If the virtual Bell mechanism is active, the ions respond to the caller's operations. The device detects an incoming call.</a:t>
            </a:r>
          </a:p>
          <a:p>
            <a:pPr algn="l" lvl="1"/>
            <a:r>
              <a:rPr sz="1600" lang="en-GB" dirty="0">
                <a:solidFill>
                  <a:srgbClr val="1E1E1E"/>
                </a:solidFill>
              </a:rPr>
              <a:t>Step 3 — Connect: called device completes its half of the virtual Bell measurement. The entire ion grid re-entangles simultaneously. Full-duplex channel active from first moment. The entanglement is bidirectional by nature — no separate outgoing connection is required from the called side.</a:t>
            </a:r>
          </a:p>
          <a:p>
            <a:pPr algn="l" lvl="1"/>
            <a:r>
              <a:rPr sz="1600" lang="en-GB" dirty="0">
                <a:solidFill>
                  <a:srgbClr val="1E1E1E"/>
                </a:solidFill>
              </a:rPr>
              <a:t>Step 4 — Caller ID: caller transmits their own pairing code signature as the first data packet over the live channel. Called device stores it if unknown, or matches to contact list if known.</a:t>
            </a:r>
          </a:p>
          <a:p>
            <a:pPr algn="l" lvl="1"/>
            <a:r>
              <a:rPr sz="1600" lang="en-GB" dirty="0">
                <a:solidFill>
                  <a:srgbClr val="1E1E1E"/>
                </a:solidFill>
              </a:rPr>
              <a:t>Step 5 — End call: either party sends sustained HOME orientation. Both devices detect and release entanglement. Return to standby.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4.7  Eliminating the Call Centre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Comparison</a:t>
            </a:r>
          </a:p>
          <a:p>
            <a:pPr algn="l"/>
            <a:r>
              <a:rPr sz="1300" lang="en-GB" dirty="0">
                <a:solidFill>
                  <a:srgbClr val="1E1E1E"/>
                </a:solidFill>
                <a:latin typeface="Courier New"/>
              </a:rPr>
              <a:t>  Fixed-pair model:     hub-and-spoke, central infrastructure required</a:t>
            </a:r>
          </a:p>
          <a:p>
            <a:pPr algn="l"/>
            <a:r>
              <a:rPr sz="1300" lang="en-GB" dirty="0">
                <a:solidFill>
                  <a:srgbClr val="1E1E1E"/>
                </a:solidFill>
                <a:latin typeface="Courier New"/>
              </a:rPr>
              <a:t>  Pairing code model:   fully connected peer-to-peer mesh</a:t>
            </a:r>
          </a:p>
          <a:p>
            <a:pPr algn="l"/>
            <a:r>
              <a:rPr sz="1300" lang="en-GB" dirty="0">
                <a:solidFill>
                  <a:srgbClr val="1E1E1E"/>
                </a:solidFill>
                <a:latin typeface="Courier New"/>
              </a:rPr>
              <a:t>  Failure modes:        single point vs no single point</a:t>
            </a:r>
          </a:p>
          <a:p>
            <a:pPr algn="l"/>
            <a:r>
              <a:rPr sz="1300" lang="en-GB" dirty="0">
                <a:solidFill>
                  <a:srgbClr val="1E1E1E"/>
                </a:solidFill>
                <a:latin typeface="Courier New"/>
              </a:rPr>
              <a:t>  Scalability:          linear vs N×(N-1)/2 connections</a:t>
            </a:r>
          </a:p>
          <a:p>
            <a:pPr algn="l"/>
            <a:r>
              <a:rPr sz="1300" lang="en-GB" dirty="0">
                <a:solidFill>
                  <a:srgbClr val="1E1E1E"/>
                </a:solidFill>
                <a:latin typeface="Courier New"/>
              </a:rPr>
              <a:t>  New device addition:  new hardware at station vs publish pairing code</a:t>
            </a:r>
          </a:p>
          <a:p>
            <a:pPr algn="l"/>
            <a:r>
              <a:rPr sz="700" lang="en-GB" dirty="0">
                <a:solidFill>
                  <a:srgbClr val="1E1E1E"/>
                </a:solidFill>
              </a:rPr>
              <a:t/>
            </a:r>
          </a:p>
          <a:p>
            <a:pPr algn="l">
              <a:spcBef>
                <a:spcPts val="500"/>
              </a:spcBef>
            </a:pPr>
            <a:r>
              <a:rPr sz="1700" lang="en-GB" dirty="0" b="1">
                <a:solidFill>
                  <a:srgbClr val="1E3A5F"/>
                </a:solidFill>
              </a:rPr>
              <a:t>Network properties of the pairing code model</a:t>
            </a:r>
          </a:p>
          <a:p>
            <a:pPr algn="l" lvl="1"/>
            <a:r>
              <a:rPr sz="1600" lang="en-GB" dirty="0">
                <a:solidFill>
                  <a:srgbClr val="1E1E1E"/>
                </a:solidFill>
              </a:rPr>
              <a:t>Any device can call any device directly with no intermediary. Adding a new device to the network requires only distributing its pairing code — no hardware changes at any other node.</a:t>
            </a:r>
          </a:p>
          <a:p>
            <a:pPr algn="l" lvl="1"/>
            <a:r>
              <a:rPr sz="1600" lang="en-GB" dirty="0">
                <a:solidFill>
                  <a:srgbClr val="1E1E1E"/>
                </a:solidFill>
              </a:rPr>
              <a:t>A network of N devices supports N×(N-1)/2 possible connections with no central infrastructure.</a:t>
            </a:r>
          </a:p>
          <a:p>
            <a:pPr algn="l"/>
            <a:r>
              <a:rPr sz="700" lang="en-GB" dirty="0">
                <a:solidFill>
                  <a:srgbClr val="1E1E1E"/>
                </a:solidFill>
              </a:rPr>
              <a:t/>
            </a:r>
          </a:p>
          <a:p>
            <a:pPr algn="l">
              <a:spcBef>
                <a:spcPts val="500"/>
              </a:spcBef>
            </a:pPr>
            <a:r>
              <a:rPr sz="1700" lang="en-GB" dirty="0" b="1">
                <a:solidFill>
                  <a:srgbClr val="1E3A5F"/>
                </a:solidFill>
              </a:rPr>
              <a:t>The single caveat</a:t>
            </a:r>
          </a:p>
          <a:p>
            <a:pPr algn="l" lvl="1"/>
            <a:r>
              <a:rPr sz="1600" lang="en-GB" dirty="0">
                <a:solidFill>
                  <a:srgbClr val="1E1E1E"/>
                </a:solidFill>
              </a:rPr>
              <a:t>The entire pairing code architecture rests on the virtual Bell measurement hypothesis, which is a larger departure from known physics than the EMT channel itself. The fixed-pair architecture with call-centre relay is achievable if only the primary EMT channel effect is confirmed. The pairing code model requires the additional conjecture to also be correct.</a:t>
            </a:r>
          </a:p>
          <a:p>
            <a:pPr algn="l"/>
            <a:r>
              <a:rPr sz="700" lang="en-GB" dirty="0">
                <a:solidFill>
                  <a:srgbClr val="1E1E1E"/>
                </a:solidFill>
              </a:rPr>
              <a:t/>
            </a:r>
          </a:p>
          <a:p>
            <a:pPr algn="l"/>
            <a:r>
              <a:rPr sz="1300" lang="en-GB" dirty="0">
                <a:solidFill>
                  <a:srgbClr val="788598"/>
                </a:solidFill>
              </a:rPr>
              <a:t>Daniel's original call-centre description (slide 20 of the original paper) remains the architecturally conservative and physically defensible model. The pairing code model is the aspirational endpoint.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Part 5 — Feasibility Assessment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Overview</a:t>
            </a:r>
          </a:p>
          <a:p>
            <a:pPr algn="l"/>
            <a:r>
              <a:rPr sz="1600" lang="en-GB" dirty="0">
                <a:solidFill>
                  <a:srgbClr val="1E1E1E"/>
                </a:solidFill>
              </a:rPr>
              <a:t>This section provides a structured assessment of each claim in the paper, separated by confidence level. The assessment is based on published experimental results and established theoretical physics.</a:t>
            </a:r>
          </a:p>
          <a:p>
            <a:pPr algn="l"/>
            <a:r>
              <a:rPr sz="700" lang="en-GB" dirty="0">
                <a:solidFill>
                  <a:srgbClr val="1E1E1E"/>
                </a:solidFill>
              </a:rPr>
              <a:t/>
            </a:r>
          </a:p>
          <a:p>
            <a:pPr algn="l" lvl="1"/>
            <a:r>
              <a:rPr sz="1600" lang="en-GB" dirty="0">
                <a:solidFill>
                  <a:srgbClr val="1E1E1E"/>
                </a:solidFill>
              </a:rPr>
              <a:t>5.1  Confirmed physics — no dispute.</a:t>
            </a:r>
          </a:p>
          <a:p>
            <a:pPr algn="l" lvl="1"/>
            <a:r>
              <a:rPr sz="1600" lang="en-GB" dirty="0">
                <a:solidFill>
                  <a:srgbClr val="1E1E1E"/>
                </a:solidFill>
              </a:rPr>
              <a:t>5.2  Sound but undemonstrated at scale.</a:t>
            </a:r>
          </a:p>
          <a:p>
            <a:pPr algn="l" lvl="1"/>
            <a:r>
              <a:rPr sz="1600" lang="en-GB" dirty="0">
                <a:solidFill>
                  <a:srgbClr val="1E1E1E"/>
                </a:solidFill>
              </a:rPr>
              <a:t>5.3  The central open question.</a:t>
            </a:r>
          </a:p>
          <a:p>
            <a:pPr algn="l" lvl="1"/>
            <a:r>
              <a:rPr sz="1600" lang="en-GB" dirty="0">
                <a:solidFill>
                  <a:srgbClr val="1E1E1E"/>
                </a:solidFill>
              </a:rPr>
              <a:t>5.4  Speculative extensions.</a:t>
            </a:r>
          </a:p>
          <a:p>
            <a:pPr algn="l" lvl="1"/>
            <a:r>
              <a:rPr sz="1600" lang="en-GB" dirty="0">
                <a:solidFill>
                  <a:srgbClr val="1E1E1E"/>
                </a:solidFill>
              </a:rPr>
              <a:t>5.5  Engineering feasibility.</a:t>
            </a:r>
          </a:p>
          <a:p>
            <a:pPr algn="l" lvl="1"/>
            <a:r>
              <a:rPr sz="1600" lang="en-GB" dirty="0">
                <a:solidFill>
                  <a:srgbClr val="1E1E1E"/>
                </a:solidFill>
              </a:rPr>
              <a:t>5.6  Conclusion.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5.1  Confirmed Physics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All of the following are experimentally established</a:t>
            </a:r>
          </a:p>
          <a:p>
            <a:pPr algn="l" lvl="1"/>
            <a:r>
              <a:rPr sz="1600" lang="en-GB" dirty="0">
                <a:solidFill>
                  <a:srgbClr val="1E1E1E"/>
                </a:solidFill>
              </a:rPr>
              <a:t>Ca⁺ ion trapping, laser cooling, and ground-state preparation: standard in ion trap quantum computing worldwide.</a:t>
            </a:r>
          </a:p>
          <a:p>
            <a:pPr algn="l" lvl="1"/>
            <a:r>
              <a:rPr sz="1600" lang="en-GB" dirty="0">
                <a:solidFill>
                  <a:srgbClr val="1E1E1E"/>
                </a:solidFill>
              </a:rPr>
              <a:t>Mølmer–Sørensen two-qubit gate fidelity &gt; 99.9%: demonstrated at Oxford, Innsbruck, NIST, Honeywell/Quantinuum.</a:t>
            </a:r>
          </a:p>
          <a:p>
            <a:pPr algn="l" lvl="1"/>
            <a:r>
              <a:rPr sz="1600" lang="en-GB" dirty="0">
                <a:solidFill>
                  <a:srgbClr val="1E1E1E"/>
                </a:solidFill>
              </a:rPr>
              <a:t>Magnetic spin rotation (Zeeman/Rabi oscillation) to arbitrary angle with &lt; 0.1° precision: standard in NMR and ion trap experiments.</a:t>
            </a:r>
          </a:p>
          <a:p>
            <a:pPr algn="l" lvl="1"/>
            <a:r>
              <a:rPr sz="1600" lang="en-GB" dirty="0">
                <a:solidFill>
                  <a:srgbClr val="1E1E1E"/>
                </a:solidFill>
              </a:rPr>
              <a:t>State-selective fluorescence readout at 99.9% fidelity per shot using 397 nm probe on Ca⁺: demonstrated at PTB and NIST.</a:t>
            </a:r>
          </a:p>
          <a:p>
            <a:pPr algn="l" lvl="1"/>
            <a:r>
              <a:rPr sz="1600" lang="en-GB" dirty="0">
                <a:solidFill>
                  <a:srgbClr val="1E1E1E"/>
                </a:solidFill>
              </a:rPr>
              <a:t>Dynamical decoupling extending Ca⁺ nuclear spin coherence to ~10 hours with XY-64 sequence: demonstrated.</a:t>
            </a:r>
          </a:p>
          <a:p>
            <a:pPr algn="l" lvl="1"/>
            <a:r>
              <a:rPr sz="1600" lang="en-GB" dirty="0">
                <a:solidFill>
                  <a:srgbClr val="1E1E1E"/>
                </a:solidFill>
              </a:rPr>
              <a:t>Ensemble averaging reducing measurement noise by √N: basic statistics, applies universally.</a:t>
            </a:r>
          </a:p>
          <a:p>
            <a:pPr algn="l" lvl="1"/>
            <a:r>
              <a:rPr sz="1600" lang="en-GB" dirty="0">
                <a:solidFill>
                  <a:srgbClr val="1E1E1E"/>
                </a:solidFill>
              </a:rPr>
              <a:t>Delayed-choice entanglement swapping showing retroactive correlations: demonstrated by Ma et al. (2012) and multiple subsequent groups.</a:t>
            </a:r>
          </a:p>
          <a:p>
            <a:pPr algn="l" lvl="1"/>
            <a:r>
              <a:rPr sz="1600" lang="en-GB" dirty="0">
                <a:solidFill>
                  <a:srgbClr val="1E1E1E"/>
                </a:solidFill>
              </a:rPr>
              <a:t>Ion shuttling between trap zones without coherence loss: demonstrated at Oxford and Innsbruck.</a:t>
            </a:r>
          </a:p>
          <a:p>
            <a:pPr algn="l" lvl="1"/>
            <a:r>
              <a:rPr sz="1600" lang="en-GB" dirty="0">
                <a:solidFill>
                  <a:srgbClr val="1E1E1E"/>
                </a:solidFill>
              </a:rPr>
              <a:t>Photon-mediated entanglement between remote ions (Delft method): demonstrated at Delft (NV centres, 1.3 km) and in principle applicable to Ca⁺.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5.2  Sound Physics, Undemonstrated at Scale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These claims are physically correct but require engineering development</a:t>
            </a:r>
          </a:p>
          <a:p>
            <a:pPr algn="l" lvl="1"/>
            <a:r>
              <a:rPr sz="1600" lang="en-GB" dirty="0">
                <a:solidFill>
                  <a:srgbClr val="1E1E1E"/>
                </a:solidFill>
              </a:rPr>
              <a:t>Miniature per-cavity coil array fabricated in the same e-beam step as the trap grid: physically feasible, not yet demonstrated in a production trapped-ion device. The coil geometry and field strength required are within known nanofabrication capability.</a:t>
            </a:r>
          </a:p>
          <a:p>
            <a:pPr algn="l" lvl="1"/>
            <a:r>
              <a:rPr sz="1600" lang="en-GB" dirty="0">
                <a:solidFill>
                  <a:srgbClr val="1E1E1E"/>
                </a:solidFill>
              </a:rPr>
              <a:t>Trap chip cleavage preserving entanglement in all pairs simultaneously: single-pair entanglement across separable trap zones is demonstrated; cleavage of a full grid while maintaining all pairs is an engineering extrapolation requiring development.</a:t>
            </a:r>
          </a:p>
          <a:p>
            <a:pPr algn="l" lvl="1"/>
            <a:r>
              <a:rPr sz="1600" lang="en-GB" dirty="0">
                <a:solidFill>
                  <a:srgbClr val="1E1E1E"/>
                </a:solidFill>
              </a:rPr>
              <a:t>Orientation angle encoding (ROR) as a communication protocol: the write and read mechanisms are each individually demonstrated; the protocol combining them for character encoding is novel but does not require new physics.</a:t>
            </a:r>
          </a:p>
          <a:p>
            <a:pPr algn="l" lvl="1"/>
            <a:r>
              <a:rPr sz="1600" lang="en-GB" dirty="0">
                <a:solidFill>
                  <a:srgbClr val="1E1E1E"/>
                </a:solidFill>
              </a:rPr>
              <a:t>Bootstrap re-entanglement maintaining a grid of 10,000+ pairs: the individual steps (coherence monitoring, Delft re-entanglement, classical coordination) are all demonstrated; the integrated system at this scale has not been built.</a:t>
            </a:r>
          </a:p>
          <a:p>
            <a:pPr algn="l" lvl="1"/>
            <a:r>
              <a:rPr sz="1600" lang="en-GB" dirty="0">
                <a:solidFill>
                  <a:srgbClr val="1E1E1E"/>
                </a:solidFill>
              </a:rPr>
              <a:t>Chip-scale vacuum packaging of a trapped-ion device: an active engineering challenge being pursued by multiple commercial quantum computing companies.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5.3  The Central Open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 primary EMT claim</a:t>
            </a:r>
          </a:p>
          <a:p>
            <a:pPr algn="l"/>
            <a:r>
              <a:rPr sz="1600" lang="en-GB" dirty="0">
                <a:solidFill>
                  <a:srgbClr val="1E1E1E"/>
                </a:solidFill>
              </a:rPr>
              <a:t>When Alice sets all N ions in a row to orientation angle θ, does Bob's ensemble average of his N entangled partner ions encode any information about θ?</a:t>
            </a:r>
          </a:p>
          <a:p>
            <a:pPr algn="l"/>
            <a:r>
              <a:rPr sz="700" lang="en-GB" dirty="0">
                <a:solidFill>
                  <a:srgbClr val="1E1E1E"/>
                </a:solidFill>
              </a:rPr>
              <a:t/>
            </a:r>
          </a:p>
          <a:p>
            <a:pPr algn="l">
              <a:spcBef>
                <a:spcPts val="500"/>
              </a:spcBef>
            </a:pPr>
            <a:r>
              <a:rPr sz="1700" lang="en-GB" dirty="0" b="1">
                <a:solidFill>
                  <a:srgbClr val="1E3A5F"/>
                </a:solidFill>
              </a:rPr>
              <a:t>The no-communication theorem prediction</a:t>
            </a:r>
          </a:p>
          <a:p>
            <a:pPr algn="l"/>
            <a:r>
              <a:rPr sz="1300" lang="en-GB" dirty="0">
                <a:solidFill>
                  <a:srgbClr val="1E1E1E"/>
                </a:solidFill>
                <a:latin typeface="Courier New"/>
              </a:rPr>
              <a:t>  ρ_B = Tr_A(ρ_AB) = I/2  for all Alice operations</a:t>
            </a:r>
          </a:p>
          <a:p>
            <a:pPr algn="l" lvl="1"/>
            <a:r>
              <a:rPr sz="1600" lang="en-GB" dirty="0">
                <a:solidFill>
                  <a:srgbClr val="1E1E1E"/>
                </a:solidFill>
              </a:rPr>
              <a:t>Bob always sees a maximally mixed state. His averaged outcome has no dependence on θ. The signal is identically zero.</a:t>
            </a:r>
          </a:p>
          <a:p>
            <a:pPr algn="l"/>
            <a:r>
              <a:rPr sz="700" lang="en-GB" dirty="0">
                <a:solidFill>
                  <a:srgbClr val="1E1E1E"/>
                </a:solidFill>
              </a:rPr>
              <a:t/>
            </a:r>
          </a:p>
          <a:p>
            <a:pPr algn="l">
              <a:spcBef>
                <a:spcPts val="500"/>
              </a:spcBef>
            </a:pPr>
            <a:r>
              <a:rPr sz="1700" lang="en-GB" dirty="0" b="1">
                <a:solidFill>
                  <a:srgbClr val="1E3A5F"/>
                </a:solidFill>
              </a:rPr>
              <a:t>Why the experiment is still worth performing</a:t>
            </a:r>
          </a:p>
          <a:p>
            <a:pPr algn="l" lvl="1"/>
            <a:r>
              <a:rPr sz="1600" lang="en-GB" dirty="0">
                <a:solidFill>
                  <a:srgbClr val="1E1E1E"/>
                </a:solidFill>
              </a:rPr>
              <a:t>The theorem is proven in the standard formalism for independent pairs. The EMT experiment tests a collective variable of the N-pair ensemble — specifically, whether ensemble orientation coherence survives in a way not captured by summing N individual reduced density matrices.</a:t>
            </a:r>
          </a:p>
          <a:p>
            <a:pPr algn="l" lvl="1"/>
            <a:r>
              <a:rPr sz="1600" lang="en-GB" dirty="0">
                <a:solidFill>
                  <a:srgbClr val="1E1E1E"/>
                </a:solidFill>
              </a:rPr>
              <a:t>This is not a known loophole. It is a genuine untested regime. A definitive null result is publishable and scientifically valuable. A positive result would require revision of the quantum mechanical formalism and would be among the most significant physics results of the century.</a:t>
            </a:r>
          </a:p>
          <a:p>
            <a:pPr algn="l"/>
            <a:r>
              <a:rPr sz="700" lang="en-GB" dirty="0">
                <a:solidFill>
                  <a:srgbClr val="1E1E1E"/>
                </a:solidFill>
              </a:rPr>
              <a:t/>
            </a:r>
          </a:p>
          <a:p>
            <a:pPr algn="l">
              <a:spcBef>
                <a:spcPts val="500"/>
              </a:spcBef>
            </a:pPr>
            <a:r>
              <a:rPr sz="1700" lang="en-GB" dirty="0" b="1">
                <a:solidFill>
                  <a:srgbClr val="1E3A5F"/>
                </a:solidFill>
              </a:rPr>
              <a:t>Critical experimental requirement</a:t>
            </a:r>
          </a:p>
          <a:p>
            <a:pPr algn="l"/>
            <a:r>
              <a:rPr sz="1600" lang="en-GB" dirty="0">
                <a:solidFill>
                  <a:srgbClr val="1E1E1E"/>
                </a:solidFill>
              </a:rPr>
              <a:t>All classical leakage paths must be eliminated: electromagnetic shielding, vibration isolation, common-mode field rejection, blind analysis protocol. The experiment must be designed to close every known loophole before a positive result can be claimed.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5.4  Speculative Extensions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These claims require physics beyond the current open question</a:t>
            </a:r>
          </a:p>
          <a:p>
            <a:pPr algn="l" lvl="1"/>
            <a:r>
              <a:rPr sz="1600" lang="en-GB" dirty="0">
                <a:solidFill>
                  <a:srgbClr val="1E1E1E"/>
                </a:solidFill>
              </a:rPr>
              <a:t>Virtual Bell measurement re-entanglement (pairing code recovery): requires not only that the EMT channel works, but that entanglement can be created between systems with no shared quantum history by local operations coordinated classically. This is a significantly larger departure from known physics.</a:t>
            </a:r>
          </a:p>
          <a:p>
            <a:pPr algn="l" lvl="1"/>
            <a:r>
              <a:rPr sz="1600" lang="en-GB" dirty="0">
                <a:solidFill>
                  <a:srgbClr val="1E1E1E"/>
                </a:solidFill>
              </a:rPr>
              <a:t>Phone-like operation via pairing code as virtual phone number: contingent on the virtual Bell measurement working. If it does, the peer-to-peer network topology follows directly.</a:t>
            </a:r>
          </a:p>
          <a:p>
            <a:pPr algn="l"/>
            <a:r>
              <a:rPr sz="700" lang="en-GB" dirty="0">
                <a:solidFill>
                  <a:srgbClr val="1E1E1E"/>
                </a:solidFill>
              </a:rPr>
              <a:t/>
            </a:r>
          </a:p>
          <a:p>
            <a:pPr algn="l">
              <a:spcBef>
                <a:spcPts val="500"/>
              </a:spcBef>
            </a:pPr>
            <a:r>
              <a:rPr sz="1700" lang="en-GB" dirty="0" b="1">
                <a:solidFill>
                  <a:srgbClr val="1E3A5F"/>
                </a:solidFill>
              </a:rPr>
              <a:t>Correct characterisation of the speculation hierarchy</a:t>
            </a:r>
          </a:p>
          <a:p>
            <a:pPr algn="l"/>
            <a:r>
              <a:rPr sz="1300" lang="en-GB" dirty="0">
                <a:solidFill>
                  <a:srgbClr val="1E1E1E"/>
                </a:solidFill>
                <a:latin typeface="Courier New"/>
              </a:rPr>
              <a:t>  Level 1 (primary):    EMT channel signal exists</a:t>
            </a:r>
          </a:p>
          <a:p>
            <a:pPr algn="l"/>
            <a:r>
              <a:rPr sz="1300" lang="en-GB" dirty="0">
                <a:solidFill>
                  <a:srgbClr val="1E1E1E"/>
                </a:solidFill>
                <a:latin typeface="Courier New"/>
              </a:rPr>
              <a:t>                        → requires NCT to be incomplete in</a:t>
            </a:r>
          </a:p>
          <a:p>
            <a:pPr algn="l"/>
            <a:r>
              <a:rPr sz="1300" lang="en-GB" dirty="0">
                <a:solidFill>
                  <a:srgbClr val="1E1E1E"/>
                </a:solidFill>
                <a:latin typeface="Courier New"/>
              </a:rPr>
              <a:t>                          ensemble-orientation regime</a:t>
            </a:r>
          </a:p>
          <a:p>
            <a:pPr algn="l"/>
            <a:r>
              <a:rPr sz="300" lang="en-GB" dirty="0">
                <a:solidFill>
                  <a:srgbClr val="1E1E1E"/>
                </a:solidFill>
              </a:rPr>
              <a:t/>
            </a:r>
          </a:p>
          <a:p>
            <a:pPr algn="l"/>
            <a:r>
              <a:rPr sz="1300" lang="en-GB" dirty="0">
                <a:solidFill>
                  <a:srgbClr val="1E1E1E"/>
                </a:solidFill>
                <a:latin typeface="Courier New"/>
              </a:rPr>
              <a:t>  Level 2 (secondary):  Virtual Bell measurement works</a:t>
            </a:r>
          </a:p>
          <a:p>
            <a:pPr algn="l"/>
            <a:r>
              <a:rPr sz="1300" lang="en-GB" dirty="0">
                <a:solidFill>
                  <a:srgbClr val="1E1E1E"/>
                </a:solidFill>
                <a:latin typeface="Courier New"/>
              </a:rPr>
              <a:t>                        → requires entanglement creation</a:t>
            </a:r>
          </a:p>
          <a:p>
            <a:pPr algn="l"/>
            <a:r>
              <a:rPr sz="1300" lang="en-GB" dirty="0">
                <a:solidFill>
                  <a:srgbClr val="1E1E1E"/>
                </a:solidFill>
                <a:latin typeface="Courier New"/>
              </a:rPr>
              <a:t>                          without prior physical interaction</a:t>
            </a:r>
          </a:p>
          <a:p>
            <a:pPr algn="l"/>
            <a:r>
              <a:rPr sz="300" lang="en-GB" dirty="0">
                <a:solidFill>
                  <a:srgbClr val="1E1E1E"/>
                </a:solidFill>
              </a:rPr>
              <a:t/>
            </a:r>
          </a:p>
          <a:p>
            <a:pPr algn="l"/>
            <a:r>
              <a:rPr sz="1300" lang="en-GB" dirty="0">
                <a:solidFill>
                  <a:srgbClr val="1E1E1E"/>
                </a:solidFill>
                <a:latin typeface="Courier New"/>
              </a:rPr>
              <a:t>  Level 3 (tertiary):   Full phone network architecture</a:t>
            </a:r>
          </a:p>
          <a:p>
            <a:pPr algn="l"/>
            <a:r>
              <a:rPr sz="1300" lang="en-GB" dirty="0">
                <a:solidFill>
                  <a:srgbClr val="1E1E1E"/>
                </a:solidFill>
                <a:latin typeface="Courier New"/>
              </a:rPr>
              <a:t>                        → follows from Level 2</a:t>
            </a:r>
          </a:p>
          <a:p>
            <a:pPr algn="l"/>
            <a:r>
              <a:rPr sz="700" lang="en-GB" dirty="0">
                <a:solidFill>
                  <a:srgbClr val="1E1E1E"/>
                </a:solidFill>
              </a:rPr>
              <a:t/>
            </a:r>
          </a:p>
          <a:p>
            <a:pPr algn="l"/>
            <a:r>
              <a:rPr sz="1600" lang="en-GB" dirty="0">
                <a:solidFill>
                  <a:srgbClr val="1E1E1E"/>
                </a:solidFill>
              </a:rPr>
              <a:t>The fixed-pair EMT link and the call-centre topology (slide 20 of original paper, preserved in this document) require only Level 1. They are the conservative engineering target.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5.5  Engineering Feasibility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If Level 1 (primary EMT signal) is confirmed</a:t>
            </a:r>
          </a:p>
          <a:p>
            <a:pPr algn="l" lvl="1"/>
            <a:r>
              <a:rPr sz="1600" lang="en-GB" dirty="0">
                <a:solidFill>
                  <a:srgbClr val="1E1E1E"/>
                </a:solidFill>
              </a:rPr>
              <a:t>The hardware path is clear. Ca⁺ ion trap technology is the most mature qubit platform in existence. The required capabilities are demonstrated individually. The primary engineering challenges are:</a:t>
            </a:r>
          </a:p>
          <a:p>
            <a:pPr algn="l" lvl="1"/>
            <a:r>
              <a:rPr sz="1600" lang="en-GB" dirty="0">
                <a:solidFill>
                  <a:srgbClr val="1E1E1E"/>
                </a:solidFill>
              </a:rPr>
              <a:t>Chip-scale vacuum packaging — being solved by the quantum computing industry. Not a fundamental barrier.</a:t>
            </a:r>
          </a:p>
          <a:p>
            <a:pPr algn="l" lvl="1"/>
            <a:r>
              <a:rPr sz="1600" lang="en-GB" dirty="0">
                <a:solidFill>
                  <a:srgbClr val="1E1E1E"/>
                </a:solidFill>
              </a:rPr>
              <a:t>Multi-zone trap with full grid entanglement — requires scale-up of demonstrated techniques. Non-trivial but tractable.</a:t>
            </a:r>
          </a:p>
          <a:p>
            <a:pPr algn="l" lvl="1"/>
            <a:r>
              <a:rPr sz="1600" lang="en-GB" dirty="0">
                <a:solidFill>
                  <a:srgbClr val="1E1E1E"/>
                </a:solidFill>
              </a:rPr>
              <a:t>Photon collection efficiency for bootstrap re-entanglement — requires nanophotonic cavity coupling. Achievable at ≥50% efficiency with demonstrated cavity QED techniques.</a:t>
            </a:r>
          </a:p>
          <a:p>
            <a:pPr algn="l" lvl="1"/>
            <a:r>
              <a:rPr sz="1600" lang="en-GB" dirty="0">
                <a:solidFill>
                  <a:srgbClr val="1E1E1E"/>
                </a:solidFill>
              </a:rPr>
              <a:t>MCU real-time control of DD pulses plus orientation writes — embedded systems engineering. Solvable.</a:t>
            </a:r>
          </a:p>
          <a:p>
            <a:pPr algn="l"/>
            <a:r>
              <a:rPr sz="700" lang="en-GB" dirty="0">
                <a:solidFill>
                  <a:srgbClr val="1E1E1E"/>
                </a:solidFill>
              </a:rPr>
              <a:t/>
            </a:r>
          </a:p>
          <a:p>
            <a:pPr algn="l">
              <a:spcBef>
                <a:spcPts val="500"/>
              </a:spcBef>
            </a:pPr>
            <a:r>
              <a:rPr sz="1700" lang="en-GB" dirty="0" b="1">
                <a:solidFill>
                  <a:srgbClr val="1E3A5F"/>
                </a:solidFill>
              </a:rPr>
              <a:t>Timeline estimate</a:t>
            </a:r>
          </a:p>
          <a:p>
            <a:pPr algn="l"/>
            <a:r>
              <a:rPr sz="1300" lang="en-GB" dirty="0">
                <a:solidFill>
                  <a:srgbClr val="1E1E1E"/>
                </a:solidFill>
                <a:latin typeface="Courier New"/>
              </a:rPr>
              <a:t>  Stage 1–3 (single pair, remote test, small ensemble):</a:t>
            </a:r>
          </a:p>
          <a:p>
            <a:pPr algn="l"/>
            <a:r>
              <a:rPr sz="1300" lang="en-GB" dirty="0">
                <a:solidFill>
                  <a:srgbClr val="1E1E1E"/>
                </a:solidFill>
                <a:latin typeface="Courier New"/>
              </a:rPr>
              <a:t>    12–24 months in an equipped ion trap lab</a:t>
            </a:r>
          </a:p>
          <a:p>
            <a:pPr algn="l"/>
            <a:r>
              <a:rPr sz="1300" lang="en-GB" dirty="0">
                <a:solidFill>
                  <a:srgbClr val="1E1E1E"/>
                </a:solidFill>
                <a:latin typeface="Courier New"/>
              </a:rPr>
              <a:t>  Stage 4 (large ensemble primary test):</a:t>
            </a:r>
          </a:p>
          <a:p>
            <a:pPr algn="l"/>
            <a:r>
              <a:rPr sz="1300" lang="en-GB" dirty="0">
                <a:solidFill>
                  <a:srgbClr val="1E1E1E"/>
                </a:solidFill>
                <a:latin typeface="Courier New"/>
              </a:rPr>
              <a:t>    24–48 months with dedicated apparatus</a:t>
            </a:r>
          </a:p>
          <a:p>
            <a:pPr algn="l"/>
            <a:r>
              <a:rPr sz="1300" lang="en-GB" dirty="0">
                <a:solidFill>
                  <a:srgbClr val="1E1E1E"/>
                </a:solidFill>
                <a:latin typeface="Courier New"/>
              </a:rPr>
              <a:t>  Stage 5–6 (multi-row, self-healing):</a:t>
            </a:r>
          </a:p>
          <a:p>
            <a:pPr algn="l"/>
            <a:r>
              <a:rPr sz="1300" lang="en-GB" dirty="0">
                <a:solidFill>
                  <a:srgbClr val="1E1E1E"/>
                </a:solidFill>
                <a:latin typeface="Courier New"/>
              </a:rPr>
              <a:t>    48–96 months engineering development after Stage 4 confirmation</a:t>
            </a:r>
          </a:p>
          <a:p>
            <a:pPr algn="l"/>
            <a:r>
              <a:rPr sz="1300" lang="en-GB" dirty="0">
                <a:solidFill>
                  <a:srgbClr val="1E1E1E"/>
                </a:solidFill>
                <a:latin typeface="Courier New"/>
              </a:rPr>
              <a:t>  Production device:</a:t>
            </a:r>
          </a:p>
          <a:p>
            <a:pPr algn="l"/>
            <a:r>
              <a:rPr sz="1300" lang="en-GB" dirty="0">
                <a:solidFill>
                  <a:srgbClr val="1E1E1E"/>
                </a:solidFill>
                <a:latin typeface="Courier New"/>
              </a:rPr>
              <a:t>    Dependent on quantum computing industry chip-scale UHV progress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dirty="0">
                <a:solidFill>
                  <a:srgbClr val="0F172A"/>
                </a:solidFill>
              </a:rPr>
              <a:t>5.6  Conclusion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Summary of findings</a:t>
            </a:r>
          </a:p>
          <a:p>
            <a:pPr algn="l" lvl="1"/>
            <a:r>
              <a:rPr sz="1600" lang="en-GB" dirty="0">
                <a:solidFill>
                  <a:srgbClr val="1E1E1E"/>
                </a:solidFill>
              </a:rPr>
              <a:t>The EMT substrate, write mechanism, read mechanism, coherence maintenance, and self-healing protocol are all grounded in established or tractable physics. The rate equations are correct. The engineering path is clear given experimental confirmation.</a:t>
            </a:r>
          </a:p>
          <a:p>
            <a:pPr algn="l" lvl="1"/>
            <a:r>
              <a:rPr sz="1600" lang="en-GB" dirty="0">
                <a:solidFill>
                  <a:srgbClr val="1E1E1E"/>
                </a:solidFill>
              </a:rPr>
              <a:t>The central EMT hypothesis — that ensemble orientation of entangled ions produces a detectable signal at the remote site — contradicts the no-communication theorem as currently proven but addresses a regime the theorem has not been directly tested in.</a:t>
            </a:r>
          </a:p>
          <a:p>
            <a:pPr algn="l" lvl="1"/>
            <a:r>
              <a:rPr sz="1600" lang="en-GB" dirty="0">
                <a:solidFill>
                  <a:srgbClr val="1E1E1E"/>
                </a:solidFill>
              </a:rPr>
              <a:t>The experiment is worth performing. The apparatus is within reach of current ion trap laboratories. Both possible outcomes are scientifically significant.</a:t>
            </a:r>
          </a:p>
          <a:p>
            <a:pPr algn="l"/>
            <a:r>
              <a:rPr sz="700" lang="en-GB" dirty="0">
                <a:solidFill>
                  <a:srgbClr val="1E1E1E"/>
                </a:solidFill>
              </a:rPr>
              <a:t/>
            </a:r>
          </a:p>
          <a:p>
            <a:pPr algn="l">
              <a:spcBef>
                <a:spcPts val="500"/>
              </a:spcBef>
            </a:pPr>
            <a:r>
              <a:rPr sz="1700" lang="en-GB" dirty="0" b="1">
                <a:solidFill>
                  <a:srgbClr val="1E3A5F"/>
                </a:solidFill>
              </a:rPr>
              <a:t>If the experiment confirms the effect</a:t>
            </a:r>
          </a:p>
          <a:p>
            <a:pPr algn="l" lvl="1"/>
            <a:r>
              <a:rPr sz="1600" lang="en-GB" dirty="0">
                <a:solidFill>
                  <a:srgbClr val="1E1E1E"/>
                </a:solidFill>
              </a:rPr>
              <a:t>The device is buildable. The engineering path is clear. Range covers the entire inner solar system with current coherence technology, and potentially beyond with further development.</a:t>
            </a:r>
          </a:p>
          <a:p>
            <a:pPr algn="l"/>
            <a:r>
              <a:rPr sz="700" lang="en-GB" dirty="0">
                <a:solidFill>
                  <a:srgbClr val="1E1E1E"/>
                </a:solidFill>
              </a:rPr>
              <a:t/>
            </a:r>
          </a:p>
          <a:p>
            <a:pPr algn="l">
              <a:spcBef>
                <a:spcPts val="500"/>
              </a:spcBef>
            </a:pPr>
            <a:r>
              <a:rPr sz="1700" lang="en-GB" dirty="0" b="1">
                <a:solidFill>
                  <a:srgbClr val="1E3A5F"/>
                </a:solidFill>
              </a:rPr>
              <a:t>If the experiment finds no effect</a:t>
            </a:r>
          </a:p>
          <a:p>
            <a:pPr algn="l" lvl="1"/>
            <a:r>
              <a:rPr sz="1600" lang="en-GB" dirty="0">
                <a:solidFill>
                  <a:srgbClr val="1E1E1E"/>
                </a:solidFill>
              </a:rPr>
              <a:t>The no-communication theorem is confirmed in a new regime. The experimental apparatus itself — a large ensemble of entangled Ca⁺ ions with precision orientation control and weak-measurement readout — is a world-class quantum sensor with applications in atomic clocks, gravitational wave detection, and quantum key distribution regardless of the primary result.</a:t>
            </a:r>
          </a:p>
          <a:p>
            <a:pPr algn="l"/>
            <a:r>
              <a:rPr sz="700" lang="en-GB" dirty="0">
                <a:solidFill>
                  <a:srgbClr val="1E1E1E"/>
                </a:solidFill>
              </a:rPr>
              <a:t/>
            </a:r>
          </a:p>
          <a:p>
            <a:pPr algn="l"/>
            <a:r>
              <a:rPr sz="1300" lang="en-GB" dirty="0">
                <a:solidFill>
                  <a:srgbClr val="788598"/>
                </a:solidFill>
              </a:rPr>
              <a:t>The device is the experiment. The experiment is the device.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The 12-Particle Line — Protocol Design</a:t>
            </a:r>
          </a:p>
        </p:txBody>
      </p:sp>
      <p:sp>
        <p:nvSpPr>
          <p:cNvPr id="3" name="TextBox 2"/>
          <p:cNvSpPr txBox="1"/>
          <p:nvPr/>
        </p:nvSpPr>
        <p:spPr>
          <a:xfrm>
            <a:off x="150187" y="671901"/>
            <a:ext cx="6563531" cy="9096634"/>
          </a:xfrm>
          <a:prstGeom prst="rect">
            <a:avLst/>
          </a:prstGeom>
          <a:noFill/>
        </p:spPr>
        <p:txBody>
          <a:bodyPr wrap="square">
            <a:spAutoFit/>
          </a:bodyPr>
          <a:lstStyle/>
          <a:p>
            <a:pPr algn="l"/>
            <a:r>
              <a:rPr sz="1600" lang="en-GB" dirty="0">
                <a:solidFill>
                  <a:srgbClr val="1E1E1E"/>
                </a:solidFill>
              </a:rPr>
              <a:t>In a Paul trap, ions are confined in a linear chain rather than a 2D grid. The EMT protocol uses a 12-particle line per device, with particles assigned specific roles:</a:t>
            </a:r>
          </a:p>
          <a:p>
            <a:pPr algn="l"/>
            <a:r>
              <a:rPr sz="700"/>
              <a:t/>
            </a:r>
          </a:p>
          <a:p>
            <a:pPr algn="l">
              <a:spcBef>
                <a:spcPts val="500"/>
              </a:spcBef>
            </a:pPr>
            <a:r>
              <a:rPr sz="1700" b="1" lang="en-GB" dirty="0">
                <a:solidFill>
                  <a:srgbClr val="1E3A5F"/>
                </a:solidFill>
              </a:rPr>
              <a:t>Particle assignments</a:t>
            </a:r>
          </a:p>
          <a:p>
            <a:pPr algn="l"/>
            <a:r>
              <a:rPr sz="1600" lang="en-GB" dirty="0">
                <a:solidFill>
                  <a:srgbClr val="1E1E1E"/>
                </a:solidFill>
              </a:rPr>
              <a:t>Particles 1–10 — Data ensemble: all 10 set to the same orientation angle θ. Receiver averages all 10 weak measurements. Noise reduced by √10 ≈ 3.16× vs a single particle.</a:t>
            </a:r>
          </a:p>
          <a:p>
            <a:pPr algn="l"/>
            <a:r>
              <a:rPr sz="1600" lang="en-GB" dirty="0">
                <a:solidFill>
                  <a:srgbClr val="1E1E1E"/>
                </a:solidFill>
              </a:rPr>
              <a:t>Particle 11 — Device A state flag: written only by Device A. Communicates A's current machine state to Device B. Four states at 90° spacing: READY (0°), WRITING (90°), READING (180°), DONE (270°).</a:t>
            </a:r>
          </a:p>
          <a:p>
            <a:pPr algn="l"/>
            <a:r>
              <a:rPr sz="1600" lang="en-GB" dirty="0">
                <a:solidFill>
                  <a:srgbClr val="1E1E1E"/>
                </a:solidFill>
              </a:rPr>
              <a:t>Particle 12 — Device B state flag: written only by Device B. Communicates B's current machine state to Device A. Same four states and angular assignments as particle 11.</a:t>
            </a:r>
          </a:p>
          <a:p>
            <a:pPr algn="l"/>
            <a:r>
              <a:rPr sz="700"/>
              <a:t/>
            </a:r>
          </a:p>
          <a:p>
            <a:pPr algn="l">
              <a:spcBef>
                <a:spcPts val="500"/>
              </a:spcBef>
            </a:pPr>
            <a:r>
              <a:rPr sz="1700" b="1" lang="en-GB" dirty="0">
                <a:solidFill>
                  <a:srgbClr val="1E3A5F"/>
                </a:solidFill>
              </a:rPr>
              <a:t>Key design principle</a:t>
            </a:r>
          </a:p>
          <a:p>
            <a:pPr algn="l"/>
            <a:r>
              <a:rPr sz="1600" lang="en-GB" dirty="0">
                <a:solidFill>
                  <a:srgbClr val="1E1E1E"/>
                </a:solidFill>
              </a:rPr>
              <a:t>Each device owns exactly one flag particle and writes only to its own. It reads its partner's flag to determine what the remote device is doing. There is no shared resource and no arbitration problem.</a:t>
            </a:r>
          </a:p>
          <a:p>
            <a:pPr algn="l"/>
            <a:r>
              <a:rPr sz="700"/>
              <a:t/>
            </a:r>
          </a:p>
          <a:p>
            <a:pPr algn="l">
              <a:spcBef>
                <a:spcPts val="500"/>
              </a:spcBef>
            </a:pPr>
            <a:r>
              <a:rPr sz="1700" b="1" lang="en-GB" dirty="0">
                <a:solidFill>
                  <a:srgbClr val="1E3A5F"/>
                </a:solidFill>
              </a:rPr>
              <a:t>Flag state angular spacing</a:t>
            </a:r>
          </a:p>
          <a:p>
            <a:pPr algn="l"/>
            <a:r>
              <a:rPr sz="1600" lang="en-GB" dirty="0">
                <a:solidFill>
                  <a:srgbClr val="1E1E1E"/>
                </a:solidFill>
              </a:rPr>
              <a:t>90° separation between states gives a 6× margin over the ±14° noise floor at N=10. Flag states are reliably distinguishable from a single read of particle 11 or 12 without any ensemble averaging — a single weak measurement suffices.</a:t>
            </a:r>
          </a:p>
          <a:p>
            <a:pPr algn="l"/>
            <a:r>
              <a:rPr sz="700"/>
              <a:t/>
            </a:r>
          </a:p>
          <a:p>
            <a:pPr algn="l">
              <a:spcBef>
                <a:spcPts val="500"/>
              </a:spcBef>
            </a:pPr>
            <a:r>
              <a:rPr sz="1700" b="1" lang="en-GB" dirty="0">
                <a:solidFill>
                  <a:srgbClr val="1E3A5F"/>
                </a:solidFill>
              </a:rPr>
              <a:t>Particle layout</a:t>
            </a:r>
          </a:p>
          <a:p>
            <a:pPr algn="l"/>
            <a:r>
              <a:rPr sz="1300" lang="en-GB" dirty="0">
                <a:solidFill>
                  <a:srgbClr val="1E1E1E"/>
                </a:solidFill>
                <a:latin typeface="Courier New"/>
              </a:rPr>
              <a:t>[1][2][3][4][5][6][7][8][9][10]  [11]  [12]</a:t>
            </a:r>
          </a:p>
          <a:p>
            <a:pPr algn="l"/>
            <a:r>
              <a:rPr sz="1300" lang="en-GB" dirty="0">
                <a:solidFill>
                  <a:srgbClr val="1E1E1E"/>
                </a:solidFill>
                <a:latin typeface="Courier New"/>
              </a:rPr>
              <a:t>|←——— data ensemble ———————————→|  A    B</a:t>
            </a:r>
          </a:p>
          <a:p>
            <a:pPr algn="l"/>
            <a:r>
              <a:rPr sz="1300" lang="en-GB" dirty="0">
                <a:solidFill>
                  <a:srgbClr val="1E1E1E"/>
                </a:solidFill>
                <a:latin typeface="Courier New"/>
              </a:rPr>
              <a:t>     orientation angle θ           flag  flag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12-Particle Line — Transmission Protocol</a:t>
            </a:r>
          </a:p>
        </p:txBody>
      </p:sp>
      <p:sp>
        <p:nvSpPr>
          <p:cNvPr id="3" name="TextBox 2"/>
          <p:cNvSpPr txBox="1"/>
          <p:nvPr/>
        </p:nvSpPr>
        <p:spPr>
          <a:xfrm>
            <a:off x="150187" y="671901"/>
            <a:ext cx="6563531" cy="1417320"/>
          </a:xfrm>
          <a:prstGeom prst="rect">
            <a:avLst/>
          </a:prstGeom>
          <a:noFill/>
        </p:spPr>
        <p:txBody>
          <a:bodyPr wrap="square">
            <a:spAutoFit/>
          </a:bodyPr>
          <a:lstStyle/>
          <a:p>
            <a:pPr algn="l"/>
            <a:r>
              <a:rPr sz="1600" lang="en-GB" dirty="0">
                <a:solidFill>
                  <a:srgbClr val="1E1E1E"/>
                </a:solidFill>
              </a:rPr>
              <a:t>The transmission sequence uses the two flag particles to coordinate write and read operations on the shared data ensemble (particles 1–10). The protocol ensures that the data particles are always in a defined state — either being written by one device or being read by the other — with no overlap and with read confirmation before advancing.</a:t>
            </a:r>
          </a:p>
        </p:txBody>
      </p:sp>
      <p:pic>
        <p:nvPicPr>
          <p:cNvPr id="4" name="Picture 3" descr="protocol_seq.png"/>
          <p:cNvPicPr>
            <a:picLocks noChangeAspect="1"/>
          </p:cNvPicPr>
          <p:nvPr/>
        </p:nvPicPr>
        <p:blipFill>
          <a:blip r:embed="rId2"/>
          <a:stretch>
            <a:fillRect/>
          </a:stretch>
        </p:blipFill>
        <p:spPr>
          <a:xfrm>
            <a:off x="36576" y="2240280"/>
            <a:ext cx="6784848" cy="507492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dirty="0">
                <a:solidFill>
                  <a:srgbClr val="0F172A"/>
                </a:solidFill>
              </a:rPr>
              <a:t>Protocol Properties and Throughput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500"/>
              </a:spcBef>
            </a:pPr>
            <a:r>
              <a:rPr sz="1700" lang="en-GB" dirty="0" b="1">
                <a:solidFill>
                  <a:srgbClr val="1E3A5F"/>
                </a:solidFill>
              </a:rPr>
              <a:t>No arbitration required</a:t>
            </a:r>
          </a:p>
          <a:p>
            <a:pPr algn="l"/>
            <a:r>
              <a:rPr sz="1600" lang="en-GB" dirty="0">
                <a:solidFill>
                  <a:srgbClr val="1E1E1E"/>
                </a:solidFill>
              </a:rPr>
              <a:t>Device A writes only to particle 11. Device B writes only to particle 12. Neither device ever writes to the other's flag particle. Read-before-write on the partner's flag prevents collision on the data ensemble. No token passing, no priority system needed.</a:t>
            </a:r>
          </a:p>
          <a:p>
            <a:pPr algn="l"/>
            <a:r>
              <a:rPr sz="700" lang="en-GB" dirty="0">
                <a:solidFill>
                  <a:srgbClr val="1E1E1E"/>
                </a:solidFill>
              </a:rPr>
              <a:t/>
            </a:r>
          </a:p>
          <a:p>
            <a:pPr algn="l">
              <a:spcBef>
                <a:spcPts val="500"/>
              </a:spcBef>
            </a:pPr>
            <a:r>
              <a:rPr sz="1700" lang="en-GB" dirty="0" b="1">
                <a:solidFill>
                  <a:srgbClr val="1E3A5F"/>
                </a:solidFill>
              </a:rPr>
              <a:t>Read confirmation (DONE state)</a:t>
            </a:r>
          </a:p>
          <a:p>
            <a:pPr algn="l"/>
            <a:r>
              <a:rPr sz="1600" lang="en-GB" dirty="0">
                <a:solidFill>
                  <a:srgbClr val="1E1E1E"/>
                </a:solidFill>
              </a:rPr>
              <a:t>The DONE state on the reading device's flag is the acknowledgement. When Device A sets Flag 11 = DONE, Device B knows its transmission was successfully decoded. Device B may then safely advance to the next character by setting Flag 12 = WRITING. Without this confirmation, a transmitting device could overwrite the data particles before the reading device had completed its N weak measurements.</a:t>
            </a:r>
          </a:p>
          <a:p>
            <a:pPr algn="l"/>
            <a:r>
              <a:rPr sz="700" lang="en-GB" dirty="0">
                <a:solidFill>
                  <a:srgbClr val="1E1E1E"/>
                </a:solidFill>
              </a:rPr>
              <a:t/>
            </a:r>
          </a:p>
          <a:p>
            <a:pPr algn="l">
              <a:spcBef>
                <a:spcPts val="500"/>
              </a:spcBef>
            </a:pPr>
            <a:r>
              <a:rPr sz="1700" lang="en-GB" dirty="0" b="1">
                <a:solidFill>
                  <a:srgbClr val="1E3A5F"/>
                </a:solidFill>
              </a:rPr>
              <a:t>Immediate reply — no dead cycle</a:t>
            </a:r>
          </a:p>
          <a:p>
            <a:pPr algn="l"/>
            <a:r>
              <a:rPr sz="1600" lang="en-GB" dirty="0">
                <a:solidFill>
                  <a:srgbClr val="1E1E1E"/>
                </a:solidFill>
              </a:rPr>
              <a:t>After Device B sets Flag 12 = DONE (character confirmed), it transitions directly to Flag 12 = WRITING for its reply, without returning to READY. This eliminates a dead cycle and allows the reply to begin as soon as the read is confirmed. The data particles are repurposed immediately for the reverse direction.</a:t>
            </a:r>
          </a:p>
          <a:p>
            <a:pPr algn="l"/>
            <a:r>
              <a:rPr sz="700" lang="en-GB" dirty="0">
                <a:solidFill>
                  <a:srgbClr val="1E1E1E"/>
                </a:solidFill>
              </a:rPr>
              <a:t/>
            </a:r>
          </a:p>
          <a:p>
            <a:pPr algn="l">
              <a:spcBef>
                <a:spcPts val="500"/>
              </a:spcBef>
            </a:pPr>
            <a:r>
              <a:rPr sz="1700" lang="en-GB" dirty="0" b="1">
                <a:solidFill>
                  <a:srgbClr val="1E3A5F"/>
                </a:solidFill>
              </a:rPr>
              <a:t>Throughput analysis</a:t>
            </a:r>
          </a:p>
          <a:p>
            <a:pPr algn="l"/>
            <a:r>
              <a:rPr sz="1300" lang="en-GB" dirty="0">
                <a:solidFill>
                  <a:srgbClr val="1E1E1E"/>
                </a:solidFill>
                <a:latin typeface="Courier New"/>
              </a:rPr>
              <a:t>  One character exchange = A→B + B→A = 2 × t_dwell</a:t>
            </a:r>
          </a:p>
          <a:p>
            <a:pPr algn="l"/>
            <a:r>
              <a:rPr sz="1300" lang="en-GB" dirty="0">
                <a:solidFill>
                  <a:srgbClr val="1E1E1E"/>
                </a:solidFill>
                <a:latin typeface="Courier New"/>
              </a:rPr>
              <a:t>  t_dwell = N × t_read   (N = 10 reads, t_read ≈ 10–100 μs)</a:t>
            </a:r>
          </a:p>
          <a:p>
            <a:pPr algn="l"/>
            <a:r>
              <a:rPr sz="1300" lang="en-GB" dirty="0">
                <a:solidFill>
                  <a:srgbClr val="1E1E1E"/>
                </a:solidFill>
                <a:latin typeface="Courier New"/>
              </a:rPr>
              <a:t>  t_dwell ≈ 100 μs to 1 ms per direction</a:t>
            </a:r>
          </a:p>
          <a:p>
            <a:pPr algn="l"/>
            <a:r>
              <a:rPr sz="1300" lang="en-GB" dirty="0">
                <a:solidFill>
                  <a:srgbClr val="1E1E1E"/>
                </a:solidFill>
                <a:latin typeface="Courier New"/>
              </a:rPr>
              <a:t>  Full exchange ≈ 200 μs to 2 ms</a:t>
            </a:r>
          </a:p>
          <a:p>
            <a:pPr algn="l"/>
            <a:r>
              <a:rPr sz="1300" lang="en-GB" dirty="0">
                <a:solidFill>
                  <a:srgbClr val="1E1E1E"/>
                </a:solidFill>
                <a:latin typeface="Courier New"/>
              </a:rPr>
              <a:t>  Throughput ≈ 500 to 5,000 character-exchanges per second</a:t>
            </a:r>
          </a:p>
          <a:p>
            <a:pPr algn="l"/>
            <a:r>
              <a:rPr sz="700" lang="en-GB" dirty="0">
                <a:solidFill>
                  <a:srgbClr val="1E1E1E"/>
                </a:solidFill>
              </a:rPr>
              <a:t/>
            </a:r>
          </a:p>
          <a:p>
            <a:pPr algn="l">
              <a:spcBef>
                <a:spcPts val="500"/>
              </a:spcBef>
            </a:pPr>
            <a:r>
              <a:rPr sz="1700" lang="en-GB" dirty="0" b="1">
                <a:solidFill>
                  <a:srgbClr val="1E3A5F"/>
                </a:solidFill>
              </a:rPr>
              <a:t>Comparison with grid architecture</a:t>
            </a:r>
          </a:p>
          <a:p>
            <a:pPr algn="l"/>
            <a:r>
              <a:rPr sz="1600" lang="en-GB" dirty="0">
                <a:solidFill>
                  <a:srgbClr val="1E1E1E"/>
                </a:solidFill>
              </a:rPr>
              <a:t>The grid design used physical TX/RX row separation to achieve simultaneous bidirectional transmission. The 12-particle line achieves the same logical result through the flag protocol — at the cost of being half-duplex on the data particles (one direction at a time) rather than fully simultaneous. The throughput is lower but the hardware is dramatically simpler: 12 particles in a single linear trap versus a 2D grid of hundreds.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