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98" r:id="rId49"/>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9" r:id="rId50"/>
  </p:sldIdLst>
  <p:sldSz cx="6858000" cy="990569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2.xml"/><Relationship Id="rId49" Type="http://schemas.openxmlformats.org/officeDocument/2006/relationships/slide" Target="slides/slide2.xml"/><Relationship Id="rId50"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1645920"/>
            <a:ext cx="6858000" cy="1645920"/>
          </a:xfrm>
          <a:prstGeom prst="rect">
            <a:avLst/>
          </a:prstGeom>
          <a:noFill/>
        </p:spPr>
        <p:txBody>
          <a:bodyPr wrap="square">
            <a:spAutoFit/>
          </a:bodyPr>
          <a:lstStyle/>
          <a:p>
            <a:pPr algn="ctr"/>
            <a:r>
              <a:rPr sz="4400" lang="en-GB" b="1">
                <a:solidFill>
                  <a:srgbClr val="0F172A"/>
                </a:solidFill>
              </a:rPr>
              <a:t>Entangled Multiplexing Transceiver</a:t>
            </a:r>
          </a:p>
        </p:txBody>
      </p:sp>
      <p:sp>
        <p:nvSpPr>
          <p:cNvPr id="3" name="TextBox 2"/>
          <p:cNvSpPr txBox="1"/>
          <p:nvPr/>
        </p:nvSpPr>
        <p:spPr>
          <a:xfrm>
            <a:off x="0" y="2743200"/>
            <a:ext cx="6858000" cy="1645920"/>
          </a:xfrm>
          <a:prstGeom prst="rect">
            <a:avLst/>
          </a:prstGeom>
          <a:noFill/>
        </p:spPr>
        <p:txBody>
          <a:bodyPr wrap="square">
            <a:spAutoFit/>
          </a:bodyPr>
          <a:lstStyle/>
          <a:p>
            <a:pPr algn="ctr"/>
            <a:r>
              <a:rPr sz="5600" lang="en-GB" b="1">
                <a:solidFill>
                  <a:srgbClr val="1E3A5F"/>
                </a:solidFill>
              </a:rPr>
              <a:t>EMT</a:t>
            </a:r>
          </a:p>
        </p:txBody>
      </p:sp>
      <p:sp>
        <p:nvSpPr>
          <p:cNvPr id="4" name="TextBox 3"/>
          <p:cNvSpPr txBox="1"/>
          <p:nvPr/>
        </p:nvSpPr>
        <p:spPr>
          <a:xfrm>
            <a:off x="0" y="3657600"/>
            <a:ext cx="6858000" cy="1645920"/>
          </a:xfrm>
          <a:prstGeom prst="rect">
            <a:avLst/>
          </a:prstGeom>
          <a:noFill/>
        </p:spPr>
        <p:txBody>
          <a:bodyPr wrap="square">
            <a:spAutoFit/>
          </a:bodyPr>
          <a:lstStyle/>
          <a:p>
            <a:pPr algn="ctr"/>
            <a:r>
              <a:rPr sz="1700" lang="en-GB">
                <a:solidFill>
                  <a:srgbClr val="556581"/>
                </a:solidFill>
              </a:rPr>
              <a:t>A proposed architecture for non-classical signalling via
entangled Ca⁺ ion pairs, orientation encoding, and
ensemble weak measurement in a linear ion trap.</a:t>
            </a:r>
          </a:p>
        </p:txBody>
      </p:sp>
      <p:sp>
        <p:nvSpPr>
          <p:cNvPr id="5" name="TextBox 4"/>
          <p:cNvSpPr txBox="1"/>
          <p:nvPr/>
        </p:nvSpPr>
        <p:spPr>
          <a:xfrm>
            <a:off x="0" y="8046720"/>
            <a:ext cx="6858000" cy="1645920"/>
          </a:xfrm>
          <a:prstGeom prst="rect">
            <a:avLst/>
          </a:prstGeom>
          <a:noFill/>
        </p:spPr>
        <p:txBody>
          <a:bodyPr wrap="square">
            <a:spAutoFit/>
          </a:bodyPr>
          <a:lstStyle/>
          <a:p>
            <a:pPr algn="ctr"/>
            <a:r>
              <a:rPr sz="1400" lang="en-GB">
                <a:solidFill>
                  <a:srgbClr val="788598"/>
                </a:solidFill>
              </a:rPr>
              <a:t>Daniel Miles  ·  2026  ·  Original Concept Paper  ·  Rev.2
https://alternitech.square.site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The EMT Hypothesis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b="1">
                <a:solidFill>
                  <a:srgbClr val="1A5676"/>
                </a:solidFill>
              </a:rPr>
              <a:t>In plain terms: the EMT proposes that pointing a set of entangled ions in a specific direction causes the partner ions at the other location to show a detectable signal. Standard physics says this is impossible. The EMT tests whether that prediction holds in one specific untested situation.</a:t>
            </a:r>
          </a:p>
          <a:p>
            <a:pPr algn="l"/>
            <a:r>
              <a:rPr sz="700" lang="en-GB">
                <a:solidFill>
                  <a:srgbClr val="1E1E1E"/>
                </a:solidFill>
              </a:rPr>
              <a:t/>
            </a:r>
          </a:p>
          <a:p>
            <a:pPr algn="l">
              <a:spcBef>
                <a:spcPts val="500"/>
              </a:spcBef>
            </a:pPr>
            <a:r>
              <a:rPr sz="1700" lang="en-GB" b="1">
                <a:solidFill>
                  <a:srgbClr val="1E3A5F"/>
                </a:solidFill>
              </a:rPr>
              <a:t>The hypothesis, stated precisely</a:t>
            </a:r>
          </a:p>
          <a:p>
            <a:pPr algn="l"/>
            <a:r>
              <a:rPr sz="1600" lang="en-GB">
                <a:solidFill>
                  <a:srgbClr val="1E1E1E"/>
                </a:solidFill>
              </a:rPr>
              <a:t>When all 10 data ions in Device A are prepared simultaneously in orientation state θ, the ensemble average of weak measurements on the 10 partner ions at Device B produces a statistically detectable signal encoding θ.</a:t>
            </a:r>
          </a:p>
          <a:p>
            <a:pPr algn="l"/>
            <a:r>
              <a:rPr sz="700" lang="en-GB">
                <a:solidFill>
                  <a:srgbClr val="1E1E1E"/>
                </a:solidFill>
              </a:rPr>
              <a:t/>
            </a:r>
          </a:p>
          <a:p>
            <a:pPr algn="l"/>
            <a:r>
              <a:rPr sz="1600" lang="en-GB">
                <a:solidFill>
                  <a:srgbClr val="1E1E1E"/>
                </a:solidFill>
              </a:rPr>
              <a:t>This would constitute information transfer via quantum correlations — forbidden by the no-communication theorem for individual pairs, but untested for a large ensemble of identically-oriented pairs sharing a global phase reference established at manufacture.</a:t>
            </a:r>
          </a:p>
          <a:p>
            <a:pPr algn="l"/>
            <a:r>
              <a:rPr sz="700" lang="en-GB">
                <a:solidFill>
                  <a:srgbClr val="1E1E1E"/>
                </a:solidFill>
              </a:rPr>
              <a:t/>
            </a:r>
          </a:p>
          <a:p>
            <a:pPr algn="l">
              <a:spcBef>
                <a:spcPts val="500"/>
              </a:spcBef>
            </a:pPr>
            <a:r>
              <a:rPr sz="1700" lang="en-GB" b="1">
                <a:solidFill>
                  <a:srgbClr val="1E3A5F"/>
                </a:solidFill>
              </a:rPr>
              <a:t>Why the standard proof may be incomplete here</a:t>
            </a:r>
          </a:p>
          <a:p>
            <a:pPr algn="l" lvl="1"/>
            <a:r>
              <a:rPr sz="1600" lang="en-GB">
                <a:solidFill>
                  <a:srgbClr val="1E1E1E"/>
                </a:solidFill>
              </a:rPr>
              <a:t>The NCT sums N individual pair density matrices: each gives ρ_B = I/2. The EMT hypothesis is that this summation misses a collective variable of the N-pair ensemble — a coherent orientation of the global state not visible in any individual pair but detectable in the average.</a:t>
            </a:r>
          </a:p>
          <a:p>
            <a:pPr algn="l"/>
            <a:r>
              <a:rPr sz="700" lang="en-GB">
                <a:solidFill>
                  <a:srgbClr val="1E1E1E"/>
                </a:solidFill>
              </a:rPr>
              <a:t/>
            </a:r>
          </a:p>
          <a:p>
            <a:pPr algn="l">
              <a:spcBef>
                <a:spcPts val="500"/>
              </a:spcBef>
            </a:pPr>
            <a:r>
              <a:rPr sz="1700" lang="en-GB" b="1">
                <a:solidFill>
                  <a:srgbClr val="1E3A5F"/>
                </a:solidFill>
              </a:rPr>
              <a:t>The three layers</a:t>
            </a:r>
          </a:p>
          <a:p>
            <a:pPr algn="l"/>
            <a:r>
              <a:rPr sz="1300" lang="en-GB">
                <a:solidFill>
                  <a:srgbClr val="1E1E1E"/>
                </a:solidFill>
                <a:latin typeface="Courier New"/>
              </a:rPr>
              <a:t>  Layer 1 (testable now):    Ensemble orientation signal exists</a:t>
            </a:r>
          </a:p>
          <a:p>
            <a:pPr algn="l"/>
            <a:r>
              <a:rPr sz="1300" lang="en-GB">
                <a:solidFill>
                  <a:srgbClr val="1E1E1E"/>
                </a:solidFill>
                <a:latin typeface="Courier New"/>
              </a:rPr>
              <a:t>  Layer 2 (if L1 confirmed): Bootstrap re-entanglement via EMT</a:t>
            </a:r>
          </a:p>
          <a:p>
            <a:pPr algn="l"/>
            <a:r>
              <a:rPr sz="1300" lang="en-GB">
                <a:solidFill>
                  <a:srgbClr val="1E1E1E"/>
                </a:solidFill>
                <a:latin typeface="Courier New"/>
              </a:rPr>
              <a:t>  Layer 3 (if L2 confirmed): Virtual Bell / pairing code calls</a:t>
            </a:r>
          </a:p>
          <a:p>
            <a:pPr algn="l"/>
            <a:r>
              <a:rPr sz="700" lang="en-GB">
                <a:solidFill>
                  <a:srgbClr val="1E1E1E"/>
                </a:solidFill>
              </a:rPr>
              <a:t/>
            </a:r>
          </a:p>
          <a:p>
            <a:pPr algn="l"/>
            <a:r>
              <a:rPr sz="1300" lang="en-GB">
                <a:solidFill>
                  <a:srgbClr val="788598"/>
                </a:solidFill>
              </a:rPr>
              <a:t>This paper describes all three layers but clearly distinguishes them. Layer 1 is an experiment. Layers 2 and 3 are consequences.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Part 1 — Theoretical Foundation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What this section covers: the physics that underpins the EMT concept before any hardware is discussed.</a:t>
            </a:r>
          </a:p>
          <a:p>
            <a:pPr algn="l"/>
            <a:r>
              <a:rPr sz="700" lang="en-GB" dirty="0">
                <a:solidFill>
                  <a:srgbClr val="1E1E1E"/>
                </a:solidFill>
              </a:rPr>
              <a:t/>
            </a:r>
          </a:p>
          <a:p>
            <a:pPr algn="l"/>
            <a:r>
              <a:rPr sz="1600" lang="en-GB" dirty="0">
                <a:solidFill>
                  <a:srgbClr val="1E1E1E"/>
                </a:solidFill>
              </a:rPr>
              <a:t>1.1  The no-communication theorem — what it says and where it has been tested.</a:t>
            </a:r>
          </a:p>
          <a:p>
            <a:pPr algn="l"/>
            <a:r>
              <a:rPr sz="1600" lang="en-GB" dirty="0">
                <a:solidFill>
                  <a:srgbClr val="1E1E1E"/>
                </a:solidFill>
              </a:rPr>
              <a:t>1.2  Quantum entanglement — what it is physically and what it is not.</a:t>
            </a:r>
          </a:p>
          <a:p>
            <a:pPr algn="l"/>
            <a:r>
              <a:rPr sz="1600" lang="en-GB" dirty="0">
                <a:solidFill>
                  <a:srgbClr val="1E1E1E"/>
                </a:solidFill>
              </a:rPr>
              <a:t>1.3  Weak measurement — how to extract partial information without destroying a quantum state.</a:t>
            </a:r>
          </a:p>
          <a:p>
            <a:pPr algn="l"/>
            <a:r>
              <a:rPr sz="1600" lang="en-GB" dirty="0">
                <a:solidFill>
                  <a:srgbClr val="1E1E1E"/>
                </a:solidFill>
              </a:rPr>
              <a:t>1.4  Ensemble averaging — how reading many particles reduces noise.</a:t>
            </a:r>
          </a:p>
          <a:p>
            <a:pPr algn="l"/>
            <a:r>
              <a:rPr sz="1600" lang="en-GB" dirty="0">
                <a:solidFill>
                  <a:srgbClr val="1E1E1E"/>
                </a:solidFill>
              </a:rPr>
              <a:t>1.5  The central experimental question — the specific untested regime.</a:t>
            </a:r>
          </a:p>
          <a:p>
            <a:pPr algn="l"/>
            <a:r>
              <a:rPr sz="1600" lang="en-GB" dirty="0">
                <a:solidFill>
                  <a:srgbClr val="1E1E1E"/>
                </a:solidFill>
              </a:rPr>
              <a:t>1.6  Orientation encoding — the Rotary Orientation Ring.</a:t>
            </a:r>
          </a:p>
          <a:p>
            <a:pPr algn="l"/>
            <a:r>
              <a:rPr sz="700" lang="en-GB" dirty="0">
                <a:solidFill>
                  <a:srgbClr val="1E1E1E"/>
                </a:solidFill>
              </a:rPr>
              <a:t/>
            </a:r>
          </a:p>
          <a:p>
            <a:pPr algn="l"/>
            <a:r>
              <a:rPr sz="1300" lang="en-GB" dirty="0">
                <a:solidFill>
                  <a:srgbClr val="788598"/>
                </a:solidFill>
              </a:rPr>
              <a:t>All claims in this section are grounded in published results. The central question in 1.5 is explicitly unresolved.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1.1  The No-Communication Theorem</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quantum entanglement cannot be used to send a message under the rules of standard quantum mechanics. This paper asks whether those rules are complete.</a:t>
            </a:r>
          </a:p>
          <a:p>
            <a:pPr algn="l"/>
            <a:r>
              <a:rPr sz="700" lang="en-GB" dirty="0">
                <a:solidFill>
                  <a:srgbClr val="1E1E1E"/>
                </a:solidFill>
              </a:rPr>
              <a:t/>
            </a:r>
          </a:p>
          <a:p>
            <a:pPr algn="l">
              <a:spcBef>
                <a:spcPts val="500"/>
              </a:spcBef>
            </a:pPr>
            <a:r>
              <a:rPr sz="1700" lang="en-GB" dirty="0" b="1">
                <a:solidFill>
                  <a:srgbClr val="1E3A5F"/>
                </a:solidFill>
              </a:rPr>
              <a:t>Formal statement</a:t>
            </a:r>
          </a:p>
          <a:p>
            <a:pPr algn="l"/>
            <a:r>
              <a:rPr sz="1600" lang="en-GB" dirty="0">
                <a:solidFill>
                  <a:srgbClr val="1E1E1E"/>
                </a:solidFill>
              </a:rPr>
              <a:t>For any bipartite quantum state ρ_AB shared between Alice and Bob, Alice's local operations produce no detectable change in Bob's reduced density matrix. Formally:</a:t>
            </a:r>
          </a:p>
          <a:p>
            <a:pPr algn="l"/>
            <a:r>
              <a:rPr sz="300" lang="en-GB" dirty="0">
                <a:solidFill>
                  <a:srgbClr val="1E1E1E"/>
                </a:solidFill>
              </a:rPr>
              <a:t/>
            </a:r>
          </a:p>
          <a:p>
            <a:pPr algn="l"/>
            <a:r>
              <a:rPr sz="1300" lang="en-GB" dirty="0">
                <a:solidFill>
                  <a:srgbClr val="1E1E1E"/>
                </a:solidFill>
                <a:latin typeface="Courier New"/>
              </a:rPr>
              <a:t>  Tr_A[(Λ_A ⊗ I_B)(ρ_AB)]  =  Tr_A[ρ_AB]  =  ρ_B</a:t>
            </a:r>
          </a:p>
          <a:p>
            <a:pPr algn="l"/>
            <a:r>
              <a:rPr sz="700" lang="en-GB" dirty="0">
                <a:solidFill>
                  <a:srgbClr val="1E1E1E"/>
                </a:solidFill>
              </a:rPr>
              <a:t/>
            </a:r>
          </a:p>
          <a:p>
            <a:pPr algn="l"/>
            <a:r>
              <a:rPr sz="1600" lang="en-GB" dirty="0">
                <a:solidFill>
                  <a:srgbClr val="1E1E1E"/>
                </a:solidFill>
              </a:rPr>
              <a:t>This holds for all local operations — unitary rotations, measurements, state preparation, and any classical post-processing. It follows from the linearity of quantum mechanics and the tensor product structure of composite systems.</a:t>
            </a:r>
          </a:p>
          <a:p>
            <a:pPr algn="l"/>
            <a:r>
              <a:rPr sz="700" lang="en-GB" dirty="0">
                <a:solidFill>
                  <a:srgbClr val="1E1E1E"/>
                </a:solidFill>
              </a:rPr>
              <a:t/>
            </a:r>
          </a:p>
          <a:p>
            <a:pPr algn="l">
              <a:spcBef>
                <a:spcPts val="500"/>
              </a:spcBef>
            </a:pPr>
            <a:r>
              <a:rPr sz="1700" lang="en-GB" dirty="0" b="1">
                <a:solidFill>
                  <a:srgbClr val="1E3A5F"/>
                </a:solidFill>
              </a:rPr>
              <a:t>What it does and does not say</a:t>
            </a:r>
          </a:p>
          <a:p>
            <a:pPr algn="l" lvl="1"/>
            <a:r>
              <a:rPr sz="1600" lang="en-GB" dirty="0">
                <a:solidFill>
                  <a:srgbClr val="1E1E1E"/>
                </a:solidFill>
              </a:rPr>
              <a:t>It says: Bob's measurement statistics are unchanged regardless of what Alice does to her half of the entangled pair. No information is transferred.</a:t>
            </a:r>
          </a:p>
          <a:p>
            <a:pPr algn="l" lvl="1"/>
            <a:r>
              <a:rPr sz="1600" lang="en-GB" dirty="0">
                <a:solidFill>
                  <a:srgbClr val="1E1E1E"/>
                </a:solidFill>
              </a:rPr>
              <a:t>It does not say: the theorem has been tested in the regime of large ensembles of ion pairs (N ≫ 1) with continuous-variable orientation encoding and a shared global phase reference. This untested regime is where the EMT experiment operates.</a:t>
            </a:r>
          </a:p>
          <a:p>
            <a:pPr algn="l"/>
            <a:r>
              <a:rPr sz="700" lang="en-GB" dirty="0">
                <a:solidFill>
                  <a:srgbClr val="1E1E1E"/>
                </a:solidFill>
              </a:rPr>
              <a:t/>
            </a:r>
          </a:p>
          <a:p>
            <a:pPr algn="l">
              <a:spcBef>
                <a:spcPts val="500"/>
              </a:spcBef>
            </a:pPr>
            <a:r>
              <a:rPr sz="1700" lang="en-GB" dirty="0" b="1">
                <a:solidFill>
                  <a:srgbClr val="1E3A5F"/>
                </a:solidFill>
              </a:rPr>
              <a:t>Scope of existing experimental tests</a:t>
            </a:r>
          </a:p>
          <a:p>
            <a:pPr algn="l"/>
            <a:r>
              <a:rPr sz="1600" lang="en-GB" dirty="0">
                <a:solidFill>
                  <a:srgbClr val="1E1E1E"/>
                </a:solidFill>
              </a:rPr>
              <a:t>Bell test experiments (Aspect 1982, Hensen 2015, Rosenfeld 2017) confirm entanglement and rule out local hidden variables. None tests ensemble orientation signalling. The EMT experiment is genuinely novel.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1.2  Quantum Entanglement — The Joint State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two entangled particles share a single quantum state between them. Measuring one instantly tells you something about the other, no matter how far apart they are — but standard physics says you cannot use this to send a message.</a:t>
            </a:r>
          </a:p>
          <a:p>
            <a:pPr algn="l"/>
            <a:r>
              <a:rPr sz="700" lang="en-GB" dirty="0">
                <a:solidFill>
                  <a:srgbClr val="1E1E1E"/>
                </a:solidFill>
              </a:rPr>
              <a:t/>
            </a:r>
          </a:p>
          <a:p>
            <a:pPr algn="l">
              <a:spcBef>
                <a:spcPts val="500"/>
              </a:spcBef>
            </a:pPr>
            <a:r>
              <a:rPr sz="1700" lang="en-GB" dirty="0" b="1">
                <a:solidFill>
                  <a:srgbClr val="1E3A5F"/>
                </a:solidFill>
              </a:rPr>
              <a:t>What entanglement is</a:t>
            </a:r>
          </a:p>
          <a:p>
            <a:pPr algn="l"/>
            <a:r>
              <a:rPr sz="1600" lang="en-GB" dirty="0">
                <a:solidFill>
                  <a:srgbClr val="1E1E1E"/>
                </a:solidFill>
              </a:rPr>
              <a:t>Two particles are entangled when their joint state cannot be written as a product of individual states. For a maximally entangled Bell state:</a:t>
            </a:r>
          </a:p>
          <a:p>
            <a:pPr algn="l"/>
            <a:r>
              <a:rPr sz="300" lang="en-GB" dirty="0">
                <a:solidFill>
                  <a:srgbClr val="1E1E1E"/>
                </a:solidFill>
              </a:rPr>
              <a:t/>
            </a:r>
          </a:p>
          <a:p>
            <a:pPr algn="l"/>
            <a:r>
              <a:rPr sz="1300" lang="en-GB" dirty="0">
                <a:solidFill>
                  <a:srgbClr val="1E1E1E"/>
                </a:solidFill>
                <a:latin typeface="Courier New"/>
              </a:rPr>
              <a:t>  |Φ⁺⟩ = (1/√2)(|↑⟩_A|↑⟩_B + |↓⟩_A|↓⟩_B)</a:t>
            </a:r>
          </a:p>
          <a:p>
            <a:pPr algn="l"/>
            <a:r>
              <a:rPr sz="300" lang="en-GB" dirty="0">
                <a:solidFill>
                  <a:srgbClr val="1E1E1E"/>
                </a:solidFill>
              </a:rPr>
              <a:t/>
            </a:r>
          </a:p>
          <a:p>
            <a:pPr algn="l"/>
            <a:r>
              <a:rPr sz="1600" lang="en-GB" dirty="0">
                <a:solidFill>
                  <a:srgbClr val="1E1E1E"/>
                </a:solidFill>
              </a:rPr>
              <a:t>Neither ion A nor ion B has a definite spin individually. The state is a property of the pair. Measuring A instantly determines the correlated outcome of B, regardless of separation.</a:t>
            </a:r>
          </a:p>
          <a:p>
            <a:pPr algn="l"/>
            <a:r>
              <a:rPr sz="700" lang="en-GB" dirty="0">
                <a:solidFill>
                  <a:srgbClr val="1E1E1E"/>
                </a:solidFill>
              </a:rPr>
              <a:t/>
            </a:r>
          </a:p>
          <a:p>
            <a:pPr algn="l">
              <a:spcBef>
                <a:spcPts val="500"/>
              </a:spcBef>
            </a:pPr>
            <a:r>
              <a:rPr sz="1700" lang="en-GB" dirty="0" b="1">
                <a:solidFill>
                  <a:srgbClr val="1E3A5F"/>
                </a:solidFill>
              </a:rPr>
              <a:t>What entanglement is not</a:t>
            </a:r>
          </a:p>
          <a:p>
            <a:pPr algn="l" lvl="1"/>
            <a:r>
              <a:rPr sz="1600" lang="en-GB" dirty="0">
                <a:solidFill>
                  <a:srgbClr val="1E1E1E"/>
                </a:solidFill>
              </a:rPr>
              <a:t>Entanglement is not a signal channel in standard QM. When Alice orients her ion to angle θ, she is performing a local operation. Bob's marginal statistics — what he sees averaging his own measurements — are unchanged. This is the content of the no-communication theorem.</a:t>
            </a:r>
          </a:p>
          <a:p>
            <a:pPr algn="l"/>
            <a:r>
              <a:rPr sz="700" lang="en-GB" dirty="0">
                <a:solidFill>
                  <a:srgbClr val="1E1E1E"/>
                </a:solidFill>
              </a:rPr>
              <a:t/>
            </a:r>
          </a:p>
          <a:p>
            <a:pPr algn="l">
              <a:spcBef>
                <a:spcPts val="500"/>
              </a:spcBef>
            </a:pPr>
            <a:r>
              <a:rPr sz="1700" lang="en-GB" dirty="0" b="1">
                <a:solidFill>
                  <a:srgbClr val="1E3A5F"/>
                </a:solidFill>
              </a:rPr>
              <a:t>The Zeeman sublevel encoding in Ca⁺</a:t>
            </a:r>
          </a:p>
          <a:p>
            <a:pPr algn="l"/>
            <a:r>
              <a:rPr sz="1600" lang="en-GB" dirty="0">
                <a:solidFill>
                  <a:srgbClr val="1E1E1E"/>
                </a:solidFill>
              </a:rPr>
              <a:t>In a Paul trap with static bias field B (1–10 mT), the S₁/₂ ground state splits into Zeeman sublevels m_J = ±½ with separation ΔE = gμ_B·B. An arbitrary superposition |ψ⟩ = α|↑⟩ + β|↓⟩ represents a spin orientation angle θ = 2·arctan(|β|/|α|) on the Bloch sphere. This continuous angle is what the EMT encodes as a character.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1.3  Weak Measurement Theory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instead of making one definitive measurement that destroys the quantum state, we nudge the particle very gently many times. Each nudge gives a tiny amount of information. Adding them up recovers the answer with less disturbance.</a:t>
            </a:r>
          </a:p>
          <a:p>
            <a:pPr algn="l"/>
            <a:r>
              <a:rPr sz="700" lang="en-GB" dirty="0">
                <a:solidFill>
                  <a:srgbClr val="1E1E1E"/>
                </a:solidFill>
              </a:rPr>
              <a:t/>
            </a:r>
          </a:p>
          <a:p>
            <a:pPr algn="l">
              <a:spcBef>
                <a:spcPts val="500"/>
              </a:spcBef>
            </a:pPr>
            <a:r>
              <a:rPr sz="1700" lang="en-GB" dirty="0" b="1">
                <a:solidFill>
                  <a:srgbClr val="1E3A5F"/>
                </a:solidFill>
              </a:rPr>
              <a:t>Definition</a:t>
            </a:r>
          </a:p>
          <a:p>
            <a:pPr algn="l"/>
            <a:r>
              <a:rPr sz="1600" lang="en-GB" dirty="0">
                <a:solidFill>
                  <a:srgbClr val="1E1E1E"/>
                </a:solidFill>
              </a:rPr>
              <a:t>A weak measurement couples a system to a meter with interaction strength g ≪ 1. Each read disturbs the state by order g. The expectation value of observable A is recovered by averaging N reads:</a:t>
            </a:r>
          </a:p>
          <a:p>
            <a:pPr algn="l"/>
            <a:r>
              <a:rPr sz="300" lang="en-GB" dirty="0">
                <a:solidFill>
                  <a:srgbClr val="1E1E1E"/>
                </a:solidFill>
              </a:rPr>
              <a:t/>
            </a:r>
          </a:p>
          <a:p>
            <a:pPr algn="l"/>
            <a:r>
              <a:rPr sz="1300" lang="en-GB" dirty="0">
                <a:solidFill>
                  <a:srgbClr val="1E1E1E"/>
                </a:solidFill>
                <a:latin typeface="Courier New"/>
              </a:rPr>
              <a:t>  ⟨A⟩  =  lim_{N→∞}  (1/N) Σᵢ aᵢ</a:t>
            </a:r>
          </a:p>
          <a:p>
            <a:pPr algn="l"/>
            <a:r>
              <a:rPr sz="300" lang="en-GB" dirty="0">
                <a:solidFill>
                  <a:srgbClr val="1E1E1E"/>
                </a:solidFill>
              </a:rPr>
              <a:t/>
            </a:r>
          </a:p>
          <a:p>
            <a:pPr algn="l"/>
            <a:r>
              <a:rPr sz="1600" lang="en-GB" dirty="0">
                <a:solidFill>
                  <a:srgbClr val="1E1E1E"/>
                </a:solidFill>
              </a:rPr>
              <a:t>For finite N, the estimator has uncertainty σ/√N where σ is the single-shot uncertainty.</a:t>
            </a:r>
          </a:p>
          <a:p>
            <a:pPr algn="l"/>
            <a:r>
              <a:rPr sz="700" lang="en-GB" dirty="0">
                <a:solidFill>
                  <a:srgbClr val="1E1E1E"/>
                </a:solidFill>
              </a:rPr>
              <a:t/>
            </a:r>
          </a:p>
          <a:p>
            <a:pPr algn="l">
              <a:spcBef>
                <a:spcPts val="500"/>
              </a:spcBef>
            </a:pPr>
            <a:r>
              <a:rPr sz="1700" lang="en-GB" dirty="0" b="1">
                <a:solidFill>
                  <a:srgbClr val="1E3A5F"/>
                </a:solidFill>
              </a:rPr>
              <a:t>Application to Ca⁺ spin orientation</a:t>
            </a:r>
          </a:p>
          <a:p>
            <a:pPr algn="l" lvl="1"/>
            <a:r>
              <a:rPr sz="1600" lang="en-GB" dirty="0">
                <a:solidFill>
                  <a:srgbClr val="1E1E1E"/>
                </a:solidFill>
              </a:rPr>
              <a:t>Probing with σ+ polarised 397 nm light gives intensity I ∝ cos²(θ/2). Probing with σ− gives I ∝ sin²(θ/2). The ratio recovers θ to precision limited by photon shot noise. Readout fidelity &gt; 99.9% per shot is demonstrated for Ca⁺ at PTB and NIST.</a:t>
            </a:r>
          </a:p>
          <a:p>
            <a:pPr algn="l"/>
            <a:r>
              <a:rPr sz="700" lang="en-GB" dirty="0">
                <a:solidFill>
                  <a:srgbClr val="1E1E1E"/>
                </a:solidFill>
              </a:rPr>
              <a:t/>
            </a:r>
          </a:p>
          <a:p>
            <a:pPr algn="l">
              <a:spcBef>
                <a:spcPts val="500"/>
              </a:spcBef>
            </a:pPr>
            <a:r>
              <a:rPr sz="1700" lang="en-GB" dirty="0" b="1">
                <a:solidFill>
                  <a:srgbClr val="1E3A5F"/>
                </a:solidFill>
              </a:rPr>
              <a:t>State disturbance per weak read</a:t>
            </a:r>
          </a:p>
          <a:p>
            <a:pPr algn="l"/>
            <a:r>
              <a:rPr sz="1600" lang="en-GB" dirty="0">
                <a:solidFill>
                  <a:srgbClr val="1E1E1E"/>
                </a:solidFill>
              </a:rPr>
              <a:t>Each fluorescence event has probability p of flipping the spin. For off-resonance probing, p ≪ 1. Over N reads, coherence decays as e^⁻^ᴽ^^ᵖ. For N=1000 reads and p=10⁻³, loss is e⁻¹ ≈37%. This trade-off — more reads give better SNR but greater state disturbance — sets the practical operating point.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1.4  Ensemble Averaging — Noise Reduction by √N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if 10 people each estimate the same distance and you average their guesses, the error in your average is about 3 times smaller than any single guess. The same principle applies to ion measurements. With 10 ions all pointing the same direction, the error drops by √10 ≈3.</a:t>
            </a:r>
          </a:p>
          <a:p>
            <a:pPr algn="l"/>
            <a:r>
              <a:rPr sz="700" lang="en-GB" dirty="0">
                <a:solidFill>
                  <a:srgbClr val="1E1E1E"/>
                </a:solidFill>
              </a:rPr>
              <a:t/>
            </a:r>
          </a:p>
          <a:p>
            <a:pPr algn="l">
              <a:spcBef>
                <a:spcPts val="500"/>
              </a:spcBef>
            </a:pPr>
            <a:r>
              <a:rPr sz="1700" lang="en-GB" dirty="0" b="1">
                <a:solidFill>
                  <a:srgbClr val="1E3A5F"/>
                </a:solidFill>
              </a:rPr>
              <a:t>Statistical basis</a:t>
            </a:r>
          </a:p>
          <a:p>
            <a:pPr algn="l"/>
            <a:r>
              <a:rPr sz="1600" lang="en-GB" dirty="0">
                <a:solidFill>
                  <a:srgbClr val="1E1E1E"/>
                </a:solidFill>
              </a:rPr>
              <a:t>If N independent estimates x_i each have mean μ and standard deviation σ, the sample mean has standard deviation σ/√N. This is the central limit theorem. It applies universally.</a:t>
            </a:r>
          </a:p>
          <a:p>
            <a:pPr algn="l"/>
            <a:r>
              <a:rPr sz="700" lang="en-GB" dirty="0">
                <a:solidFill>
                  <a:srgbClr val="1E1E1E"/>
                </a:solidFill>
              </a:rPr>
              <a:t/>
            </a:r>
          </a:p>
          <a:p>
            <a:pPr algn="l">
              <a:spcBef>
                <a:spcPts val="500"/>
              </a:spcBef>
            </a:pPr>
            <a:r>
              <a:rPr sz="1700" lang="en-GB" dirty="0" b="1">
                <a:solidFill>
                  <a:srgbClr val="1E3A5F"/>
                </a:solidFill>
              </a:rPr>
              <a:t>Application to EMT — 10 data ions per device</a:t>
            </a:r>
          </a:p>
          <a:p>
            <a:pPr algn="l"/>
            <a:r>
              <a:rPr sz="1600" lang="en-GB" dirty="0">
                <a:solidFill>
                  <a:srgbClr val="1E1E1E"/>
                </a:solidFill>
              </a:rPr>
              <a:t>Each of the 10 data ions (particles 1–10) is prepared in the same orientation state θ. Each is independently weak-measured. The MCU averages the 10 results:</a:t>
            </a:r>
          </a:p>
          <a:p>
            <a:pPr algn="l"/>
            <a:r>
              <a:rPr sz="300" lang="en-GB" dirty="0">
                <a:solidFill>
                  <a:srgbClr val="1E1E1E"/>
                </a:solidFill>
              </a:rPr>
              <a:t/>
            </a:r>
          </a:p>
          <a:p>
            <a:pPr algn="l"/>
            <a:r>
              <a:rPr sz="1300" lang="en-GB" dirty="0">
                <a:solidFill>
                  <a:srgbClr val="1E1E1E"/>
                </a:solidFill>
                <a:latin typeface="Courier New"/>
              </a:rPr>
              <a:t>  σ_θ  =  σ_single / √N  =  ±45° / √10  =  ±14.2°</a:t>
            </a:r>
          </a:p>
          <a:p>
            <a:pPr algn="l"/>
            <a:r>
              <a:rPr sz="300" lang="en-GB" dirty="0">
                <a:solidFill>
                  <a:srgbClr val="1E1E1E"/>
                </a:solidFill>
              </a:rPr>
              <a:t/>
            </a:r>
          </a:p>
          <a:p>
            <a:pPr algn="l"/>
            <a:r>
              <a:rPr sz="1600" lang="en-GB" dirty="0">
                <a:solidFill>
                  <a:srgbClr val="1E1E1E"/>
                </a:solidFill>
              </a:rPr>
              <a:t>For a 10° character spacing, the ±14.2° noise floor is marginal. Reducing the spacing to 5° or increasing to 100 ions per device would improve reliability. The 10-ion design is a starting point; the optimal ensemble size is an experimental parameter.</a:t>
            </a:r>
          </a:p>
          <a:p>
            <a:pPr algn="l"/>
            <a:r>
              <a:rPr sz="700" lang="en-GB" dirty="0">
                <a:solidFill>
                  <a:srgbClr val="1E1E1E"/>
                </a:solidFill>
              </a:rPr>
              <a:t/>
            </a:r>
          </a:p>
          <a:p>
            <a:pPr algn="l">
              <a:spcBef>
                <a:spcPts val="500"/>
              </a:spcBef>
            </a:pPr>
            <a:r>
              <a:rPr sz="1700" lang="en-GB" dirty="0" b="1">
                <a:solidFill>
                  <a:srgbClr val="1E3A5F"/>
                </a:solidFill>
              </a:rPr>
              <a:t>Resolution at different ensemble sizes</a:t>
            </a:r>
          </a:p>
          <a:p>
            <a:pPr algn="l"/>
            <a:r>
              <a:rPr sz="1300" lang="en-GB" dirty="0">
                <a:solidFill>
                  <a:srgbClr val="1E1E1E"/>
                </a:solidFill>
                <a:latin typeface="Courier New"/>
              </a:rPr>
              <a:t>  N = 10      σ_θ = ±14.2°   (marginal at 10° spacing)</a:t>
            </a:r>
          </a:p>
          <a:p>
            <a:pPr algn="l"/>
            <a:r>
              <a:rPr sz="1300" lang="en-GB" dirty="0">
                <a:solidFill>
                  <a:srgbClr val="1E1E1E"/>
                </a:solidFill>
                <a:latin typeface="Courier New"/>
              </a:rPr>
              <a:t>  N = 100     σ_θ = ±4.5°    (reliable at 10° spacing)</a:t>
            </a:r>
          </a:p>
          <a:p>
            <a:pPr algn="l"/>
            <a:r>
              <a:rPr sz="1300" lang="en-GB" dirty="0">
                <a:solidFill>
                  <a:srgbClr val="1E1E1E"/>
                </a:solidFill>
                <a:latin typeface="Courier New"/>
              </a:rPr>
              <a:t>  N = 1,000   σ_θ = ±1.4°    (reliable at 5° spacing)</a:t>
            </a:r>
          </a:p>
          <a:p>
            <a:pPr algn="l"/>
            <a:r>
              <a:rPr sz="1300" lang="en-GB" dirty="0">
                <a:solidFill>
                  <a:srgbClr val="1E1E1E"/>
                </a:solidFill>
                <a:latin typeface="Courier New"/>
              </a:rPr>
              <a:t>  N = 10,000  σ_θ = ±0.45°   (full character set)</a:t>
            </a:r>
          </a:p>
          <a:p>
            <a:pPr algn="l"/>
            <a:r>
              <a:rPr sz="700" lang="en-GB" dirty="0">
                <a:solidFill>
                  <a:srgbClr val="1E1E1E"/>
                </a:solidFill>
              </a:rPr>
              <a:t/>
            </a:r>
          </a:p>
          <a:p>
            <a:pPr algn="l"/>
            <a:r>
              <a:rPr sz="1300" lang="en-GB" dirty="0">
                <a:solidFill>
                  <a:srgbClr val="788598"/>
                </a:solidFill>
              </a:rPr>
              <a:t>The 12-particle design (N=10 data ions) is the minimum viable configuration. A longer linear trap or a 2D crystal would improve SNR at the cost of increased engineering complexity.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1.5  The Central Experimental Question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standard quantum physics predicts that Bob will see random noise no matter what Alice does to her ions. This paper asks: has that prediction actually been tested with a large group of ions all pointing the same direction? The answer is no. That is the experiment.</a:t>
            </a:r>
          </a:p>
          <a:p>
            <a:pPr algn="l"/>
            <a:r>
              <a:rPr sz="700" lang="en-GB" dirty="0">
                <a:solidFill>
                  <a:srgbClr val="1E1E1E"/>
                </a:solidFill>
              </a:rPr>
              <a:t/>
            </a:r>
          </a:p>
          <a:p>
            <a:pPr algn="l">
              <a:spcBef>
                <a:spcPts val="500"/>
              </a:spcBef>
            </a:pPr>
            <a:r>
              <a:rPr sz="1700" lang="en-GB" dirty="0" b="1">
                <a:solidFill>
                  <a:srgbClr val="1E3A5F"/>
                </a:solidFill>
              </a:rPr>
              <a:t>The standard prediction</a:t>
            </a:r>
          </a:p>
          <a:p>
            <a:pPr algn="l"/>
            <a:r>
              <a:rPr sz="1600" lang="en-GB" dirty="0">
                <a:solidFill>
                  <a:srgbClr val="1E1E1E"/>
                </a:solidFill>
              </a:rPr>
              <a:t>When Alice sets all N ions to orientation θ, standard QM predicts that Bob's reduced density matrix is:</a:t>
            </a:r>
          </a:p>
          <a:p>
            <a:pPr algn="l"/>
            <a:r>
              <a:rPr sz="300" lang="en-GB" dirty="0">
                <a:solidFill>
                  <a:srgbClr val="1E1E1E"/>
                </a:solidFill>
              </a:rPr>
              <a:t/>
            </a:r>
          </a:p>
          <a:p>
            <a:pPr algn="l"/>
            <a:r>
              <a:rPr sz="1300" lang="en-GB" dirty="0">
                <a:solidFill>
                  <a:srgbClr val="1E1E1E"/>
                </a:solidFill>
                <a:latin typeface="Courier New"/>
              </a:rPr>
              <a:t>  ρ_B  =  Tr_A(ρ_AB)  =  I/2   (maximally mixed, always)</a:t>
            </a:r>
          </a:p>
          <a:p>
            <a:pPr algn="l"/>
            <a:r>
              <a:rPr sz="300" lang="en-GB" dirty="0">
                <a:solidFill>
                  <a:srgbClr val="1E1E1E"/>
                </a:solidFill>
              </a:rPr>
              <a:t/>
            </a:r>
          </a:p>
          <a:p>
            <a:pPr algn="l"/>
            <a:r>
              <a:rPr sz="1600" lang="en-GB" dirty="0">
                <a:solidFill>
                  <a:srgbClr val="1E1E1E"/>
                </a:solidFill>
              </a:rPr>
              <a:t>Bob always sees 50/50 outcomes regardless of θ. Signal is identically zero.</a:t>
            </a:r>
          </a:p>
          <a:p>
            <a:pPr algn="l"/>
            <a:r>
              <a:rPr sz="700" lang="en-GB" dirty="0">
                <a:solidFill>
                  <a:srgbClr val="1E1E1E"/>
                </a:solidFill>
              </a:rPr>
              <a:t/>
            </a:r>
          </a:p>
          <a:p>
            <a:pPr algn="l">
              <a:spcBef>
                <a:spcPts val="500"/>
              </a:spcBef>
            </a:pPr>
            <a:r>
              <a:rPr sz="1700" lang="en-GB" dirty="0" b="1">
                <a:solidFill>
                  <a:srgbClr val="1E3A5F"/>
                </a:solidFill>
              </a:rPr>
              <a:t>The untested regime</a:t>
            </a:r>
          </a:p>
          <a:p>
            <a:pPr algn="l"/>
            <a:r>
              <a:rPr sz="1600" lang="en-GB" dirty="0">
                <a:solidFill>
                  <a:srgbClr val="1E1E1E"/>
                </a:solidFill>
              </a:rPr>
              <a:t>The theorem is proven for arbitrary local operations on individual pairs. What has not been directly tested is whether a macroscopic ensemble of N entangled pairs, all prepared identically with a shared global phase reference, produces a collective response detectable by ensemble averaging. The EMT hypothesis is not that the theorem is wrong — it is that the theorem may be incomplete in this specific regime.</a:t>
            </a:r>
          </a:p>
          <a:p>
            <a:pPr algn="l"/>
            <a:r>
              <a:rPr sz="700" lang="en-GB" dirty="0">
                <a:solidFill>
                  <a:srgbClr val="1E1E1E"/>
                </a:solidFill>
              </a:rPr>
              <a:t/>
            </a:r>
          </a:p>
          <a:p>
            <a:pPr algn="l">
              <a:spcBef>
                <a:spcPts val="500"/>
              </a:spcBef>
            </a:pPr>
            <a:r>
              <a:rPr sz="1700" lang="en-GB" dirty="0" b="1">
                <a:solidFill>
                  <a:srgbClr val="1E3A5F"/>
                </a:solidFill>
              </a:rPr>
              <a:t>Guaranteed scientific value</a:t>
            </a:r>
          </a:p>
          <a:p>
            <a:pPr algn="l" lvl="1"/>
            <a:r>
              <a:rPr sz="1600" lang="en-GB" dirty="0">
                <a:solidFill>
                  <a:srgbClr val="1E1E1E"/>
                </a:solidFill>
              </a:rPr>
              <a:t>Signal detected: requires revision of QM formalism. Historic result.</a:t>
            </a:r>
          </a:p>
          <a:p>
            <a:pPr algn="l" lvl="1"/>
            <a:r>
              <a:rPr sz="1600" lang="en-GB" dirty="0">
                <a:solidFill>
                  <a:srgbClr val="1E1E1E"/>
                </a:solidFill>
              </a:rPr>
              <a:t>No signal: confirms the theorem in a previously untested regime. Publishable. Tightens bounds on any non-local hidden variable theories.</a:t>
            </a:r>
          </a:p>
          <a:p>
            <a:pPr algn="l" lvl="1"/>
            <a:r>
              <a:rPr sz="1600" lang="en-GB" dirty="0">
                <a:solidFill>
                  <a:srgbClr val="1E1E1E"/>
                </a:solidFill>
              </a:rPr>
              <a:t>The apparatus itself — precision Ca⁺ orientation control with weak-measurement readout — is a world-class quantum sensor regardless of the primary result.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1.6  Orientation Encoding — The Rotary Orientation Ring</a:t>
            </a:r>
          </a:p>
        </p:txBody>
      </p:sp>
      <p:sp>
        <p:nvSpPr>
          <p:cNvPr id="3" name="TextBox 2"/>
          <p:cNvSpPr txBox="1"/>
          <p:nvPr/>
        </p:nvSpPr>
        <p:spPr>
          <a:xfrm>
            <a:off x="150187" y="671901"/>
            <a:ext cx="6563531" cy="4220138"/>
          </a:xfrm>
          <a:prstGeom prst="rect">
            <a:avLst/>
          </a:prstGeom>
          <a:noFill/>
        </p:spPr>
        <p:txBody>
          <a:bodyPr wrap="square">
            <a:spAutoFit/>
          </a:bodyPr>
          <a:lstStyle/>
          <a:p>
            <a:pPr algn="l">
              <a:spcBef>
                <a:spcPts val="300"/>
              </a:spcBef>
            </a:pPr>
            <a:r>
              <a:rPr sz="1500" lang="en-GB" dirty="0" b="1">
                <a:solidFill>
                  <a:srgbClr val="1A5676"/>
                </a:solidFill>
              </a:rPr>
              <a:t>In plain terms: think of a clock face. Each hour position is a letter. The ion's spin points to a position on the clock face, and the other device reads which position it is pointing to. HOME (12 o'clock) means start or end of message.</a:t>
            </a:r>
          </a:p>
          <a:p>
            <a:pPr algn="l"/>
            <a:r>
              <a:rPr sz="700" lang="en-GB" dirty="0">
                <a:solidFill>
                  <a:srgbClr val="1E1E1E"/>
                </a:solidFill>
              </a:rPr>
              <a:t/>
            </a:r>
          </a:p>
          <a:p>
            <a:pPr algn="l">
              <a:spcBef>
                <a:spcPts val="500"/>
              </a:spcBef>
            </a:pPr>
            <a:r>
              <a:rPr sz="1700" lang="en-GB" dirty="0" b="1">
                <a:solidFill>
                  <a:srgbClr val="1E3A5F"/>
                </a:solidFill>
              </a:rPr>
              <a:t>Encoding principle</a:t>
            </a:r>
          </a:p>
          <a:p>
            <a:pPr algn="l"/>
            <a:r>
              <a:rPr sz="1600" lang="en-GB" dirty="0">
                <a:solidFill>
                  <a:srgbClr val="1E1E1E"/>
                </a:solidFill>
              </a:rPr>
              <a:t>Each character maps to a unique orientation angle θ on a circular lookup table — the Rotary Orientation Ring (ROR). HOME at θ = 0° is permanently reserved as message delimiter. Device B's table is inverted (θ_B = 180° − θ_A) to account for the spin-anticorrelation of the entangled Bell state.</a:t>
            </a:r>
          </a:p>
          <a:p>
            <a:pPr algn="l"/>
            <a:r>
              <a:rPr sz="300" lang="en-GB" dirty="0">
                <a:solidFill>
                  <a:srgbClr val="1E1E1E"/>
                </a:solidFill>
              </a:rPr>
              <a:t/>
            </a:r>
          </a:p>
          <a:p>
            <a:pPr algn="l"/>
            <a:r>
              <a:rPr sz="1300" lang="en-GB" dirty="0">
                <a:solidFill>
                  <a:srgbClr val="1E1E1E"/>
                </a:solidFill>
                <a:latin typeface="Courier New"/>
              </a:rPr>
              <a:t>  Single ring at 10° spacing:  35 characters + HOME</a:t>
            </a:r>
          </a:p>
          <a:p>
            <a:pPr algn="l"/>
            <a:r>
              <a:rPr sz="1300" lang="en-GB" dirty="0">
                <a:solidFill>
                  <a:srgbClr val="1E1E1E"/>
                </a:solidFill>
                <a:latin typeface="Courier New"/>
              </a:rPr>
              <a:t>  Dual ring at 10°/axis:       36 × 36 = 1,296 unique states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Part 2 — Experimental Pathway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What this section covers: the sequence of experiments needed to test the EMT idea, starting from something simple (one pair of ions) and building up to the full device.</a:t>
            </a:r>
          </a:p>
          <a:p>
            <a:pPr algn="l"/>
            <a:r>
              <a:rPr sz="700" lang="en-GB" dirty="0">
                <a:solidFill>
                  <a:srgbClr val="1E1E1E"/>
                </a:solidFill>
              </a:rPr>
              <a:t/>
            </a:r>
          </a:p>
          <a:p>
            <a:pPr algn="l" lvl="1"/>
            <a:r>
              <a:rPr sz="1600" lang="en-GB" dirty="0">
                <a:solidFill>
                  <a:srgbClr val="1E1E1E"/>
                </a:solidFill>
              </a:rPr>
              <a:t>Stage 1 — Single Ca⁺ pair: entanglement, orientation control, weak readout.</a:t>
            </a:r>
          </a:p>
          <a:p>
            <a:pPr algn="l" lvl="1"/>
            <a:r>
              <a:rPr sz="1600" lang="en-GB" dirty="0">
                <a:solidFill>
                  <a:srgbClr val="1E1E1E"/>
                </a:solidFill>
              </a:rPr>
              <a:t>Stage 2 — Remote isolation test: physically separate the two ions and repeat the measurement to rule out classical coupling.</a:t>
            </a:r>
          </a:p>
          <a:p>
            <a:pPr algn="l" lvl="1"/>
            <a:r>
              <a:rPr sz="1600" lang="en-GB" dirty="0">
                <a:solidFill>
                  <a:srgbClr val="1E1E1E"/>
                </a:solidFill>
              </a:rPr>
              <a:t>Stage 3 — Coherence maintenance: dynamical decoupling and bootstrap re-entanglement for long-duration operation.</a:t>
            </a:r>
          </a:p>
          <a:p>
            <a:pPr algn="l"/>
            <a:r>
              <a:rPr sz="700" lang="en-GB" dirty="0">
                <a:solidFill>
                  <a:srgbClr val="1E1E1E"/>
                </a:solidFill>
              </a:rPr>
              <a:t/>
            </a:r>
          </a:p>
          <a:p>
            <a:pPr algn="l"/>
            <a:r>
              <a:rPr sz="1300" lang="en-GB" dirty="0">
                <a:solidFill>
                  <a:srgbClr val="788598"/>
                </a:solidFill>
              </a:rPr>
              <a:t>Stages 1 and 2 are achievable with existing ion trap apparatus at Oxford, Innsbruck, NIST, and PTB. Stage 3 is engineering development contingent on Stage 2 confirmation.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2.1  Ca⁺ as the Experimental Substrate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calcium ions in a trap are the best-studied quantum system in the world for this kind of precision work. Everything the EMT needs has already been individually demonstrated in Ca⁺ ion trap experiments.</a:t>
            </a:r>
          </a:p>
          <a:p>
            <a:pPr algn="l"/>
            <a:r>
              <a:rPr sz="700" lang="en-GB" dirty="0">
                <a:solidFill>
                  <a:srgbClr val="1E1E1E"/>
                </a:solidFill>
              </a:rPr>
              <a:t/>
            </a:r>
          </a:p>
          <a:p>
            <a:pPr algn="l">
              <a:spcBef>
                <a:spcPts val="500"/>
              </a:spcBef>
            </a:pPr>
            <a:r>
              <a:rPr sz="1700" lang="en-GB" dirty="0" b="1">
                <a:solidFill>
                  <a:srgbClr val="1E3A5F"/>
                </a:solidFill>
              </a:rPr>
              <a:t>Why Ca⁺ is the correct choice</a:t>
            </a:r>
          </a:p>
          <a:p>
            <a:pPr algn="l" lvl="1"/>
            <a:r>
              <a:rPr sz="1600" lang="en-GB" dirty="0">
                <a:solidFill>
                  <a:srgbClr val="1E1E1E"/>
                </a:solidFill>
              </a:rPr>
              <a:t>Coherence time: T₂* ∼ 1 ms (electron spin, no decoupling). T₂ ∼ 1 s with CPMG-8. Up to 10 hours with XY-64 DD on nuclear spin.</a:t>
            </a:r>
          </a:p>
          <a:p>
            <a:pPr algn="l" lvl="1"/>
            <a:r>
              <a:rPr sz="1600" lang="en-GB" dirty="0">
                <a:solidFill>
                  <a:srgbClr val="1E1E1E"/>
                </a:solidFill>
              </a:rPr>
              <a:t>Write mechanism: microwave pulse at Larmor frequency ω_L = gμ_B B/ħ. Rabi oscillation gives arbitrary angle. Precision &lt; 0.1° demonstrated.</a:t>
            </a:r>
          </a:p>
          <a:p>
            <a:pPr algn="l" lvl="1"/>
            <a:r>
              <a:rPr sz="1600" lang="en-GB" dirty="0">
                <a:solidFill>
                  <a:srgbClr val="1E1E1E"/>
                </a:solidFill>
              </a:rPr>
              <a:t>Read mechanism: state-selective fluorescence at 397 nm. Readout fidelity &gt; 99.9% per shot (PTB, NIST).</a:t>
            </a:r>
          </a:p>
          <a:p>
            <a:pPr algn="l" lvl="1"/>
            <a:r>
              <a:rPr sz="1600" lang="en-GB" dirty="0">
                <a:solidFill>
                  <a:srgbClr val="1E1E1E"/>
                </a:solidFill>
              </a:rPr>
              <a:t>Entanglement: Mølmer–Sørensen gate via shared axial motional mode. Gate fidelity &gt; 99.9% demonstrated. No external photon needed.</a:t>
            </a:r>
          </a:p>
          <a:p>
            <a:pPr algn="l" lvl="1"/>
            <a:r>
              <a:rPr sz="1600" lang="en-GB" dirty="0">
                <a:solidFill>
                  <a:srgbClr val="1E1E1E"/>
                </a:solidFill>
              </a:rPr>
              <a:t>Ion shuttling: multi-zone trap chips move ions without coherence loss (Oxford, Innsbruck).</a:t>
            </a:r>
          </a:p>
          <a:p>
            <a:pPr algn="l"/>
            <a:r>
              <a:rPr sz="700" lang="en-GB" dirty="0">
                <a:solidFill>
                  <a:srgbClr val="1E1E1E"/>
                </a:solidFill>
              </a:rPr>
              <a:t/>
            </a:r>
          </a:p>
          <a:p>
            <a:pPr algn="l">
              <a:spcBef>
                <a:spcPts val="500"/>
              </a:spcBef>
            </a:pPr>
            <a:r>
              <a:rPr sz="1700" lang="en-GB" dirty="0" b="1">
                <a:solidFill>
                  <a:srgbClr val="1E3A5F"/>
                </a:solidFill>
              </a:rPr>
              <a:t>Linear ion trap — the EMT substrate</a:t>
            </a:r>
          </a:p>
          <a:p>
            <a:pPr algn="l"/>
            <a:r>
              <a:rPr sz="1600" lang="en-GB" dirty="0">
                <a:solidFill>
                  <a:srgbClr val="1E1E1E"/>
                </a:solidFill>
              </a:rPr>
              <a:t>In a Paul trap, ions arrange themselves in a linear chain. The EMT uses a 12-ion chain: 10 data ions for orientation encoding and SNR averaging, plus 2 flag ions for protocol coordination (see Part 3 — Protocol Design). This is a natural fit for existing multi-zone ion trap hardware.</a:t>
            </a:r>
          </a:p>
          <a:p>
            <a:pPr algn="l"/>
            <a:r>
              <a:rPr sz="700" lang="en-GB" dirty="0">
                <a:solidFill>
                  <a:srgbClr val="1E1E1E"/>
                </a:solidFill>
              </a:rPr>
              <a:t/>
            </a:r>
          </a:p>
          <a:p>
            <a:pPr algn="l">
              <a:spcBef>
                <a:spcPts val="500"/>
              </a:spcBef>
            </a:pPr>
            <a:r>
              <a:rPr sz="1700" lang="en-GB" dirty="0" b="1">
                <a:solidFill>
                  <a:srgbClr val="1E3A5F"/>
                </a:solidFill>
              </a:rPr>
              <a:t>Trap and magnetic field compatibility</a:t>
            </a:r>
          </a:p>
          <a:p>
            <a:pPr algn="l"/>
            <a:r>
              <a:rPr sz="1600" lang="en-GB" dirty="0">
                <a:solidFill>
                  <a:srgbClr val="1E1E1E"/>
                </a:solidFill>
              </a:rPr>
              <a:t>The Paul trap confines Ca⁺ via oscillating electric fields at 10–100 MHz. The static magnetic bias field (1–10 mT) operates at a completely different frequency and does not disturb the trap. This is standard practice in all ion trap experiments.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2.2  Stage 1 — Single Pair Entanglement and Readout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load two calcium ions into a trap, link them together with a quantum gate, point one ion at a specific angle, and check whether the other ion's measurements reflect that. This is the proof-of-concept for the entire EMT chain.</a:t>
            </a:r>
          </a:p>
          <a:p>
            <a:pPr algn="l"/>
            <a:r>
              <a:rPr sz="700" lang="en-GB" dirty="0">
                <a:solidFill>
                  <a:srgbClr val="1E1E1E"/>
                </a:solidFill>
              </a:rPr>
              <a:t/>
            </a:r>
          </a:p>
          <a:p>
            <a:pPr algn="l">
              <a:spcBef>
                <a:spcPts val="500"/>
              </a:spcBef>
            </a:pPr>
            <a:r>
              <a:rPr sz="1700" lang="en-GB" dirty="0" b="1">
                <a:solidFill>
                  <a:srgbClr val="1E3A5F"/>
                </a:solidFill>
              </a:rPr>
              <a:t>Objective</a:t>
            </a:r>
          </a:p>
          <a:p>
            <a:pPr algn="l"/>
            <a:r>
              <a:rPr sz="1600" lang="en-GB" dirty="0">
                <a:solidFill>
                  <a:srgbClr val="1E1E1E"/>
                </a:solidFill>
              </a:rPr>
              <a:t>Demonstrate the complete write–transmit–read chain for a single entangled Ca⁺ pair: controlled orientation set on ion A, weak-measurement decode on ion B.</a:t>
            </a:r>
          </a:p>
          <a:p>
            <a:pPr algn="l"/>
            <a:r>
              <a:rPr sz="700" lang="en-GB" dirty="0">
                <a:solidFill>
                  <a:srgbClr val="1E1E1E"/>
                </a:solidFill>
              </a:rPr>
              <a:t/>
            </a:r>
          </a:p>
          <a:p>
            <a:pPr algn="l">
              <a:spcBef>
                <a:spcPts val="500"/>
              </a:spcBef>
            </a:pPr>
            <a:r>
              <a:rPr sz="1700" lang="en-GB" dirty="0" b="1">
                <a:solidFill>
                  <a:srgbClr val="1E3A5F"/>
                </a:solidFill>
              </a:rPr>
              <a:t>Protocol</a:t>
            </a:r>
          </a:p>
          <a:p>
            <a:pPr algn="l" lvl="1"/>
            <a:r>
              <a:rPr sz="1600" lang="en-GB" dirty="0">
                <a:solidFill>
                  <a:srgbClr val="1E1E1E"/>
                </a:solidFill>
              </a:rPr>
              <a:t>1. Load two Ca⁺ ions into adjacent zones of a multi-zone Paul trap.</a:t>
            </a:r>
          </a:p>
          <a:p>
            <a:pPr algn="l" lvl="1"/>
            <a:r>
              <a:rPr sz="1600" lang="en-GB" dirty="0">
                <a:solidFill>
                  <a:srgbClr val="1E1E1E"/>
                </a:solidFill>
              </a:rPr>
              <a:t>2. Laser cool to motional ground state: Doppler (397 nm) then sideband cooling (729 nm) to ⟨n⟩ &lt; 0.05.</a:t>
            </a:r>
          </a:p>
          <a:p>
            <a:pPr algn="l" lvl="1"/>
            <a:r>
              <a:rPr sz="1600" lang="en-GB" dirty="0">
                <a:solidFill>
                  <a:srgbClr val="1E1E1E"/>
                </a:solidFill>
              </a:rPr>
              <a:t>3. Apply Mølmer–Sørensen gate to create Bell state |Φ⁺⟩ = (1/√2)(|↑↑⟩ + |↓↓⟩). Verify by Bell inequality measurement.</a:t>
            </a:r>
          </a:p>
          <a:p>
            <a:pPr algn="l" lvl="1"/>
            <a:r>
              <a:rPr sz="1600" lang="en-GB" dirty="0">
                <a:solidFill>
                  <a:srgbClr val="1E1E1E"/>
                </a:solidFill>
              </a:rPr>
              <a:t>4. Apply magnetic pulse to ion A to set orientation angle θ_A from the ROR table.</a:t>
            </a:r>
          </a:p>
          <a:p>
            <a:pPr algn="l" lvl="1"/>
            <a:r>
              <a:rPr sz="1600" lang="en-GB" dirty="0">
                <a:solidFill>
                  <a:srgbClr val="1E1E1E"/>
                </a:solidFill>
              </a:rPr>
              <a:t>5. Weak-measure ion B with rotating probe polarisation. Average reads. Decode θ_B.</a:t>
            </a:r>
          </a:p>
          <a:p>
            <a:pPr algn="l" lvl="1"/>
            <a:r>
              <a:rPr sz="1600" lang="en-GB" dirty="0">
                <a:solidFill>
                  <a:srgbClr val="1E1E1E"/>
                </a:solidFill>
              </a:rPr>
              <a:t>6. Verify: θ_B shows the entanglement-correlated value.</a:t>
            </a:r>
          </a:p>
          <a:p>
            <a:pPr algn="l"/>
            <a:r>
              <a:rPr sz="700" lang="en-GB" dirty="0">
                <a:solidFill>
                  <a:srgbClr val="1E1E1E"/>
                </a:solidFill>
              </a:rPr>
              <a:t/>
            </a:r>
          </a:p>
          <a:p>
            <a:pPr algn="l">
              <a:spcBef>
                <a:spcPts val="500"/>
              </a:spcBef>
            </a:pPr>
            <a:r>
              <a:rPr sz="1700" lang="en-GB" dirty="0" b="1">
                <a:solidFill>
                  <a:srgbClr val="1E3A5F"/>
                </a:solidFill>
              </a:rPr>
              <a:t>Expected result</a:t>
            </a:r>
          </a:p>
          <a:p>
            <a:pPr algn="l"/>
            <a:r>
              <a:rPr sz="1600" lang="en-GB" dirty="0">
                <a:solidFill>
                  <a:srgbClr val="1E1E1E"/>
                </a:solidFill>
              </a:rPr>
              <a:t>Ion B will show the correlated orientation in its fluorescence intensity pattern. This confirms the write/read chain works. It does not yet test FTL signalling — both ions are in the same lab.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2.3  Stage 2 — Remote Isolation Test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repeat Stage 1 but move the two ions far apart — far enough that no conventional signal could travel between them during the measurement. This rules out the possibility that the result is caused by ordinary physics rather than entanglement.</a:t>
            </a:r>
          </a:p>
          <a:p>
            <a:pPr algn="l"/>
            <a:r>
              <a:rPr sz="700" lang="en-GB" dirty="0">
                <a:solidFill>
                  <a:srgbClr val="1E1E1E"/>
                </a:solidFill>
              </a:rPr>
              <a:t/>
            </a:r>
          </a:p>
          <a:p>
            <a:pPr algn="l">
              <a:spcBef>
                <a:spcPts val="500"/>
              </a:spcBef>
            </a:pPr>
            <a:r>
              <a:rPr sz="1700" lang="en-GB" dirty="0" b="1">
                <a:solidFill>
                  <a:srgbClr val="1E3A5F"/>
                </a:solidFill>
              </a:rPr>
              <a:t>Objective</a:t>
            </a:r>
          </a:p>
          <a:p>
            <a:pPr algn="l"/>
            <a:r>
              <a:rPr sz="1600" lang="en-GB" dirty="0">
                <a:solidFill>
                  <a:srgbClr val="1E1E1E"/>
                </a:solidFill>
              </a:rPr>
              <a:t>Repeat Stage 1 with ions A and B separated by a distance sufficient to exclude all classical electromagnetic coupling between the two traps.</a:t>
            </a:r>
          </a:p>
          <a:p>
            <a:pPr algn="l"/>
            <a:r>
              <a:rPr sz="700" lang="en-GB" dirty="0">
                <a:solidFill>
                  <a:srgbClr val="1E1E1E"/>
                </a:solidFill>
              </a:rPr>
              <a:t/>
            </a:r>
          </a:p>
          <a:p>
            <a:pPr algn="l">
              <a:spcBef>
                <a:spcPts val="500"/>
              </a:spcBef>
            </a:pPr>
            <a:r>
              <a:rPr sz="1700" lang="en-GB" dirty="0" b="1">
                <a:solidFill>
                  <a:srgbClr val="1E3A5F"/>
                </a:solidFill>
              </a:rPr>
              <a:t>Separation and shielding requirements</a:t>
            </a:r>
          </a:p>
          <a:p>
            <a:pPr algn="l" lvl="1"/>
            <a:r>
              <a:rPr sz="1600" lang="en-GB" dirty="0">
                <a:solidFill>
                  <a:srgbClr val="1E1E1E"/>
                </a:solidFill>
              </a:rPr>
              <a:t>Minimum useful separation: &gt; 1 m to exclude RF field leakage from the trapping electrodes.</a:t>
            </a:r>
          </a:p>
          <a:p>
            <a:pPr algn="l" lvl="1"/>
            <a:r>
              <a:rPr sz="1600" lang="en-GB" dirty="0">
                <a:solidFill>
                  <a:srgbClr val="1E1E1E"/>
                </a:solidFill>
              </a:rPr>
              <a:t>Optimal: &gt; 10 m to exclude all conceivable classical coupling.</a:t>
            </a:r>
          </a:p>
          <a:p>
            <a:pPr algn="l" lvl="1"/>
            <a:r>
              <a:rPr sz="1600" lang="en-GB" dirty="0">
                <a:solidFill>
                  <a:srgbClr val="1E1E1E"/>
                </a:solidFill>
              </a:rPr>
              <a:t>Both trap halves independently shielded with mu-metal magnetic shielding to exclude common-mode field noise.</a:t>
            </a:r>
          </a:p>
          <a:p>
            <a:pPr algn="l" lvl="1"/>
            <a:r>
              <a:rPr sz="1600" lang="en-GB" dirty="0">
                <a:solidFill>
                  <a:srgbClr val="1E1E1E"/>
                </a:solidFill>
              </a:rPr>
              <a:t>Trap chips are produced as a single combined device, entangled using the MS gate at manufacture, then physically separated by cutting the vacuum connection between the two trap halves.</a:t>
            </a:r>
          </a:p>
          <a:p>
            <a:pPr algn="l"/>
            <a:r>
              <a:rPr sz="700" lang="en-GB" dirty="0">
                <a:solidFill>
                  <a:srgbClr val="1E1E1E"/>
                </a:solidFill>
              </a:rPr>
              <a:t/>
            </a:r>
          </a:p>
          <a:p>
            <a:pPr algn="l">
              <a:spcBef>
                <a:spcPts val="500"/>
              </a:spcBef>
            </a:pPr>
            <a:r>
              <a:rPr sz="1700" lang="en-GB" dirty="0" b="1">
                <a:solidFill>
                  <a:srgbClr val="1E3A5F"/>
                </a:solidFill>
              </a:rPr>
              <a:t>Experimental protocol</a:t>
            </a:r>
          </a:p>
          <a:p>
            <a:pPr algn="l" lvl="1"/>
            <a:r>
              <a:rPr sz="1600" lang="en-GB" dirty="0">
                <a:solidFill>
                  <a:srgbClr val="1E1E1E"/>
                </a:solidFill>
              </a:rPr>
              <a:t>Alice (ion A side) runs pre-programmed orientation sequences. Bob (ion B side) records weak measurements with no knowledge of Alice's actions. Data compared only after both sequences complete — double-blind analysis.</a:t>
            </a:r>
          </a:p>
          <a:p>
            <a:pPr algn="l"/>
            <a:r>
              <a:rPr sz="700" lang="en-GB" dirty="0">
                <a:solidFill>
                  <a:srgbClr val="1E1E1E"/>
                </a:solidFill>
              </a:rPr>
              <a:t/>
            </a:r>
          </a:p>
          <a:p>
            <a:pPr algn="l">
              <a:spcBef>
                <a:spcPts val="500"/>
              </a:spcBef>
            </a:pPr>
            <a:r>
              <a:rPr sz="1700" lang="en-GB" dirty="0" b="1">
                <a:solidFill>
                  <a:srgbClr val="1E3A5F"/>
                </a:solidFill>
              </a:rPr>
              <a:t>Control conditions</a:t>
            </a:r>
          </a:p>
          <a:p>
            <a:pPr algn="l" lvl="1"/>
            <a:r>
              <a:rPr sz="1600" lang="en-GB" dirty="0">
                <a:solidFill>
                  <a:srgbClr val="1E1E1E"/>
                </a:solidFill>
              </a:rPr>
              <a:t>Non-entangled pair in |+x⟩ state: should show no correlation.</a:t>
            </a:r>
          </a:p>
          <a:p>
            <a:pPr algn="l" lvl="1"/>
            <a:r>
              <a:rPr sz="1600" lang="en-GB" dirty="0">
                <a:solidFill>
                  <a:srgbClr val="1E1E1E"/>
                </a:solidFill>
              </a:rPr>
              <a:t>Entangled pair, Alice holds fixed orientation: should show stable correlation.</a:t>
            </a:r>
          </a:p>
          <a:p>
            <a:pPr algn="l" lvl="1"/>
            <a:r>
              <a:rPr sz="1600" lang="en-GB" dirty="0">
                <a:solidFill>
                  <a:srgbClr val="1E1E1E"/>
                </a:solidFill>
              </a:rPr>
              <a:t>Entangled pair, Alice varies orientation: the critical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2.4  Stage 3 — Coherence Maintenance and Self-Healing</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quantum states don't last forever — they fade. This stage is about keeping the entanglement alive as long as possible using pulse sequences that fight the fading, and rebuilding it automatically when it does fade.</a:t>
            </a:r>
          </a:p>
          <a:p>
            <a:pPr algn="l"/>
            <a:r>
              <a:rPr sz="700" lang="en-GB" dirty="0">
                <a:solidFill>
                  <a:srgbClr val="1E1E1E"/>
                </a:solidFill>
              </a:rPr>
              <a:t/>
            </a:r>
          </a:p>
          <a:p>
            <a:pPr algn="l">
              <a:spcBef>
                <a:spcPts val="500"/>
              </a:spcBef>
            </a:pPr>
            <a:r>
              <a:rPr sz="1700" lang="en-GB" dirty="0" b="1">
                <a:solidFill>
                  <a:srgbClr val="1E3A5F"/>
                </a:solidFill>
              </a:rPr>
              <a:t>Dynamical decoupling</a:t>
            </a:r>
          </a:p>
          <a:p>
            <a:pPr algn="l"/>
            <a:r>
              <a:rPr sz="1600" lang="en-GB" dirty="0">
                <a:solidFill>
                  <a:srgbClr val="1E1E1E"/>
                </a:solidFill>
              </a:rPr>
              <a:t>Entangled states decohere due to magnetic field noise, phonon coupling, and charge noise. Dynamical decoupling (DD) applies precisely timed refocusing pulses that cancel slow-frequency noise by reversing accumulated phase error before it destroys the entanglement.</a:t>
            </a:r>
          </a:p>
          <a:p>
            <a:pPr algn="l"/>
            <a:r>
              <a:rPr sz="300" lang="en-GB" dirty="0">
                <a:solidFill>
                  <a:srgbClr val="1E1E1E"/>
                </a:solidFill>
              </a:rPr>
              <a:t/>
            </a:r>
          </a:p>
          <a:p>
            <a:pPr algn="l"/>
            <a:r>
              <a:rPr sz="1300" lang="en-GB" dirty="0">
                <a:solidFill>
                  <a:srgbClr val="1E1E1E"/>
                </a:solidFill>
                <a:latin typeface="Courier New"/>
              </a:rPr>
              <a:t>  Electron spin, no DD:        T₂* ≈ 1 ms</a:t>
            </a:r>
          </a:p>
          <a:p>
            <a:pPr algn="l"/>
            <a:r>
              <a:rPr sz="1300" lang="en-GB" dirty="0">
                <a:solidFill>
                  <a:srgbClr val="1E1E1E"/>
                </a:solidFill>
                <a:latin typeface="Courier New"/>
              </a:rPr>
              <a:t>  Electron spin, CPMG-8:       T₂  ≈ 1 s</a:t>
            </a:r>
          </a:p>
          <a:p>
            <a:pPr algn="l"/>
            <a:r>
              <a:rPr sz="1300" lang="en-GB" dirty="0">
                <a:solidFill>
                  <a:srgbClr val="1E1E1E"/>
                </a:solidFill>
                <a:latin typeface="Courier New"/>
              </a:rPr>
              <a:t>  Nuclear spin, XY-64:         T₂  ≈ 10 hours  (demonstrated)</a:t>
            </a:r>
          </a:p>
          <a:p>
            <a:pPr algn="l"/>
            <a:r>
              <a:rPr sz="700" lang="en-GB" dirty="0">
                <a:solidFill>
                  <a:srgbClr val="1E1E1E"/>
                </a:solidFill>
              </a:rPr>
              <a:t/>
            </a:r>
          </a:p>
          <a:p>
            <a:pPr algn="l">
              <a:spcBef>
                <a:spcPts val="500"/>
              </a:spcBef>
            </a:pPr>
            <a:r>
              <a:rPr sz="1700" lang="en-GB" dirty="0" b="1">
                <a:solidFill>
                  <a:srgbClr val="1E3A5F"/>
                </a:solidFill>
              </a:rPr>
              <a:t>Bootstrap re-entanglement protocol</a:t>
            </a:r>
          </a:p>
          <a:p>
            <a:pPr algn="l" lvl="1"/>
            <a:r>
              <a:rPr sz="1600" lang="en-GB" dirty="0">
                <a:solidFill>
                  <a:srgbClr val="1E1E1E"/>
                </a:solidFill>
              </a:rPr>
              <a:t>When a pair's coherence drops below threshold, the two flag ions (particles 11 and 12) coordinate a refresh: both devices simultaneously emit entanglement photons from a reserve Ca⁺ ion. A Bell measurement is performed at one site. The result is sent via the flag protocol. Correction pulses applied. New pair loaded. DD activated immediately.</a:t>
            </a:r>
          </a:p>
          <a:p>
            <a:pPr algn="l"/>
            <a:r>
              <a:rPr sz="700" lang="en-GB" dirty="0">
                <a:solidFill>
                  <a:srgbClr val="1E1E1E"/>
                </a:solidFill>
              </a:rPr>
              <a:t/>
            </a:r>
          </a:p>
          <a:p>
            <a:pPr algn="l">
              <a:spcBef>
                <a:spcPts val="500"/>
              </a:spcBef>
            </a:pPr>
            <a:r>
              <a:rPr sz="1700" lang="en-GB" dirty="0" b="1">
                <a:solidFill>
                  <a:srgbClr val="1E3A5F"/>
                </a:solidFill>
              </a:rPr>
              <a:t>Stability condition</a:t>
            </a:r>
          </a:p>
          <a:p>
            <a:pPr algn="l"/>
            <a:r>
              <a:rPr sz="1300" lang="en-GB" dirty="0">
                <a:solidFill>
                  <a:srgbClr val="1E1E1E"/>
                </a:solidFill>
                <a:latin typeface="Courier New"/>
              </a:rPr>
              <a:t>  R_refresh &gt; R_decoherence</a:t>
            </a:r>
          </a:p>
          <a:p>
            <a:pPr algn="l"/>
            <a:r>
              <a:rPr sz="1300" lang="en-GB" dirty="0">
                <a:solidFill>
                  <a:srgbClr val="1E1E1E"/>
                </a:solidFill>
                <a:latin typeface="Courier New"/>
              </a:rPr>
              <a:t>  1/t_refresh  &gt;  N_pairs / τ_c</a:t>
            </a:r>
          </a:p>
          <a:p>
            <a:pPr algn="l"/>
            <a:r>
              <a:rPr sz="1300" lang="en-GB" dirty="0">
                <a:solidFill>
                  <a:srgbClr val="1E1E1E"/>
                </a:solidFill>
                <a:latin typeface="Courier New"/>
              </a:rPr>
              <a:t>  Ca⁺ nuclear spin (τ_c = 36,000 s): one flag ion channel</a:t>
            </a:r>
          </a:p>
          <a:p>
            <a:pPr algn="l"/>
            <a:r>
              <a:rPr sz="1300" lang="en-GB" dirty="0">
                <a:solidFill>
                  <a:srgbClr val="1E1E1E"/>
                </a:solidFill>
                <a:latin typeface="Courier New"/>
              </a:rPr>
              <a:t>  is sufficient to maintain 10 data pairs indefinitely.</a:t>
            </a:r>
          </a:p>
          <a:p>
            <a:pPr algn="l"/>
            <a:r>
              <a:rPr sz="700" lang="en-GB" dirty="0">
                <a:solidFill>
                  <a:srgbClr val="1E1E1E"/>
                </a:solidFill>
              </a:rPr>
              <a:t/>
            </a:r>
          </a:p>
          <a:p>
            <a:pPr algn="l"/>
            <a:r>
              <a:rPr sz="1600" lang="en-GB" dirty="0">
                <a:solidFill>
                  <a:srgbClr val="1E1E1E"/>
                </a:solidFill>
              </a:rPr>
              <a:t>The ion reserve is a store of ordinary unentangled Ca⁺ ions, replenished by photoionisation from a calcium metal source on-chip. No pre-entangled pairs required in the reserve.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Part 3 — System Architecture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What this section covers: how to build the actual device, assuming the experiment confirms the effect works. Every component described here uses existing or near-term technology.</a:t>
            </a:r>
          </a:p>
          <a:p>
            <a:pPr algn="l"/>
            <a:r>
              <a:rPr sz="700" lang="en-GB" dirty="0">
                <a:solidFill>
                  <a:srgbClr val="1E1E1E"/>
                </a:solidFill>
              </a:rPr>
              <a:t/>
            </a:r>
          </a:p>
          <a:p>
            <a:pPr algn="l" lvl="1"/>
            <a:r>
              <a:rPr sz="1600" lang="en-GB" dirty="0">
                <a:solidFill>
                  <a:srgbClr val="1E1E1E"/>
                </a:solidFill>
              </a:rPr>
              <a:t>3.1  Manufacturing — how both units are made from one trap.</a:t>
            </a:r>
          </a:p>
          <a:p>
            <a:pPr algn="l" lvl="1"/>
            <a:r>
              <a:rPr sz="1600" lang="en-GB" dirty="0">
                <a:solidFill>
                  <a:srgbClr val="1E1E1E"/>
                </a:solidFill>
              </a:rPr>
              <a:t>3.2  Write mechanism — how to set ion orientation.</a:t>
            </a:r>
          </a:p>
          <a:p>
            <a:pPr algn="l" lvl="1"/>
            <a:r>
              <a:rPr sz="1600" lang="en-GB" dirty="0">
                <a:solidFill>
                  <a:srgbClr val="1E1E1E"/>
                </a:solidFill>
              </a:rPr>
              <a:t>3.3  Read mechanism — how to measure ion orientation.</a:t>
            </a:r>
          </a:p>
          <a:p>
            <a:pPr algn="l" lvl="1"/>
            <a:r>
              <a:rPr sz="1600" lang="en-GB" dirty="0">
                <a:solidFill>
                  <a:srgbClr val="1E1E1E"/>
                </a:solidFill>
              </a:rPr>
              <a:t>3.3b Fluorescence photon direction — an interesting side question.</a:t>
            </a:r>
          </a:p>
          <a:p>
            <a:pPr algn="l" lvl="1"/>
            <a:r>
              <a:rPr sz="1600" lang="en-GB" dirty="0">
                <a:solidFill>
                  <a:srgbClr val="1E1E1E"/>
                </a:solidFill>
              </a:rPr>
              <a:t>3.4  12-particle line protocol — the flag-based handshake.</a:t>
            </a:r>
          </a:p>
          <a:p>
            <a:pPr algn="l" lvl="1"/>
            <a:r>
              <a:rPr sz="1600" lang="en-GB" dirty="0">
                <a:solidFill>
                  <a:srgbClr val="1E1E1E"/>
                </a:solidFill>
              </a:rPr>
              <a:t>3.5  Chip-scale integration — the target form factor.</a:t>
            </a:r>
          </a:p>
          <a:p>
            <a:pPr algn="l" lvl="1"/>
            <a:r>
              <a:rPr sz="1600" lang="en-GB" dirty="0">
                <a:solidFill>
                  <a:srgbClr val="1E1E1E"/>
                </a:solidFill>
              </a:rPr>
              <a:t>3.6  Substrate materials — what else could be used.</a:t>
            </a:r>
          </a:p>
          <a:p>
            <a:pPr algn="l"/>
            <a:r>
              <a:rPr sz="700" lang="en-GB" dirty="0">
                <a:solidFill>
                  <a:srgbClr val="1E1E1E"/>
                </a:solidFill>
              </a:rPr>
              <a:t/>
            </a:r>
          </a:p>
          <a:p>
            <a:pPr algn="l"/>
            <a:r>
              <a:rPr sz="1300" lang="en-GB" dirty="0">
                <a:solidFill>
                  <a:srgbClr val="788598"/>
                </a:solidFill>
              </a:rPr>
              <a:t>All hardware described here is an engineering extrapolation of demonstrated laboratory techniques.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3.1  Manufacturing Process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b="1">
                <a:solidFill>
                  <a:srgbClr val="1A5676"/>
                </a:solidFill>
              </a:rPr>
              <a:t>In plain terms: both EMT units are built separately. Entanglement is loaded in after manufacture, either by delivering a pair of seed ions to each unit, or — if retroactive causality works — not at all.</a:t>
            </a:r>
          </a:p>
          <a:p>
            <a:pPr algn="l"/>
            <a:r>
              <a:rPr sz="700" lang="en-GB">
                <a:solidFill>
                  <a:srgbClr val="1E1E1E"/>
                </a:solidFill>
              </a:rPr>
              <a:t/>
            </a:r>
          </a:p>
          <a:p>
            <a:pPr algn="l">
              <a:spcBef>
                <a:spcPts val="500"/>
              </a:spcBef>
            </a:pPr>
            <a:r>
              <a:rPr sz="1700" lang="en-GB" b="1">
                <a:solidFill>
                  <a:srgbClr val="1E3A5F"/>
                </a:solidFill>
              </a:rPr>
              <a:t>Method 1 — Seed ion delivery (confirmed physics)</a:t>
            </a:r>
          </a:p>
          <a:p>
            <a:pPr algn="l" lvl="1"/>
            <a:r>
              <a:rPr sz="1600" lang="en-GB">
                <a:solidFill>
                  <a:srgbClr val="1E1E1E"/>
                </a:solidFill>
              </a:rPr>
              <a:t>Two Ca⁺ ions are entangled in a lab using the Mølmer–Sørensen gate. One ion is transported to Unit A, one to Unit B, each in a portable sealed UHV trap. These form the seed pair from which the full 12-ion chain is bootstrapped.</a:t>
            </a:r>
          </a:p>
          <a:p>
            <a:pPr algn="l" lvl="1"/>
            <a:r>
              <a:rPr sz="1600" lang="en-GB">
                <a:solidFill>
                  <a:srgbClr val="1E1E1E"/>
                </a:solidFill>
              </a:rPr>
              <a:t>Transport coherence is maintained by DD pulses. Only one entangled pair needs to survive transit.</a:t>
            </a:r>
          </a:p>
          <a:p>
            <a:pPr algn="l"/>
            <a:r>
              <a:rPr sz="700" lang="en-GB">
                <a:solidFill>
                  <a:srgbClr val="1E1E1E"/>
                </a:solidFill>
              </a:rPr>
              <a:t/>
            </a:r>
          </a:p>
          <a:p>
            <a:pPr algn="l">
              <a:spcBef>
                <a:spcPts val="500"/>
              </a:spcBef>
            </a:pPr>
            <a:r>
              <a:rPr sz="1700" lang="en-GB" b="1">
                <a:solidFill>
                  <a:srgbClr val="1E3A5F"/>
                </a:solidFill>
              </a:rPr>
              <a:t>Method 2 — No pre-entanglement (speculative)</a:t>
            </a:r>
          </a:p>
          <a:p>
            <a:pPr algn="l" lvl="1"/>
            <a:r>
              <a:rPr sz="1600" lang="en-GB">
                <a:solidFill>
                  <a:srgbClr val="1E1E1E"/>
                </a:solidFill>
              </a:rPr>
              <a:t>If the virtual Bell measurement protocol works, each unit is built with 12 ordinary unentangled Ca⁺ ions. Entanglement is established on demand via the pairing code. Contingent on Level 2 physics (section 5.4).</a:t>
            </a:r>
          </a:p>
          <a:p>
            <a:pPr algn="l"/>
            <a:r>
              <a:rPr sz="700" lang="en-GB">
                <a:solidFill>
                  <a:srgbClr val="1E1E1E"/>
                </a:solidFill>
              </a:rPr>
              <a:t/>
            </a:r>
          </a:p>
          <a:p>
            <a:pPr algn="l">
              <a:spcBef>
                <a:spcPts val="500"/>
              </a:spcBef>
            </a:pPr>
            <a:r>
              <a:rPr sz="1700" lang="en-GB" b="1">
                <a:solidFill>
                  <a:srgbClr val="1E3A5F"/>
                </a:solidFill>
              </a:rPr>
              <a:t>Per-unit build steps</a:t>
            </a:r>
          </a:p>
          <a:p>
            <a:pPr algn="l" lvl="1"/>
            <a:r>
              <a:rPr sz="1600" lang="en-GB">
                <a:solidFill>
                  <a:srgbClr val="1E1E1E"/>
                </a:solidFill>
              </a:rPr>
              <a:t>1. Ion trap chip fabricated by e-beam lithography. Miniature write coils in the same step.</a:t>
            </a:r>
          </a:p>
          <a:p>
            <a:pPr algn="l" lvl="1"/>
            <a:r>
              <a:rPr sz="1600" lang="en-GB">
                <a:solidFill>
                  <a:srgbClr val="1E1E1E"/>
                </a:solidFill>
              </a:rPr>
              <a:t>2. Glass or fused silica vacuum envelope sealed around chip. Getter pump inside. Optical windows for laser access.</a:t>
            </a:r>
          </a:p>
          <a:p>
            <a:pPr algn="l" lvl="1"/>
            <a:r>
              <a:rPr sz="1600" lang="en-GB">
                <a:solidFill>
                  <a:srgbClr val="1E1E1E"/>
                </a:solidFill>
              </a:rPr>
              <a:t>3. Ca metal loaded; photoionised (423+375 nm) to Ca⁺. 12-ion chain formed.</a:t>
            </a:r>
          </a:p>
          <a:p>
            <a:pPr algn="l" lvl="1"/>
            <a:r>
              <a:rPr sz="1600" lang="en-GB">
                <a:solidFill>
                  <a:srgbClr val="1E1E1E"/>
                </a:solidFill>
              </a:rPr>
              <a:t>4. Laser cooling: Doppler (397+866 nm) then sideband (729 nm) to motional ground state ⟨n⟩ &lt; 0.05.</a:t>
            </a:r>
          </a:p>
          <a:p>
            <a:pPr algn="l" lvl="1"/>
            <a:r>
              <a:rPr sz="1600" lang="en-GB">
                <a:solidFill>
                  <a:srgbClr val="1E1E1E"/>
                </a:solidFill>
              </a:rPr>
              <a:t>5. Seed ion installed and bootstrap entanglement built (Method 1), or pairing code loaded (Method 2). DD activated.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3.1  Manufacturing — Diagram</a:t>
            </a:r>
          </a:p>
        </p:txBody>
      </p:sp>
      <p:sp>
        <p:nvSpPr>
          <p:cNvPr id="3" name="TextBox 2"/>
          <p:cNvSpPr txBox="1"/>
          <p:nvPr/>
        </p:nvSpPr>
        <p:spPr>
          <a:xfrm>
            <a:off x="150187" y="8778240"/>
            <a:ext cx="6563531" cy="822960"/>
          </a:xfrm>
          <a:prstGeom prst="rect">
            <a:avLst/>
          </a:prstGeom>
          <a:noFill/>
        </p:spPr>
        <p:txBody>
          <a:bodyPr wrap="square">
            <a:spAutoFit/>
          </a:bodyPr>
          <a:lstStyle/>
          <a:p>
            <a:pPr algn="l"/>
            <a:r>
              <a:rPr sz="1300" lang="en-GB" dirty="0">
                <a:solidFill>
                  <a:srgbClr val="788598"/>
                </a:solidFill>
              </a:rPr>
              <a:t>Schematic of Ca⁺ ion trap manufacturing steps. Both units are built independently; entanglement is established by seed ion delivery or bootstrap protocol after build.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3.2  Write Mechanism — Miniature Coil</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each ion has a tiny wire coil around it, like a miniature electromagnet. A brief pulse of current rotates the ion's spin to whatever angle the MCU tells it to — the same way a compass needle swings when you move a magnet near it.</a:t>
            </a:r>
          </a:p>
          <a:p>
            <a:pPr algn="l"/>
            <a:r>
              <a:rPr sz="700" lang="en-GB" dirty="0">
                <a:solidFill>
                  <a:srgbClr val="1E1E1E"/>
                </a:solidFill>
              </a:rPr>
              <a:t/>
            </a:r>
          </a:p>
          <a:p>
            <a:pPr algn="l">
              <a:spcBef>
                <a:spcPts val="500"/>
              </a:spcBef>
            </a:pPr>
            <a:r>
              <a:rPr sz="1700" lang="en-GB" dirty="0" b="1">
                <a:solidFill>
                  <a:srgbClr val="1E3A5F"/>
                </a:solidFill>
              </a:rPr>
              <a:t>Operating principle</a:t>
            </a:r>
          </a:p>
          <a:p>
            <a:pPr algn="l"/>
            <a:r>
              <a:rPr sz="1600" lang="en-GB" dirty="0">
                <a:solidFill>
                  <a:srgbClr val="1E1E1E"/>
                </a:solidFill>
              </a:rPr>
              <a:t>Each ion's trap zone is surrounded by a nanoscale coil fabricated in the same electron-beam lithography step as the electrode geometry. A current pulse through the coil generates a localised magnetic field. The field pulse drives a Rabi oscillation that rotates the spin state to any target angle with nanosecond precision.</a:t>
            </a:r>
          </a:p>
          <a:p>
            <a:pPr algn="l"/>
            <a:r>
              <a:rPr sz="700" lang="en-GB" dirty="0">
                <a:solidFill>
                  <a:srgbClr val="1E1E1E"/>
                </a:solidFill>
              </a:rPr>
              <a:t/>
            </a:r>
          </a:p>
          <a:p>
            <a:pPr algn="l">
              <a:spcBef>
                <a:spcPts val="500"/>
              </a:spcBef>
            </a:pPr>
            <a:r>
              <a:rPr sz="1700" lang="en-GB" dirty="0" b="1">
                <a:solidFill>
                  <a:srgbClr val="1E3A5F"/>
                </a:solidFill>
              </a:rPr>
              <a:t>Rotation mechanics</a:t>
            </a:r>
          </a:p>
          <a:p>
            <a:pPr algn="l"/>
            <a:r>
              <a:rPr sz="1600" lang="en-GB" dirty="0">
                <a:solidFill>
                  <a:srgbClr val="1E1E1E"/>
                </a:solidFill>
              </a:rPr>
              <a:t>Rotation angle: θ = Ω_R · τ, where Ω_R = μ_B B_coil / ħ is the Rabi frequency and τ is the pulse duration. Pulse phase sets the rotation axis on the Bloch sphere. Arbitrary angles achievable with &lt; 0.1° precision.</a:t>
            </a:r>
          </a:p>
          <a:p>
            <a:pPr algn="l"/>
            <a:r>
              <a:rPr sz="700" lang="en-GB" dirty="0">
                <a:solidFill>
                  <a:srgbClr val="1E1E1E"/>
                </a:solidFill>
              </a:rPr>
              <a:t/>
            </a:r>
          </a:p>
          <a:p>
            <a:pPr algn="l">
              <a:spcBef>
                <a:spcPts val="500"/>
              </a:spcBef>
            </a:pPr>
            <a:r>
              <a:rPr sz="1700" lang="en-GB" dirty="0" b="1">
                <a:solidFill>
                  <a:srgbClr val="1E3A5F"/>
                </a:solidFill>
              </a:rPr>
              <a:t>Coil specifications</a:t>
            </a:r>
          </a:p>
          <a:p>
            <a:pPr algn="l"/>
            <a:r>
              <a:rPr sz="1300" lang="en-GB" dirty="0">
                <a:solidFill>
                  <a:srgbClr val="1E1E1E"/>
                </a:solidFill>
                <a:latin typeface="Courier New"/>
              </a:rPr>
              <a:t>  Diameter:      50–200 nm (scales with ion spacing)</a:t>
            </a:r>
          </a:p>
          <a:p>
            <a:pPr algn="l"/>
            <a:r>
              <a:rPr sz="1300" lang="en-GB" dirty="0">
                <a:solidFill>
                  <a:srgbClr val="1E1E1E"/>
                </a:solidFill>
                <a:latin typeface="Courier New"/>
              </a:rPr>
              <a:t>  Wire material: NbTi superconducting or standard Cu</a:t>
            </a:r>
          </a:p>
          <a:p>
            <a:pPr algn="l"/>
            <a:r>
              <a:rPr sz="1300" lang="en-GB" dirty="0">
                <a:solidFill>
                  <a:srgbClr val="1E1E1E"/>
                </a:solidFill>
                <a:latin typeface="Courier New"/>
              </a:rPr>
              <a:t>  Field strength: 1–100 mT at ion position</a:t>
            </a:r>
          </a:p>
          <a:p>
            <a:pPr algn="l"/>
            <a:r>
              <a:rPr sz="1300" lang="en-GB" dirty="0">
                <a:solidFill>
                  <a:srgbClr val="1E1E1E"/>
                </a:solidFill>
                <a:latin typeface="Courier New"/>
              </a:rPr>
              <a:t>  Pulse duration: 1–100 ns (Rabi π-pulse for full flip)</a:t>
            </a:r>
          </a:p>
          <a:p>
            <a:pPr algn="l"/>
            <a:r>
              <a:rPr sz="1300" lang="en-GB" dirty="0">
                <a:solidFill>
                  <a:srgbClr val="1E1E1E"/>
                </a:solidFill>
                <a:latin typeface="Courier New"/>
              </a:rPr>
              <a:t>  Addressing:    individual ion via MCU GPIO</a:t>
            </a:r>
          </a:p>
          <a:p>
            <a:pPr algn="l"/>
            <a:r>
              <a:rPr sz="1300" lang="en-GB" dirty="0">
                <a:solidFill>
                  <a:srgbClr val="1E1E1E"/>
                </a:solidFill>
                <a:latin typeface="Courier New"/>
              </a:rPr>
              <a:t>  Fabrication:   e-beam litho, same mask as electrode geometry</a:t>
            </a:r>
          </a:p>
          <a:p>
            <a:pPr algn="l"/>
            <a:r>
              <a:rPr sz="700" lang="en-GB" dirty="0">
                <a:solidFill>
                  <a:srgbClr val="1E1E1E"/>
                </a:solidFill>
              </a:rPr>
              <a:t/>
            </a:r>
          </a:p>
          <a:p>
            <a:pPr algn="l"/>
            <a:r>
              <a:rPr sz="1600" lang="en-GB" dirty="0">
                <a:solidFill>
                  <a:srgbClr val="1E1E1E"/>
                </a:solidFill>
              </a:rPr>
              <a:t>No optical alignment required. Write operations are entirely electrical, controlled by MCU GPIO output. The flag ions (particles 11 and 12) are written using the same mechanism with 90°-spaced angles for the four protocol states.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3.2  Write Mechanism — Diagram</a:t>
            </a:r>
          </a:p>
        </p:txBody>
      </p:sp>
      <p:pic>
        <p:nvPicPr>
          <p:cNvPr id="3" name="Picture 2" descr="image3.png"/>
          <p:cNvPicPr>
            <a:picLocks noChangeAspect="1"/>
          </p:cNvPicPr>
          <p:nvPr/>
        </p:nvPicPr>
        <p:blipFill>
          <a:blip r:embed="rId2"/>
          <a:stretch>
            <a:fillRect/>
          </a:stretch>
        </p:blipFill>
        <p:spPr>
          <a:xfrm>
            <a:off x="36576" y="594360"/>
            <a:ext cx="6784848" cy="8961120"/>
          </a:xfrm>
          <a:prstGeom prst="rect">
            <a:avLst/>
          </a:prstGeom>
        </p:spPr>
      </p:pic>
      <p:sp>
        <p:nvSpPr>
          <p:cNvPr id="4" name="TextBox 3"/>
          <p:cNvSpPr txBox="1"/>
          <p:nvPr/>
        </p:nvSpPr>
        <p:spPr>
          <a:xfrm>
            <a:off x="150187" y="8778240"/>
            <a:ext cx="6563531" cy="822960"/>
          </a:xfrm>
          <a:prstGeom prst="rect">
            <a:avLst/>
          </a:prstGeom>
          <a:noFill/>
        </p:spPr>
        <p:txBody>
          <a:bodyPr wrap="square">
            <a:spAutoFit/>
          </a:bodyPr>
          <a:lstStyle/>
          <a:p>
            <a:pPr algn="l"/>
            <a:r>
              <a:rPr sz="1300" lang="en-GB" dirty="0">
                <a:solidFill>
                  <a:srgbClr val="788598"/>
                </a:solidFill>
              </a:rPr>
              <a:t>Miniature coil per ion — MCU-driven magnetic pulse sets orientation angle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3.3  Read Mechanism — Weak Measurement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a very faint laser beam is shone on the ion. The ion glows slightly in response. How brightly it glows depends on which direction it is pointing. By measuring the brightness with two different light polarisations, the MCU works out the angle. Because the light is faint, the ion's state is barely disturbed.</a:t>
            </a:r>
          </a:p>
          <a:p>
            <a:pPr algn="l"/>
            <a:r>
              <a:rPr sz="700" lang="en-GB" dirty="0">
                <a:solidFill>
                  <a:srgbClr val="1E1E1E"/>
                </a:solidFill>
              </a:rPr>
              <a:t/>
            </a:r>
          </a:p>
          <a:p>
            <a:pPr algn="l">
              <a:spcBef>
                <a:spcPts val="500"/>
              </a:spcBef>
            </a:pPr>
            <a:r>
              <a:rPr sz="1700" lang="en-GB" dirty="0" b="1">
                <a:solidFill>
                  <a:srgbClr val="1E3A5F"/>
                </a:solidFill>
              </a:rPr>
              <a:t>Mechanism</a:t>
            </a:r>
          </a:p>
          <a:p>
            <a:pPr algn="l"/>
            <a:r>
              <a:rPr sz="1600" lang="en-GB" dirty="0">
                <a:solidFill>
                  <a:srgbClr val="1E1E1E"/>
                </a:solidFill>
              </a:rPr>
              <a:t>Ion orientation is read by weak measurement using a low-power 397 nm probe. The probe drives the S₁/₂ → P₁/₂ transition in Ca⁺. Fluorescence intensity is proportional to the spin projection onto the probe polarisation axis.</a:t>
            </a:r>
          </a:p>
          <a:p>
            <a:pPr algn="l"/>
            <a:r>
              <a:rPr sz="700" lang="en-GB" dirty="0">
                <a:solidFill>
                  <a:srgbClr val="1E1E1E"/>
                </a:solidFill>
              </a:rPr>
              <a:t/>
            </a:r>
          </a:p>
          <a:p>
            <a:pPr algn="l">
              <a:spcBef>
                <a:spcPts val="500"/>
              </a:spcBef>
            </a:pPr>
            <a:r>
              <a:rPr sz="1700" lang="en-GB" dirty="0" b="1">
                <a:solidFill>
                  <a:srgbClr val="1E3A5F"/>
                </a:solidFill>
              </a:rPr>
              <a:t>Polarimetry protocol</a:t>
            </a:r>
          </a:p>
          <a:p>
            <a:pPr algn="l" lvl="1"/>
            <a:r>
              <a:rPr sz="1600" lang="en-GB" dirty="0">
                <a:solidFill>
                  <a:srgbClr val="1E1E1E"/>
                </a:solidFill>
              </a:rPr>
              <a:t>Probe with σ+ polarisation: I⁺ ∝ cos²(θ/2).</a:t>
            </a:r>
          </a:p>
          <a:p>
            <a:pPr algn="l" lvl="1"/>
            <a:r>
              <a:rPr sz="1600" lang="en-GB" dirty="0">
                <a:solidFill>
                  <a:srgbClr val="1E1E1E"/>
                </a:solidFill>
              </a:rPr>
              <a:t>Probe with σ− polarisation: I− ∝ sin²(θ/2).</a:t>
            </a:r>
          </a:p>
          <a:p>
            <a:pPr algn="l" lvl="1"/>
            <a:r>
              <a:rPr sz="1600" lang="en-GB" dirty="0">
                <a:solidFill>
                  <a:srgbClr val="1E1E1E"/>
                </a:solidFill>
              </a:rPr>
              <a:t>Angle recovery: θ = 2·arctan(√(I−/I⁺)).</a:t>
            </a:r>
          </a:p>
          <a:p>
            <a:pPr algn="l" lvl="1"/>
            <a:r>
              <a:rPr sz="1600" lang="en-GB" dirty="0">
                <a:solidFill>
                  <a:srgbClr val="1E1E1E"/>
                </a:solidFill>
              </a:rPr>
              <a:t>Readout fidelity: &gt; 99.9% per shot demonstrated for Ca⁺.</a:t>
            </a:r>
          </a:p>
          <a:p>
            <a:pPr algn="l"/>
            <a:r>
              <a:rPr sz="700" lang="en-GB" dirty="0">
                <a:solidFill>
                  <a:srgbClr val="1E1E1E"/>
                </a:solidFill>
              </a:rPr>
              <a:t/>
            </a:r>
          </a:p>
          <a:p>
            <a:pPr algn="l">
              <a:spcBef>
                <a:spcPts val="500"/>
              </a:spcBef>
            </a:pPr>
            <a:r>
              <a:rPr sz="1700" lang="en-GB" dirty="0" b="1">
                <a:solidFill>
                  <a:srgbClr val="1E3A5F"/>
                </a:solidFill>
              </a:rPr>
              <a:t>Photon emission direction</a:t>
            </a:r>
          </a:p>
          <a:p>
            <a:pPr algn="l"/>
            <a:r>
              <a:rPr sz="1600" lang="en-GB" dirty="0">
                <a:solidFill>
                  <a:srgbClr val="1E1E1E"/>
                </a:solidFill>
              </a:rPr>
              <a:t>The 397 nm transition is an electric dipole transition. The emission pattern is a torus — strongest perpendicular to the dipole axis, zero along it. Spin orientation controls fluorescence intensity and polarisation, not the direction of emitted photons. The angle is recovered from the intensity ratio, not from photon direction.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3.3  Read Mechanism — Diagram</a:t>
            </a:r>
          </a:p>
        </p:txBody>
      </p:sp>
      <p:pic>
        <p:nvPicPr>
          <p:cNvPr id="3" name="Picture 2" descr="read_gs.png"/>
          <p:cNvPicPr>
            <a:picLocks noChangeAspect="1"/>
          </p:cNvPicPr>
          <p:nvPr/>
        </p:nvPicPr>
        <p:blipFill>
          <a:blip r:embed="rId2"/>
          <a:stretch>
            <a:fillRect/>
          </a:stretch>
        </p:blipFill>
        <p:spPr>
          <a:xfrm>
            <a:off x="36576" y="594360"/>
            <a:ext cx="6784848" cy="8961120"/>
          </a:xfrm>
          <a:prstGeom prst="rect">
            <a:avLst/>
          </a:prstGeom>
        </p:spPr>
      </p:pic>
      <p:sp>
        <p:nvSpPr>
          <p:cNvPr id="4" name="TextBox 3"/>
          <p:cNvSpPr txBox="1"/>
          <p:nvPr/>
        </p:nvSpPr>
        <p:spPr>
          <a:xfrm>
            <a:off x="150187" y="8778240"/>
            <a:ext cx="6563531" cy="822960"/>
          </a:xfrm>
          <a:prstGeom prst="rect">
            <a:avLst/>
          </a:prstGeom>
          <a:noFill/>
        </p:spPr>
        <p:txBody>
          <a:bodyPr wrap="square">
            <a:spAutoFit/>
          </a:bodyPr>
          <a:lstStyle/>
          <a:p>
            <a:pPr algn="l"/>
            <a:r>
              <a:rPr sz="1300" lang="en-GB" dirty="0">
                <a:solidFill>
                  <a:srgbClr val="788598"/>
                </a:solidFill>
              </a:rPr>
              <a:t>Three read methods — Method 3 (ensemble averaging) is the primary EMT read mode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3.3b  Fluorescence Emission — The Dark Axis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 ion emits light in a doughnut shape — there is a dark cone along one axis where no light comes out. Could that dark direction be used as a pointer? Short answer: it points along the probe laser axis, not the ion's spin. But the idea has a real cousin in microscopy.</a:t>
            </a:r>
          </a:p>
          <a:p>
            <a:pPr algn="l"/>
            <a:r>
              <a:rPr sz="700" lang="en-GB" dirty="0">
                <a:solidFill>
                  <a:srgbClr val="1E1E1E"/>
                </a:solidFill>
              </a:rPr>
              <a:t/>
            </a:r>
          </a:p>
          <a:p>
            <a:pPr algn="l">
              <a:spcBef>
                <a:spcPts val="500"/>
              </a:spcBef>
            </a:pPr>
            <a:r>
              <a:rPr sz="1700" lang="en-GB" dirty="0" b="1">
                <a:solidFill>
                  <a:srgbClr val="1E3A5F"/>
                </a:solidFill>
              </a:rPr>
              <a:t>The emission torus</a:t>
            </a:r>
          </a:p>
          <a:p>
            <a:pPr algn="l"/>
            <a:r>
              <a:rPr sz="1600" lang="en-GB" dirty="0">
                <a:solidFill>
                  <a:srgbClr val="1E1E1E"/>
                </a:solidFill>
              </a:rPr>
              <a:t>Electric dipole radiation has zero emission along the dipole axis and maximum emission in the perpendicular plane. This creates a dark cone along the axis of the probe laser polarisation. Importantly, the dark axis is fixed by the probe geometry, not by the spin orientation angle θ. Rotating Alice's spin does not rotate the dark cone.</a:t>
            </a:r>
          </a:p>
          <a:p>
            <a:pPr algn="l"/>
            <a:r>
              <a:rPr sz="700" lang="en-GB" dirty="0">
                <a:solidFill>
                  <a:srgbClr val="1E1E1E"/>
                </a:solidFill>
              </a:rPr>
              <a:t/>
            </a:r>
          </a:p>
          <a:p>
            <a:pPr algn="l">
              <a:spcBef>
                <a:spcPts val="500"/>
              </a:spcBef>
            </a:pPr>
            <a:r>
              <a:rPr sz="1700" lang="en-GB" dirty="0" b="1">
                <a:solidFill>
                  <a:srgbClr val="1E3A5F"/>
                </a:solidFill>
              </a:rPr>
              <a:t>Why the dark axis cannot be used as a spin pointer</a:t>
            </a:r>
          </a:p>
          <a:p>
            <a:pPr algn="l"/>
            <a:r>
              <a:rPr sz="1600" lang="en-GB" dirty="0">
                <a:solidFill>
                  <a:srgbClr val="1E1E1E"/>
                </a:solidFill>
              </a:rPr>
              <a:t>The dark region aligns with the probe laser axis — a fixed direction in the lab frame determined by how the experiment is set up, not by the quantum state of the ion. The spin orientation θ modulates fluorescence intensity and polarisation, but does not change the spatial direction of the radiation pattern.</a:t>
            </a:r>
          </a:p>
          <a:p>
            <a:pPr algn="l"/>
            <a:r>
              <a:rPr sz="700" lang="en-GB" dirty="0">
                <a:solidFill>
                  <a:srgbClr val="1E1E1E"/>
                </a:solidFill>
              </a:rPr>
              <a:t/>
            </a:r>
          </a:p>
          <a:p>
            <a:pPr algn="l">
              <a:spcBef>
                <a:spcPts val="500"/>
              </a:spcBef>
            </a:pPr>
            <a:r>
              <a:rPr sz="1700" lang="en-GB" dirty="0" b="1">
                <a:solidFill>
                  <a:srgbClr val="1E3A5F"/>
                </a:solidFill>
              </a:rPr>
              <a:t>The real analogue — STED microscopy</a:t>
            </a:r>
          </a:p>
          <a:p>
            <a:pPr algn="l" lvl="1"/>
            <a:r>
              <a:rPr sz="1600" lang="en-GB" dirty="0">
                <a:solidFill>
                  <a:srgbClr val="1E1E1E"/>
                </a:solidFill>
              </a:rPr>
              <a:t>This is not a dead end as a concept. Stimulated Emission Depletion (STED) microscopy uses exactly a doughnut-shaped dark region to achieve sub-diffraction resolution. A doughnut beam depletes fluorescence everywhere except at the dark centre, allowing localisation below the diffraction limit. The principle of using the dark region as a pointer is real — but it points to position, not spin orientation.</a:t>
            </a:r>
          </a:p>
          <a:p>
            <a:pPr algn="l"/>
            <a:r>
              <a:rPr sz="700" lang="en-GB" dirty="0">
                <a:solidFill>
                  <a:srgbClr val="1E1E1E"/>
                </a:solidFill>
              </a:rPr>
              <a:t/>
            </a:r>
          </a:p>
          <a:p>
            <a:pPr algn="l">
              <a:spcBef>
                <a:spcPts val="500"/>
              </a:spcBef>
            </a:pPr>
            <a:r>
              <a:rPr sz="1700" lang="en-GB" dirty="0" b="1">
                <a:solidFill>
                  <a:srgbClr val="1E3A5F"/>
                </a:solidFill>
              </a:rPr>
              <a:t>The chiral waveguide exception</a:t>
            </a:r>
          </a:p>
          <a:p>
            <a:pPr algn="l" lvl="1"/>
            <a:r>
              <a:rPr sz="1600" lang="en-GB" dirty="0">
                <a:solidFill>
                  <a:srgbClr val="1E1E1E"/>
                </a:solidFill>
              </a:rPr>
              <a:t>In a chiral nanophotonic waveguide, spin-momentum locking causes emission preferentially left or right depending on spin state. Here photon direction IS a pointer to the spin projection. This is experimentally demonstrated and would make the EMT read mechanism directional rather than intensity-based. It requires coupling the ions to a nanophotonic structure — an active research direction and a potential future upgrade.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3.4  The 12-Particle Line and Flag Protocol</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in a linear ion trap, the 12 ions sit in a line. Ten of them carry the message. One is a flag that tells the other device what Device A is doing right now. The last one is Device B's flag. The flags work like traffic lights — they stop one device from writing while the other is still reading.</a:t>
            </a:r>
          </a:p>
          <a:p>
            <a:pPr algn="l"/>
            <a:r>
              <a:rPr sz="700" lang="en-GB" dirty="0">
                <a:solidFill>
                  <a:srgbClr val="1E1E1E"/>
                </a:solidFill>
              </a:rPr>
              <a:t/>
            </a:r>
          </a:p>
          <a:p>
            <a:pPr algn="l">
              <a:spcBef>
                <a:spcPts val="500"/>
              </a:spcBef>
            </a:pPr>
            <a:r>
              <a:rPr sz="1700" lang="en-GB" dirty="0" b="1">
                <a:solidFill>
                  <a:srgbClr val="1E3A5F"/>
                </a:solidFill>
              </a:rPr>
              <a:t>Particle assignments</a:t>
            </a:r>
          </a:p>
          <a:p>
            <a:pPr algn="l"/>
            <a:r>
              <a:rPr sz="1300" lang="en-GB" dirty="0">
                <a:solidFill>
                  <a:srgbClr val="1E1E1E"/>
                </a:solidFill>
                <a:latin typeface="Courier New"/>
              </a:rPr>
              <a:t>  Ions 1–10:   Data ensemble (orientation angle θ)</a:t>
            </a:r>
          </a:p>
          <a:p>
            <a:pPr algn="l"/>
            <a:r>
              <a:rPr sz="1300" lang="en-GB" dirty="0">
                <a:solidFill>
                  <a:srgbClr val="1E1E1E"/>
                </a:solidFill>
                <a:latin typeface="Courier New"/>
              </a:rPr>
              <a:t>              All 10 set to the same angle, averaged on receive</a:t>
            </a:r>
          </a:p>
          <a:p>
            <a:pPr algn="l"/>
            <a:r>
              <a:rPr sz="1300" lang="en-GB" dirty="0">
                <a:solidFill>
                  <a:srgbClr val="1E1E1E"/>
                </a:solidFill>
                <a:latin typeface="Courier New"/>
              </a:rPr>
              <a:t>  Ion 11:     Device A state flag (written only by Device A)</a:t>
            </a:r>
          </a:p>
          <a:p>
            <a:pPr algn="l"/>
            <a:r>
              <a:rPr sz="1300" lang="en-GB" dirty="0">
                <a:solidFill>
                  <a:srgbClr val="1E1E1E"/>
                </a:solidFill>
                <a:latin typeface="Courier New"/>
              </a:rPr>
              <a:t>  Ion 12:     Device B state flag (written only by Device B)</a:t>
            </a:r>
          </a:p>
          <a:p>
            <a:pPr algn="l"/>
            <a:r>
              <a:rPr sz="700" lang="en-GB" dirty="0">
                <a:solidFill>
                  <a:srgbClr val="1E1E1E"/>
                </a:solidFill>
              </a:rPr>
              <a:t/>
            </a:r>
          </a:p>
          <a:p>
            <a:pPr algn="l">
              <a:spcBef>
                <a:spcPts val="500"/>
              </a:spcBef>
            </a:pPr>
            <a:r>
              <a:rPr sz="1700" lang="en-GB" dirty="0" b="1">
                <a:solidFill>
                  <a:srgbClr val="1E3A5F"/>
                </a:solidFill>
              </a:rPr>
              <a:t>Flag states — four angles at 90° spacing</a:t>
            </a:r>
          </a:p>
          <a:p>
            <a:pPr algn="l"/>
            <a:r>
              <a:rPr sz="1300" lang="en-GB" dirty="0">
                <a:solidFill>
                  <a:srgbClr val="1E1E1E"/>
                </a:solidFill>
                <a:latin typeface="Courier New"/>
              </a:rPr>
              <a:t>  0°  READY    — idle, not transmitting or receiving</a:t>
            </a:r>
          </a:p>
          <a:p>
            <a:pPr algn="l"/>
            <a:r>
              <a:rPr sz="1300" lang="en-GB" dirty="0">
                <a:solidFill>
                  <a:srgbClr val="1E1E1E"/>
                </a:solidFill>
                <a:latin typeface="Courier New"/>
              </a:rPr>
              <a:t>  90°  WRITING  — currently transmitting, data ions hold θ</a:t>
            </a:r>
          </a:p>
          <a:p>
            <a:pPr algn="l"/>
            <a:r>
              <a:rPr sz="1300" lang="en-GB" dirty="0">
                <a:solidFill>
                  <a:srgbClr val="1E1E1E"/>
                </a:solidFill>
                <a:latin typeface="Courier New"/>
              </a:rPr>
              <a:t>  180° READING  — currently reading partner's data ions</a:t>
            </a:r>
          </a:p>
          <a:p>
            <a:pPr algn="l"/>
            <a:r>
              <a:rPr sz="1300" lang="en-GB" dirty="0">
                <a:solidFill>
                  <a:srgbClr val="1E1E1E"/>
                </a:solidFill>
                <a:latin typeface="Courier New"/>
              </a:rPr>
              <a:t>  270° DONE     — read complete, partner may advance</a:t>
            </a:r>
          </a:p>
          <a:p>
            <a:pPr algn="l"/>
            <a:r>
              <a:rPr sz="700" lang="en-GB" dirty="0">
                <a:solidFill>
                  <a:srgbClr val="1E1E1E"/>
                </a:solidFill>
              </a:rPr>
              <a:t/>
            </a:r>
          </a:p>
          <a:p>
            <a:pPr algn="l">
              <a:spcBef>
                <a:spcPts val="500"/>
              </a:spcBef>
            </a:pPr>
            <a:r>
              <a:rPr sz="1700" lang="en-GB" dirty="0" b="1">
                <a:solidFill>
                  <a:srgbClr val="1E3A5F"/>
                </a:solidFill>
              </a:rPr>
              <a:t>Why 90° spacing works for flags</a:t>
            </a:r>
          </a:p>
          <a:p>
            <a:pPr algn="l"/>
            <a:r>
              <a:rPr sz="1600" lang="en-GB" dirty="0">
                <a:solidFill>
                  <a:srgbClr val="1E1E1E"/>
                </a:solidFill>
              </a:rPr>
              <a:t>At N=10 data ions the noise floor is ±14.2°. At N=1 (single flag ion, no averaging) the noise floor is ±45°. 90° separation gives a 2× margin over the single-ion noise floor. Flag states are reliably decoded from one weak measurement.</a:t>
            </a:r>
          </a:p>
          <a:p>
            <a:pPr algn="l"/>
            <a:r>
              <a:rPr sz="700" lang="en-GB" dirty="0">
                <a:solidFill>
                  <a:srgbClr val="1E1E1E"/>
                </a:solidFill>
              </a:rPr>
              <a:t/>
            </a:r>
          </a:p>
          <a:p>
            <a:pPr algn="l">
              <a:spcBef>
                <a:spcPts val="500"/>
              </a:spcBef>
            </a:pPr>
            <a:r>
              <a:rPr sz="1700" lang="en-GB" dirty="0" b="1">
                <a:solidFill>
                  <a:srgbClr val="1E3A5F"/>
                </a:solidFill>
              </a:rPr>
              <a:t>Key design principle</a:t>
            </a:r>
          </a:p>
          <a:p>
            <a:pPr algn="l"/>
            <a:r>
              <a:rPr sz="1600" lang="en-GB" dirty="0">
                <a:solidFill>
                  <a:srgbClr val="1E1E1E"/>
                </a:solidFill>
              </a:rPr>
              <a:t>Each device owns one flag particle and writes only to its own. No arbitration, no token passing, no collision possible. The handshake enforces correct sequencing of write, read, and confirm.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3.4b  Flag Protocol Sequence Diagram</a:t>
            </a:r>
          </a:p>
        </p:txBody>
      </p:sp>
      <p:sp>
        <p:nvSpPr>
          <p:cNvPr id="3" name="TextBox 2"/>
          <p:cNvSpPr txBox="1"/>
          <p:nvPr/>
        </p:nvSpPr>
        <p:spPr>
          <a:xfrm>
            <a:off x="150187" y="671901"/>
            <a:ext cx="6563531" cy="699698"/>
          </a:xfrm>
          <a:prstGeom prst="rect">
            <a:avLst/>
          </a:prstGeom>
          <a:noFill/>
        </p:spPr>
        <p:txBody>
          <a:bodyPr wrap="square">
            <a:spAutoFit/>
          </a:bodyPr>
          <a:lstStyle/>
          <a:p>
            <a:pPr algn="l">
              <a:spcBef>
                <a:spcPts val="300"/>
              </a:spcBef>
            </a:pPr>
            <a:r>
              <a:rPr sz="1500" lang="en-GB" dirty="0" b="1">
                <a:solidFill>
                  <a:srgbClr val="1A5676"/>
                </a:solidFill>
              </a:rPr>
              <a:t>In plain terms: this diagram shows the step-by-step sequence of one complete message exchange — Device A sends a character, Device B reads and confirms it, then Device B sends its reply.</a:t>
            </a:r>
          </a:p>
        </p:txBody>
      </p:sp>
      <p:pic>
        <p:nvPicPr>
          <p:cNvPr id="4" name="Picture 3" descr="image.png"/>
          <p:cNvPicPr>
            <a:picLocks noChangeAspect="1"/>
          </p:cNvPicPr>
          <p:nvPr/>
        </p:nvPicPr>
        <p:blipFill>
          <a:blip r:embed="rId3"/>
          <a:stretch>
            <a:fillRect/>
          </a:stretch>
        </p:blipFill>
        <p:spPr>
          <a:xfrm>
            <a:off x="36576" y="566928"/>
            <a:ext cx="6784848" cy="3246120"/>
          </a:xfrm>
          <a:prstGeom prst="rect">
            <a:avLst/>
          </a:prstGeom>
        </p:spPr>
      </p:pic>
      <p:pic>
        <p:nvPicPr>
          <p:cNvPr id="5" name="Picture 4" descr="image.png"/>
          <p:cNvPicPr>
            <a:picLocks noChangeAspect="1"/>
          </p:cNvPicPr>
          <p:nvPr/>
        </p:nvPicPr>
        <p:blipFill>
          <a:blip r:embed="rId2"/>
          <a:stretch>
            <a:fillRect/>
          </a:stretch>
        </p:blipFill>
        <p:spPr>
          <a:xfrm>
            <a:off x="36576" y="3950208"/>
            <a:ext cx="6784848" cy="57607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3.5  Chip-Scale Integration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b="1">
                <a:solidFill>
                  <a:srgbClr val="1A5676"/>
                </a:solidFill>
              </a:rPr>
              <a:t>In plain terms: the ion trap sits inside a small sealed glass bulb — like a miniature vacuum tube — with electronics outside. Proven technology. The hard part is miniaturisation.</a:t>
            </a:r>
          </a:p>
          <a:p>
            <a:pPr algn="l"/>
            <a:r>
              <a:rPr sz="700" lang="en-GB">
                <a:solidFill>
                  <a:srgbClr val="1E1E1E"/>
                </a:solidFill>
              </a:rPr>
              <a:t/>
            </a:r>
          </a:p>
          <a:p>
            <a:pPr algn="l">
              <a:spcBef>
                <a:spcPts val="500"/>
              </a:spcBef>
            </a:pPr>
            <a:r>
              <a:rPr sz="1700" lang="en-GB" b="1">
                <a:solidFill>
                  <a:srgbClr val="1E3A5F"/>
                </a:solidFill>
              </a:rPr>
              <a:t>The vacuum vessel</a:t>
            </a:r>
          </a:p>
          <a:p>
            <a:pPr algn="l" lvl="1"/>
            <a:r>
              <a:rPr sz="1600" lang="en-GB">
                <a:solidFill>
                  <a:srgbClr val="1E1E1E"/>
                </a:solidFill>
              </a:rPr>
              <a:t>Ion traps require ultra-high vacuum (&lt; 10⁻¹⁰ mbar). The EMT uses a sealed glass or fused silica envelope — identical in principle to a cathode ray tube or thermionic valve. Evacuated before sealing. A chemical getter pump sealed inside absorbs residual gas over the device lifetime.</a:t>
            </a:r>
          </a:p>
          <a:p>
            <a:pPr algn="l" lvl="1"/>
            <a:r>
              <a:rPr sz="1600" lang="en-GB">
                <a:solidFill>
                  <a:srgbClr val="1E1E1E"/>
                </a:solidFill>
              </a:rPr>
              <a:t>Optical access: fused silica windows bonded into the envelope, or optical fibres through glass-metal feedthroughs. Standard in precision spectroscopy.</a:t>
            </a:r>
          </a:p>
          <a:p>
            <a:pPr algn="l"/>
            <a:r>
              <a:rPr sz="700" lang="en-GB">
                <a:solidFill>
                  <a:srgbClr val="1E1E1E"/>
                </a:solidFill>
              </a:rPr>
              <a:t/>
            </a:r>
          </a:p>
          <a:p>
            <a:pPr algn="l">
              <a:spcBef>
                <a:spcPts val="500"/>
              </a:spcBef>
            </a:pPr>
            <a:r>
              <a:rPr sz="1700" lang="en-GB" b="1">
                <a:solidFill>
                  <a:srgbClr val="1E3A5F"/>
                </a:solidFill>
              </a:rPr>
              <a:t>Target form factor</a:t>
            </a:r>
          </a:p>
          <a:p>
            <a:pPr algn="l"/>
            <a:r>
              <a:rPr sz="1300" lang="en-GB">
                <a:solidFill>
                  <a:srgbClr val="1E1E1E"/>
                </a:solidFill>
                <a:latin typeface="Courier New"/>
              </a:rPr>
              <a:t>  Ion trap chip:           10 mm × 6 mm</a:t>
            </a:r>
          </a:p>
          <a:p>
            <a:pPr algn="l"/>
            <a:r>
              <a:rPr sz="1300" lang="en-GB">
                <a:solidFill>
                  <a:srgbClr val="1E1E1E"/>
                </a:solidFill>
                <a:latin typeface="Courier New"/>
              </a:rPr>
              <a:t>  Sealed vacuum envelope:  30 mm × 15 mm</a:t>
            </a:r>
          </a:p>
          <a:p>
            <a:pPr algn="l"/>
            <a:r>
              <a:rPr sz="1300" lang="en-GB">
                <a:solidFill>
                  <a:srgbClr val="1E1E1E"/>
                </a:solidFill>
                <a:latin typeface="Courier New"/>
              </a:rPr>
              <a:t>  Full unit with MCU:      ~60 mm × 40 mm</a:t>
            </a:r>
          </a:p>
          <a:p>
            <a:pPr algn="l"/>
            <a:r>
              <a:rPr sz="700" lang="en-GB">
                <a:solidFill>
                  <a:srgbClr val="1E1E1E"/>
                </a:solidFill>
              </a:rPr>
              <a:t/>
            </a:r>
          </a:p>
          <a:p>
            <a:pPr algn="l">
              <a:spcBef>
                <a:spcPts val="500"/>
              </a:spcBef>
            </a:pPr>
            <a:r>
              <a:rPr sz="1700" lang="en-GB" b="1">
                <a:solidFill>
                  <a:srgbClr val="1E3A5F"/>
                </a:solidFill>
              </a:rPr>
              <a:t>Internal components</a:t>
            </a:r>
          </a:p>
          <a:p>
            <a:pPr algn="l" lvl="1"/>
            <a:r>
              <a:rPr sz="1600" lang="en-GB">
                <a:solidFill>
                  <a:srgbClr val="1E1E1E"/>
                </a:solidFill>
              </a:rPr>
              <a:t>Ion trap with 12-ion linear chain and per-ion coil array.</a:t>
            </a:r>
          </a:p>
          <a:p>
            <a:pPr algn="l" lvl="1"/>
            <a:r>
              <a:rPr sz="1600" lang="en-GB">
                <a:solidFill>
                  <a:srgbClr val="1E1E1E"/>
                </a:solidFill>
              </a:rPr>
              <a:t>397 nm photodetector for fluorescence readout.</a:t>
            </a:r>
          </a:p>
          <a:p>
            <a:pPr algn="l" lvl="1"/>
            <a:r>
              <a:rPr sz="1600" lang="en-GB">
                <a:solidFill>
                  <a:srgbClr val="1E1E1E"/>
                </a:solidFill>
              </a:rPr>
              <a:t>Chemical getter pump.</a:t>
            </a:r>
          </a:p>
          <a:p>
            <a:pPr algn="l" lvl="1"/>
            <a:r>
              <a:rPr sz="1600" lang="en-GB">
                <a:solidFill>
                  <a:srgbClr val="1E1E1E"/>
                </a:solidFill>
              </a:rPr>
              <a:t>Microcontroller: ROR lookup, framing, averaging, DD pulses, coil GPIO, flag monitoring.</a:t>
            </a:r>
          </a:p>
          <a:p>
            <a:pPr algn="l" lvl="1"/>
            <a:r>
              <a:rPr sz="1600" lang="en-GB">
                <a:solidFill>
                  <a:srgbClr val="1E1E1E"/>
                </a:solidFill>
              </a:rPr>
              <a:t>Calcium reservoir with photoionisation laser.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Part 4 — Network Architecture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What this section covers: once you have a working EMT device, how do you connect more than two people? And what if all entanglement is lost — can it be recovered?</a:t>
            </a:r>
          </a:p>
          <a:p>
            <a:pPr algn="l"/>
            <a:r>
              <a:rPr sz="700" lang="en-GB" dirty="0">
                <a:solidFill>
                  <a:srgbClr val="1E1E1E"/>
                </a:solidFill>
              </a:rPr>
              <a:t/>
            </a:r>
          </a:p>
          <a:p>
            <a:pPr algn="l" lvl="1"/>
            <a:r>
              <a:rPr sz="1600" lang="en-GB" dirty="0">
                <a:solidFill>
                  <a:srgbClr val="1E1E1E"/>
                </a:solidFill>
              </a:rPr>
              <a:t>4.1  Fixed-pair link and the call-centre topology.</a:t>
            </a:r>
          </a:p>
          <a:p>
            <a:pPr algn="l" lvl="1"/>
            <a:r>
              <a:rPr sz="1600" lang="en-GB" dirty="0">
                <a:solidFill>
                  <a:srgbClr val="1E1E1E"/>
                </a:solidFill>
              </a:rPr>
              <a:t>4.2  Re-entanglement range and the speed-of-light limit.</a:t>
            </a:r>
          </a:p>
          <a:p>
            <a:pPr algn="l" lvl="1"/>
            <a:r>
              <a:rPr sz="1600" lang="en-GB" dirty="0">
                <a:solidFill>
                  <a:srgbClr val="1E1E1E"/>
                </a:solidFill>
              </a:rPr>
              <a:t>4.3  Total decoherence — the physics boundary.</a:t>
            </a:r>
          </a:p>
          <a:p>
            <a:pPr algn="l" lvl="1"/>
            <a:r>
              <a:rPr sz="1600" lang="en-GB" dirty="0">
                <a:solidFill>
                  <a:srgbClr val="1E1E1E"/>
                </a:solidFill>
              </a:rPr>
              <a:t>4.4  Retroactive causality — what quantum experiments show.</a:t>
            </a:r>
          </a:p>
          <a:p>
            <a:pPr algn="l" lvl="1"/>
            <a:r>
              <a:rPr sz="1600" lang="en-GB" dirty="0">
                <a:solidFill>
                  <a:srgbClr val="1E1E1E"/>
                </a:solidFill>
              </a:rPr>
              <a:t>4.5  The virtual Bell measurement and pairing code.</a:t>
            </a:r>
          </a:p>
          <a:p>
            <a:pPr algn="l" lvl="1"/>
            <a:r>
              <a:rPr sz="1600" lang="en-GB" dirty="0">
                <a:solidFill>
                  <a:srgbClr val="1E1E1E"/>
                </a:solidFill>
              </a:rPr>
              <a:t>4.6  Phone-like operation and the ring protocol.</a:t>
            </a:r>
          </a:p>
          <a:p>
            <a:pPr algn="l" lvl="1"/>
            <a:r>
              <a:rPr sz="1600" lang="en-GB" dirty="0">
                <a:solidFill>
                  <a:srgbClr val="1E1E1E"/>
                </a:solidFill>
              </a:rPr>
              <a:t>4.7  Eliminating the call centre.</a:t>
            </a:r>
          </a:p>
          <a:p>
            <a:pPr algn="l"/>
            <a:r>
              <a:rPr sz="700" lang="en-GB" dirty="0">
                <a:solidFill>
                  <a:srgbClr val="1E1E1E"/>
                </a:solidFill>
              </a:rPr>
              <a:t/>
            </a:r>
          </a:p>
          <a:p>
            <a:pPr algn="l"/>
            <a:r>
              <a:rPr sz="1300" lang="en-GB" dirty="0">
                <a:solidFill>
                  <a:srgbClr val="788598"/>
                </a:solidFill>
              </a:rPr>
              <a:t>Sections 4.1–4.2 are fully consistent with known physics. Sections 4.3–4.7 are speculative extensions that rest on the same open question as the EMT channel itself.</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4.1  Fixed-Pair Link and the Call-Centre Topology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each EMT device is permanently linked to exactly one other device. To talk to a third person, you need a relay station in the middle that re-routes the message.</a:t>
            </a:r>
          </a:p>
          <a:p>
            <a:pPr algn="l"/>
            <a:r>
              <a:rPr sz="700" lang="en-GB" dirty="0">
                <a:solidFill>
                  <a:srgbClr val="1E1E1E"/>
                </a:solidFill>
              </a:rPr>
              <a:t/>
            </a:r>
          </a:p>
          <a:p>
            <a:pPr algn="l">
              <a:spcBef>
                <a:spcPts val="500"/>
              </a:spcBef>
            </a:pPr>
            <a:r>
              <a:rPr sz="1700" lang="en-GB" dirty="0" b="1">
                <a:solidFill>
                  <a:srgbClr val="1E3A5F"/>
                </a:solidFill>
              </a:rPr>
              <a:t>The fixed-pair model</a:t>
            </a:r>
          </a:p>
          <a:p>
            <a:pPr algn="l"/>
            <a:r>
              <a:rPr sz="1600" lang="en-GB" dirty="0">
                <a:solidFill>
                  <a:srgbClr val="1E1E1E"/>
                </a:solidFill>
              </a:rPr>
              <a:t>Each EMT unit is permanently entangled with exactly one partner at manufacture. Direct communication is only possible between that pair.</a:t>
            </a:r>
          </a:p>
          <a:p>
            <a:pPr algn="l"/>
            <a:r>
              <a:rPr sz="700" lang="en-GB" dirty="0">
                <a:solidFill>
                  <a:srgbClr val="1E1E1E"/>
                </a:solidFill>
              </a:rPr>
              <a:t/>
            </a:r>
          </a:p>
          <a:p>
            <a:pPr algn="l">
              <a:spcBef>
                <a:spcPts val="500"/>
              </a:spcBef>
            </a:pPr>
            <a:r>
              <a:rPr sz="1700" lang="en-GB" dirty="0" b="1">
                <a:solidFill>
                  <a:srgbClr val="1E3A5F"/>
                </a:solidFill>
              </a:rPr>
              <a:t>The call-centre model</a:t>
            </a:r>
          </a:p>
          <a:p>
            <a:pPr algn="l" lvl="1"/>
            <a:r>
              <a:rPr sz="1600" lang="en-GB" dirty="0">
                <a:solidFill>
                  <a:srgbClr val="1E1E1E"/>
                </a:solidFill>
              </a:rPr>
              <a:t>A relay station holds multiple EMT units, one entangled with each remote site. Mars calls Earth station over the Mars–Earth link. Earth station re-routes classically to the Jupiter ship link. The classical re-routing inside the station is instantaneous.</a:t>
            </a:r>
          </a:p>
          <a:p>
            <a:pPr algn="l"/>
            <a:r>
              <a:rPr sz="700" lang="en-GB" dirty="0">
                <a:solidFill>
                  <a:srgbClr val="1E1E1E"/>
                </a:solidFill>
              </a:rPr>
              <a:t/>
            </a:r>
          </a:p>
          <a:p>
            <a:pPr algn="l">
              <a:spcBef>
                <a:spcPts val="500"/>
              </a:spcBef>
            </a:pPr>
            <a:r>
              <a:rPr sz="1700" lang="en-GB" dirty="0" b="1">
                <a:solidFill>
                  <a:srgbClr val="1E3A5F"/>
                </a:solidFill>
              </a:rPr>
              <a:t>Limitations</a:t>
            </a:r>
          </a:p>
          <a:p>
            <a:pPr algn="l" lvl="1"/>
            <a:r>
              <a:rPr sz="1600" lang="en-GB" dirty="0">
                <a:solidFill>
                  <a:srgbClr val="1E1E1E"/>
                </a:solidFill>
              </a:rPr>
              <a:t>Hub and spoke: the station is a single point of failure.</a:t>
            </a:r>
          </a:p>
          <a:p>
            <a:pPr algn="l" lvl="1"/>
            <a:r>
              <a:rPr sz="1600" lang="en-GB" dirty="0">
                <a:solidFill>
                  <a:srgbClr val="1E1E1E"/>
                </a:solidFill>
              </a:rPr>
              <a:t>Scalability: each new destination needs a new device at the station.</a:t>
            </a:r>
          </a:p>
          <a:p>
            <a:pPr algn="l" lvl="1"/>
            <a:r>
              <a:rPr sz="1600" lang="en-GB" dirty="0">
                <a:solidFill>
                  <a:srgbClr val="1E1E1E"/>
                </a:solidFill>
              </a:rPr>
              <a:t>Range: the station must be reachable by all parties.</a:t>
            </a:r>
          </a:p>
          <a:p>
            <a:pPr algn="l"/>
            <a:r>
              <a:rPr sz="700" lang="en-GB" dirty="0">
                <a:solidFill>
                  <a:srgbClr val="1E1E1E"/>
                </a:solidFill>
              </a:rPr>
              <a:t/>
            </a:r>
          </a:p>
          <a:p>
            <a:pPr algn="l">
              <a:spcBef>
                <a:spcPts val="500"/>
              </a:spcBef>
            </a:pPr>
            <a:r>
              <a:rPr sz="1700" lang="en-GB" dirty="0" b="1">
                <a:solidFill>
                  <a:srgbClr val="1E3A5F"/>
                </a:solidFill>
              </a:rPr>
              <a:t>Maximum range without FTL — Ca⁺ nuclear spin</a:t>
            </a:r>
          </a:p>
          <a:p>
            <a:pPr algn="l"/>
            <a:r>
              <a:rPr sz="1300" lang="en-GB" dirty="0">
                <a:solidFill>
                  <a:srgbClr val="1E1E1E"/>
                </a:solidFill>
                <a:latin typeface="Courier New"/>
              </a:rPr>
              <a:t>  τ_c = 36,000 s  (10 hours, XY-64 DD)</a:t>
            </a:r>
          </a:p>
          <a:p>
            <a:pPr algn="l"/>
            <a:r>
              <a:rPr sz="1300" lang="en-GB" dirty="0">
                <a:solidFill>
                  <a:srgbClr val="1E1E1E"/>
                </a:solidFill>
                <a:latin typeface="Courier New"/>
              </a:rPr>
              <a:t>  Max range = c × τ_c / 2 = 36 AU  (Saturn orbit)</a:t>
            </a:r>
          </a:p>
          <a:p>
            <a:pPr algn="l"/>
            <a:r>
              <a:rPr sz="1300" lang="en-GB" dirty="0">
                <a:solidFill>
                  <a:srgbClr val="1E1E1E"/>
                </a:solidFill>
                <a:latin typeface="Courier New"/>
              </a:rPr>
              <a:t>  Covers entire inner solar system with seamless re-entanglement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4.2  Re-entanglement Range and the Speed-of-Light Limit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when an entangled pair loses coherence, a coordination signal must travel between the two devices to re-establish it. That signal is limited by the speed of light. How far apart the devices can be depends on how long the entanglement lasts.</a:t>
            </a:r>
          </a:p>
          <a:p>
            <a:pPr algn="l"/>
            <a:r>
              <a:rPr sz="700" lang="en-GB" dirty="0">
                <a:solidFill>
                  <a:srgbClr val="1E1E1E"/>
                </a:solidFill>
              </a:rPr>
              <a:t/>
            </a:r>
          </a:p>
          <a:p>
            <a:pPr algn="l">
              <a:spcBef>
                <a:spcPts val="500"/>
              </a:spcBef>
            </a:pPr>
            <a:r>
              <a:rPr sz="1700" lang="en-GB" dirty="0" b="1">
                <a:solidFill>
                  <a:srgbClr val="1E3A5F"/>
                </a:solidFill>
              </a:rPr>
              <a:t>The constraint</a:t>
            </a:r>
          </a:p>
          <a:p>
            <a:pPr algn="l"/>
            <a:r>
              <a:rPr sz="1300" lang="en-GB" dirty="0">
                <a:solidFill>
                  <a:srgbClr val="1E1E1E"/>
                </a:solidFill>
                <a:latin typeface="Courier New"/>
              </a:rPr>
              <a:t>  Re-entanglement round-trip time ≥ 2D/c</a:t>
            </a:r>
          </a:p>
          <a:p>
            <a:pPr algn="l"/>
            <a:r>
              <a:rPr sz="1300" lang="en-GB" dirty="0">
                <a:solidFill>
                  <a:srgbClr val="1E1E1E"/>
                </a:solidFill>
                <a:latin typeface="Courier New"/>
              </a:rPr>
              <a:t>  For re-entanglement before coherence decays:</a:t>
            </a:r>
          </a:p>
          <a:p>
            <a:pPr algn="l"/>
            <a:r>
              <a:rPr sz="1300" lang="en-GB" dirty="0">
                <a:solidFill>
                  <a:srgbClr val="1E1E1E"/>
                </a:solidFill>
                <a:latin typeface="Courier New"/>
              </a:rPr>
              <a:t>  2D/c  &lt;  τ_c</a:t>
            </a:r>
          </a:p>
          <a:p>
            <a:pPr algn="l"/>
            <a:r>
              <a:rPr sz="1300" lang="en-GB" dirty="0">
                <a:solidFill>
                  <a:srgbClr val="1E1E1E"/>
                </a:solidFill>
                <a:latin typeface="Courier New"/>
              </a:rPr>
              <a:t>  D  &lt;  c × τ_c / 2</a:t>
            </a:r>
          </a:p>
          <a:p>
            <a:pPr algn="l"/>
            <a:r>
              <a:rPr sz="700" lang="en-GB" dirty="0">
                <a:solidFill>
                  <a:srgbClr val="1E1E1E"/>
                </a:solidFill>
              </a:rPr>
              <a:t/>
            </a:r>
          </a:p>
          <a:p>
            <a:pPr algn="l">
              <a:spcBef>
                <a:spcPts val="500"/>
              </a:spcBef>
            </a:pPr>
            <a:r>
              <a:rPr sz="1700" lang="en-GB" dirty="0" b="1">
                <a:solidFill>
                  <a:srgbClr val="1E3A5F"/>
                </a:solidFill>
              </a:rPr>
              <a:t>Range by substrate</a:t>
            </a:r>
          </a:p>
          <a:p>
            <a:pPr algn="l"/>
            <a:r>
              <a:rPr sz="1300" lang="en-GB" dirty="0">
                <a:solidFill>
                  <a:srgbClr val="1E1E1E"/>
                </a:solidFill>
                <a:latin typeface="Courier New"/>
              </a:rPr>
              <a:t>  Ca⁺ electron spin + CPMG  (τ_c = 1 s):     D &lt; 150,000 km</a:t>
            </a:r>
          </a:p>
          <a:p>
            <a:pPr algn="l"/>
            <a:r>
              <a:rPr sz="1300" lang="en-GB" dirty="0">
                <a:solidFill>
                  <a:srgbClr val="1E1E1E"/>
                </a:solidFill>
                <a:latin typeface="Courier New"/>
              </a:rPr>
              <a:t>  Ca⁺ nuclear spin + XY-64  (τ_c = 10 hr):   D &lt; 36 AU</a:t>
            </a:r>
          </a:p>
          <a:p>
            <a:pPr algn="l"/>
            <a:r>
              <a:rPr sz="1300" lang="en-GB" dirty="0">
                <a:solidFill>
                  <a:srgbClr val="1E1E1E"/>
                </a:solidFill>
                <a:latin typeface="Courier New"/>
              </a:rPr>
              <a:t>  YSO rare earth             (τ_c = hours):  D &lt; 36 AU</a:t>
            </a:r>
          </a:p>
          <a:p>
            <a:pPr algn="l"/>
            <a:r>
              <a:rPr sz="700" lang="en-GB" dirty="0">
                <a:solidFill>
                  <a:srgbClr val="1E1E1E"/>
                </a:solidFill>
              </a:rPr>
              <a:t/>
            </a:r>
          </a:p>
          <a:p>
            <a:pPr algn="l">
              <a:spcBef>
                <a:spcPts val="500"/>
              </a:spcBef>
            </a:pPr>
            <a:r>
              <a:rPr sz="1700" lang="en-GB" dirty="0" b="1">
                <a:solidFill>
                  <a:srgbClr val="1E3A5F"/>
                </a:solidFill>
              </a:rPr>
              <a:t>If the EMT channel operates faster than light</a:t>
            </a:r>
          </a:p>
          <a:p>
            <a:pPr algn="l"/>
            <a:r>
              <a:rPr sz="1600" lang="en-GB" dirty="0">
                <a:solidFill>
                  <a:srgbClr val="1E1E1E"/>
                </a:solidFill>
              </a:rPr>
              <a:t>The re-entanglement coordination signal can also travel via the EMT channel. If EMT is FTL, re-entanglement coordination is also FTL and the range limit disappears. The Stage 2 experiment determines both simultaneously.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4.3  Total Decoherence — The Physics Boundary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if all entanglement is lost and there is no way to send any signal between the two devices — no light, no radio, nothing — can the devices reconnect? Standard physics says no. But the same question applies to the EMT itself.</a:t>
            </a:r>
          </a:p>
          <a:p>
            <a:pPr algn="l"/>
            <a:r>
              <a:rPr sz="700" lang="en-GB" dirty="0">
                <a:solidFill>
                  <a:srgbClr val="1E1E1E"/>
                </a:solidFill>
              </a:rPr>
              <a:t/>
            </a:r>
          </a:p>
          <a:p>
            <a:pPr algn="l">
              <a:spcBef>
                <a:spcPts val="500"/>
              </a:spcBef>
            </a:pPr>
            <a:r>
              <a:rPr sz="1700" lang="en-GB" dirty="0" b="1">
                <a:solidFill>
                  <a:srgbClr val="1E3A5F"/>
                </a:solidFill>
              </a:rPr>
              <a:t>The scenario</a:t>
            </a:r>
          </a:p>
          <a:p>
            <a:pPr algn="l"/>
            <a:r>
              <a:rPr sz="1600" lang="en-GB" dirty="0">
                <a:solidFill>
                  <a:srgbClr val="1E1E1E"/>
                </a:solidFill>
              </a:rPr>
              <a:t>All entangled pairs decohered. Calcium reserve contains only ordinary ions. No EMT channel. No classical communication. No photon link possible.</a:t>
            </a:r>
          </a:p>
          <a:p>
            <a:pPr algn="l"/>
            <a:r>
              <a:rPr sz="700" lang="en-GB" dirty="0">
                <a:solidFill>
                  <a:srgbClr val="1E1E1E"/>
                </a:solidFill>
              </a:rPr>
              <a:t/>
            </a:r>
          </a:p>
          <a:p>
            <a:pPr algn="l">
              <a:spcBef>
                <a:spcPts val="500"/>
              </a:spcBef>
            </a:pPr>
            <a:r>
              <a:rPr sz="1700" lang="en-GB" dirty="0" b="1">
                <a:solidFill>
                  <a:srgbClr val="1E3A5F"/>
                </a:solidFill>
              </a:rPr>
              <a:t>Standard quantum mechanics</a:t>
            </a:r>
          </a:p>
          <a:p>
            <a:pPr algn="l" lvl="1"/>
            <a:r>
              <a:rPr sz="1600" lang="en-GB" dirty="0">
                <a:solidFill>
                  <a:srgbClr val="1E1E1E"/>
                </a:solidFill>
              </a:rPr>
              <a:t>Two systems with no shared quantum history cannot become entangled by local operations alone. This follows from the tensor product structure of composite quantum systems. No pairing code circumvents this.</a:t>
            </a:r>
          </a:p>
          <a:p>
            <a:pPr algn="l"/>
            <a:r>
              <a:rPr sz="700" lang="en-GB" dirty="0">
                <a:solidFill>
                  <a:srgbClr val="1E1E1E"/>
                </a:solidFill>
              </a:rPr>
              <a:t/>
            </a:r>
          </a:p>
          <a:p>
            <a:pPr algn="l">
              <a:spcBef>
                <a:spcPts val="500"/>
              </a:spcBef>
            </a:pPr>
            <a:r>
              <a:rPr sz="1700" lang="en-GB" dirty="0" b="1">
                <a:solidFill>
                  <a:srgbClr val="1E3A5F"/>
                </a:solidFill>
              </a:rPr>
              <a:t>If the EMT hypothesis is correct</a:t>
            </a:r>
          </a:p>
          <a:p>
            <a:pPr algn="l" lvl="1"/>
            <a:r>
              <a:rPr sz="1600" lang="en-GB" dirty="0">
                <a:solidFill>
                  <a:srgbClr val="1E1E1E"/>
                </a:solidFill>
              </a:rPr>
              <a:t>If the EMT channel works, it implies a non-local structure not captured by the standard formalism. If that structure exists, two devices independently prepared to identical states by a shared classical specification might be able to establish a joint correlation. This is a larger conjecture than the EMT channel itself — it requires not just that existing entanglement supports signalling, but that entanglement can be created without prior interaction.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4.4  Retroactive Causality — Delayed-Choice Experiments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a physicist named Victor decided whether two photons had been entangled — after Alice and Bob had already measured theirs. His decision retroactively changed what Alice and Bob found in their data. This is real, confirmed physics, and it is the foundation for the pairing code idea.</a:t>
            </a:r>
          </a:p>
          <a:p>
            <a:pPr algn="l"/>
            <a:r>
              <a:rPr sz="700" lang="en-GB" dirty="0">
                <a:solidFill>
                  <a:srgbClr val="1E1E1E"/>
                </a:solidFill>
              </a:rPr>
              <a:t/>
            </a:r>
          </a:p>
          <a:p>
            <a:pPr algn="l">
              <a:spcBef>
                <a:spcPts val="500"/>
              </a:spcBef>
            </a:pPr>
            <a:r>
              <a:rPr sz="1700" lang="en-GB" dirty="0" b="1">
                <a:solidFill>
                  <a:srgbClr val="1E3A5F"/>
                </a:solidFill>
              </a:rPr>
              <a:t>The Ma et al. (2012) experiment</a:t>
            </a:r>
          </a:p>
          <a:p>
            <a:pPr algn="l"/>
            <a:r>
              <a:rPr sz="1600" lang="en-GB" dirty="0">
                <a:solidFill>
                  <a:srgbClr val="1E1E1E"/>
                </a:solidFill>
              </a:rPr>
              <a:t>Two entangled photon pairs (1–2 and 3–4) are produced. Photons 1 and 4 are measured by Alice and Bob. Results recorded. Victor later decides whether to perform a Bell measurement on photons 2 and 3.</a:t>
            </a:r>
          </a:p>
          <a:p>
            <a:pPr algn="l"/>
            <a:r>
              <a:rPr sz="700" lang="en-GB" dirty="0">
                <a:solidFill>
                  <a:srgbClr val="1E1E1E"/>
                </a:solidFill>
              </a:rPr>
              <a:t/>
            </a:r>
          </a:p>
          <a:p>
            <a:pPr algn="l" lvl="1"/>
            <a:r>
              <a:rPr sz="1600" lang="en-GB" dirty="0">
                <a:solidFill>
                  <a:srgbClr val="1E1E1E"/>
                </a:solidFill>
              </a:rPr>
              <a:t>If Victor performs the Bell measurement: Alice and Bob's already-recorded results show entanglement correlations — retroactively.</a:t>
            </a:r>
          </a:p>
          <a:p>
            <a:pPr algn="l" lvl="1"/>
            <a:r>
              <a:rPr sz="1600" lang="en-GB" dirty="0">
                <a:solidFill>
                  <a:srgbClr val="1E1E1E"/>
                </a:solidFill>
              </a:rPr>
              <a:t>If Victor does not: Alice and Bob's results show no correlations.</a:t>
            </a:r>
          </a:p>
          <a:p>
            <a:pPr algn="l"/>
            <a:r>
              <a:rPr sz="700" lang="en-GB" dirty="0">
                <a:solidFill>
                  <a:srgbClr val="1E1E1E"/>
                </a:solidFill>
              </a:rPr>
              <a:t/>
            </a:r>
          </a:p>
          <a:p>
            <a:pPr algn="l">
              <a:spcBef>
                <a:spcPts val="500"/>
              </a:spcBef>
            </a:pPr>
            <a:r>
              <a:rPr sz="1700" lang="en-GB" dirty="0" b="1">
                <a:solidFill>
                  <a:srgbClr val="1E3A5F"/>
                </a:solidFill>
              </a:rPr>
              <a:t>What this means</a:t>
            </a:r>
          </a:p>
          <a:p>
            <a:pPr algn="l"/>
            <a:r>
              <a:rPr sz="1600" lang="en-GB" dirty="0">
                <a:solidFill>
                  <a:srgbClr val="1E1E1E"/>
                </a:solidFill>
              </a:rPr>
              <a:t>The joint quantum state is not fully determined until the complete measurement context is fixed. Entanglement can be established retroactively by a later measurement. The causal arrow is not what classical intuition expects.</a:t>
            </a:r>
          </a:p>
          <a:p>
            <a:pPr algn="l"/>
            <a:r>
              <a:rPr sz="700" lang="en-GB" dirty="0">
                <a:solidFill>
                  <a:srgbClr val="1E1E1E"/>
                </a:solidFill>
              </a:rPr>
              <a:t/>
            </a:r>
          </a:p>
          <a:p>
            <a:pPr algn="l">
              <a:spcBef>
                <a:spcPts val="500"/>
              </a:spcBef>
            </a:pPr>
            <a:r>
              <a:rPr sz="1700" lang="en-GB" dirty="0" b="1">
                <a:solidFill>
                  <a:srgbClr val="1E3A5F"/>
                </a:solidFill>
              </a:rPr>
              <a:t>Scope of the result</a:t>
            </a:r>
          </a:p>
          <a:p>
            <a:pPr algn="l"/>
            <a:r>
              <a:rPr sz="1600" lang="en-GB" dirty="0">
                <a:solidFill>
                  <a:srgbClr val="1E1E1E"/>
                </a:solidFill>
              </a:rPr>
              <a:t>In every delayed-choice experiment, the physical intermediary (Victor's photons) is real. The retroactivity is in timing, not in the absence of a physical link. This distinction matters for the virtual Bell measurement concept.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4.5  The Virtual Bell Measurement and Pairing Code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 pairing code is like a sheet music score that both devices follow independently. If they play the exact same notes at the exact same time, could the result be the same as if they had been tuned together in person? Standard physics says no. The EMT hypothesis leaves it open.</a:t>
            </a:r>
          </a:p>
          <a:p>
            <a:pPr algn="l"/>
            <a:r>
              <a:rPr sz="700" lang="en-GB" dirty="0">
                <a:solidFill>
                  <a:srgbClr val="1E1E1E"/>
                </a:solidFill>
              </a:rPr>
              <a:t/>
            </a:r>
          </a:p>
          <a:p>
            <a:pPr algn="l">
              <a:spcBef>
                <a:spcPts val="500"/>
              </a:spcBef>
            </a:pPr>
            <a:r>
              <a:rPr sz="1700" lang="en-GB" dirty="0" b="1">
                <a:solidFill>
                  <a:srgbClr val="1E3A5F"/>
                </a:solidFill>
              </a:rPr>
              <a:t>The pairing code</a:t>
            </a:r>
          </a:p>
          <a:p>
            <a:pPr algn="l"/>
            <a:r>
              <a:rPr sz="1600" lang="en-GB" dirty="0">
                <a:solidFill>
                  <a:srgbClr val="1E1E1E"/>
                </a:solidFill>
              </a:rPr>
              <a:t>A classical document specifying complete quantum state preparation parameters: trap secular frequencies, cooling protocol, MS gate pulse sequence, initial spin state, flag ion configuration, and ROR table. Both devices follow it independently.</a:t>
            </a:r>
          </a:p>
          <a:p>
            <a:pPr algn="l"/>
            <a:r>
              <a:rPr sz="700" lang="en-GB" dirty="0">
                <a:solidFill>
                  <a:srgbClr val="1E1E1E"/>
                </a:solidFill>
              </a:rPr>
              <a:t/>
            </a:r>
          </a:p>
          <a:p>
            <a:pPr algn="l">
              <a:spcBef>
                <a:spcPts val="500"/>
              </a:spcBef>
            </a:pPr>
            <a:r>
              <a:rPr sz="1700" lang="en-GB" dirty="0" b="1">
                <a:solidFill>
                  <a:srgbClr val="1E3A5F"/>
                </a:solidFill>
              </a:rPr>
              <a:t>The virtual Bell measurement</a:t>
            </a:r>
          </a:p>
          <a:p>
            <a:pPr algn="l" lvl="1"/>
            <a:r>
              <a:rPr sz="1600" lang="en-GB" dirty="0">
                <a:solidFill>
                  <a:srgbClr val="1E1E1E"/>
                </a:solidFill>
              </a:rPr>
              <a:t>Both devices perform the local unitary operations constituting their half of a Bell measurement on a virtual joint system. All four Pauli corrections are pre-specified in the code and applied in superposition — removing the need for classical communication of the measurement result.</a:t>
            </a:r>
          </a:p>
          <a:p>
            <a:pPr algn="l"/>
            <a:r>
              <a:rPr sz="700" lang="en-GB" dirty="0">
                <a:solidFill>
                  <a:srgbClr val="1E1E1E"/>
                </a:solidFill>
              </a:rPr>
              <a:t/>
            </a:r>
          </a:p>
          <a:p>
            <a:pPr algn="l">
              <a:spcBef>
                <a:spcPts val="500"/>
              </a:spcBef>
            </a:pPr>
            <a:r>
              <a:rPr sz="1700" lang="en-GB" dirty="0" b="1">
                <a:solidFill>
                  <a:srgbClr val="1E3A5F"/>
                </a:solidFill>
              </a:rPr>
              <a:t>Physical assessment</a:t>
            </a:r>
          </a:p>
          <a:p>
            <a:pPr algn="l" lvl="1"/>
            <a:r>
              <a:rPr sz="1600" lang="en-GB" dirty="0">
                <a:solidFill>
                  <a:srgbClr val="1E1E1E"/>
                </a:solidFill>
              </a:rPr>
              <a:t>Standard QM: this does not work. Local operations on independent systems cannot create entanglement.</a:t>
            </a:r>
          </a:p>
          <a:p>
            <a:pPr algn="l" lvl="1"/>
            <a:r>
              <a:rPr sz="1600" lang="en-GB" dirty="0">
                <a:solidFill>
                  <a:srgbClr val="1E1E1E"/>
                </a:solidFill>
              </a:rPr>
              <a:t>EMT hypothesis: if a deeper non-local structure exists, identically prepared states might resonate into a joint correlation. This is speculative — a larger departure from known physics than the primary EMT claim.</a:t>
            </a:r>
          </a:p>
          <a:p>
            <a:pPr algn="l" lvl="1"/>
            <a:r>
              <a:rPr sz="1600" lang="en-GB" dirty="0">
                <a:solidFill>
                  <a:srgbClr val="1E1E1E"/>
                </a:solidFill>
              </a:rPr>
              <a:t>The attempt is a well-defined experiment: prepare per code, try the EMT channel. Works or it doesn't.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4.6  Phone-Like Operation and the Ring Protocol</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if the pairing code works, any EMT device can call any other using the code as a phone number. The device rings by transmitting a specific pattern. The called device detects it and answers. The first thing sent over the live channel is who is calling.</a:t>
            </a:r>
          </a:p>
          <a:p>
            <a:pPr algn="l"/>
            <a:r>
              <a:rPr sz="700" lang="en-GB" dirty="0">
                <a:solidFill>
                  <a:srgbClr val="1E1E1E"/>
                </a:solidFill>
              </a:rPr>
              <a:t/>
            </a:r>
          </a:p>
          <a:p>
            <a:pPr algn="l">
              <a:spcBef>
                <a:spcPts val="500"/>
              </a:spcBef>
            </a:pPr>
            <a:r>
              <a:rPr sz="1700" lang="en-GB" dirty="0" b="1">
                <a:solidFill>
                  <a:srgbClr val="1E3A5F"/>
                </a:solidFill>
              </a:rPr>
              <a:t>Architectural implication</a:t>
            </a:r>
          </a:p>
          <a:p>
            <a:pPr algn="l"/>
            <a:r>
              <a:rPr sz="1600" lang="en-GB" dirty="0">
                <a:solidFill>
                  <a:srgbClr val="1E1E1E"/>
                </a:solidFill>
              </a:rPr>
              <a:t>Devices no longer need to be pre-paired at manufacture. Any device can connect to any other using the target's pairing code.</a:t>
            </a:r>
          </a:p>
          <a:p>
            <a:pPr algn="l"/>
            <a:r>
              <a:rPr sz="700" lang="en-GB" dirty="0">
                <a:solidFill>
                  <a:srgbClr val="1E1E1E"/>
                </a:solidFill>
              </a:rPr>
              <a:t/>
            </a:r>
          </a:p>
          <a:p>
            <a:pPr algn="l">
              <a:spcBef>
                <a:spcPts val="500"/>
              </a:spcBef>
            </a:pPr>
            <a:r>
              <a:rPr sz="1700" lang="en-GB" dirty="0" b="1">
                <a:solidFill>
                  <a:srgbClr val="1E3A5F"/>
                </a:solidFill>
              </a:rPr>
              <a:t>The ring protocol</a:t>
            </a:r>
          </a:p>
          <a:p>
            <a:pPr algn="l" lvl="1"/>
            <a:r>
              <a:rPr sz="1600" lang="en-GB" dirty="0">
                <a:solidFill>
                  <a:srgbClr val="1E1E1E"/>
                </a:solidFill>
              </a:rPr>
              <a:t>Ring: caller prepares ions per target's pairing code and transmits a pre-agreed ring pattern unique to the target device.</a:t>
            </a:r>
          </a:p>
          <a:p>
            <a:pPr algn="l" lvl="1"/>
            <a:r>
              <a:rPr sz="1600" lang="en-GB" dirty="0">
                <a:solidFill>
                  <a:srgbClr val="1E1E1E"/>
                </a:solidFill>
              </a:rPr>
              <a:t>Detect: called device monitors its ions for its own ring pattern. If the virtual Bell mechanism is active, the ions respond.</a:t>
            </a:r>
          </a:p>
          <a:p>
            <a:pPr algn="l" lvl="1"/>
            <a:r>
              <a:rPr sz="1600" lang="en-GB" dirty="0">
                <a:solidFill>
                  <a:srgbClr val="1E1E1E"/>
                </a:solidFill>
              </a:rPr>
              <a:t>Connect: both halves of the virtual Bell protocol complete. Entanglement established. Full protocol active from first moment. Entanglement is bidirectional — no separate outgoing connection needed.</a:t>
            </a:r>
          </a:p>
          <a:p>
            <a:pPr algn="l" lvl="1"/>
            <a:r>
              <a:rPr sz="1600" lang="en-GB" dirty="0">
                <a:solidFill>
                  <a:srgbClr val="1E1E1E"/>
                </a:solidFill>
              </a:rPr>
              <a:t>Caller ID: caller transmits their own pairing code signature as the first data packet. Called device stores it if unknown.</a:t>
            </a:r>
          </a:p>
          <a:p>
            <a:pPr algn="l" lvl="1"/>
            <a:r>
              <a:rPr sz="1600" lang="en-GB" dirty="0">
                <a:solidFill>
                  <a:srgbClr val="1E1E1E"/>
                </a:solidFill>
              </a:rPr>
              <a:t>End call: either party transmits sustained HOME. Both devices detect end signal and return to standby.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4.7  Eliminating the Call Centre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with the pairing code model, there is no need for a relay station. Any device calls any other directly, the way mobile phones work — without needing a physical cable between them.</a:t>
            </a:r>
          </a:p>
          <a:p>
            <a:pPr algn="l"/>
            <a:r>
              <a:rPr sz="700" lang="en-GB" dirty="0">
                <a:solidFill>
                  <a:srgbClr val="1E1E1E"/>
                </a:solidFill>
              </a:rPr>
              <a:t/>
            </a:r>
          </a:p>
          <a:p>
            <a:pPr algn="l">
              <a:spcBef>
                <a:spcPts val="500"/>
              </a:spcBef>
            </a:pPr>
            <a:r>
              <a:rPr sz="1700" lang="en-GB" dirty="0" b="1">
                <a:solidFill>
                  <a:srgbClr val="1E3A5F"/>
                </a:solidFill>
              </a:rPr>
              <a:t>Comparison</a:t>
            </a:r>
          </a:p>
          <a:p>
            <a:pPr algn="l"/>
            <a:r>
              <a:rPr sz="1300" lang="en-GB" dirty="0">
                <a:solidFill>
                  <a:srgbClr val="1E1E1E"/>
                </a:solidFill>
                <a:latin typeface="Courier New"/>
              </a:rPr>
              <a:t>  Fixed-pair:     hub-and-spoke, relay station required</a:t>
            </a:r>
          </a:p>
          <a:p>
            <a:pPr algn="l"/>
            <a:r>
              <a:rPr sz="1300" lang="en-GB" dirty="0">
                <a:solidFill>
                  <a:srgbClr val="1E1E1E"/>
                </a:solidFill>
                <a:latin typeface="Courier New"/>
              </a:rPr>
              <a:t>  Pairing code:   peer-to-peer mesh, no infrastructure</a:t>
            </a:r>
          </a:p>
          <a:p>
            <a:pPr algn="l"/>
            <a:r>
              <a:rPr sz="1300" lang="en-GB" dirty="0">
                <a:solidFill>
                  <a:srgbClr val="1E1E1E"/>
                </a:solidFill>
                <a:latin typeface="Courier New"/>
              </a:rPr>
              <a:t>  Failure modes:  single point vs none</a:t>
            </a:r>
          </a:p>
          <a:p>
            <a:pPr algn="l"/>
            <a:r>
              <a:rPr sz="1300" lang="en-GB" dirty="0">
                <a:solidFill>
                  <a:srgbClr val="1E1E1E"/>
                </a:solidFill>
                <a:latin typeface="Courier New"/>
              </a:rPr>
              <a:t>  Scalability:    linear vs N×(N-1)/2 connections</a:t>
            </a:r>
          </a:p>
          <a:p>
            <a:pPr algn="l"/>
            <a:r>
              <a:rPr sz="700" lang="en-GB" dirty="0">
                <a:solidFill>
                  <a:srgbClr val="1E1E1E"/>
                </a:solidFill>
              </a:rPr>
              <a:t/>
            </a:r>
          </a:p>
          <a:p>
            <a:pPr algn="l">
              <a:spcBef>
                <a:spcPts val="500"/>
              </a:spcBef>
            </a:pPr>
            <a:r>
              <a:rPr sz="1700" lang="en-GB" dirty="0" b="1">
                <a:solidFill>
                  <a:srgbClr val="1E3A5F"/>
                </a:solidFill>
              </a:rPr>
              <a:t>Network properties</a:t>
            </a:r>
          </a:p>
          <a:p>
            <a:pPr algn="l" lvl="1"/>
            <a:r>
              <a:rPr sz="1600" lang="en-GB" dirty="0">
                <a:solidFill>
                  <a:srgbClr val="1E1E1E"/>
                </a:solidFill>
              </a:rPr>
              <a:t>Any device reaches any other directly with no intermediary.</a:t>
            </a:r>
          </a:p>
          <a:p>
            <a:pPr algn="l" lvl="1"/>
            <a:r>
              <a:rPr sz="1600" lang="en-GB" dirty="0">
                <a:solidFill>
                  <a:srgbClr val="1E1E1E"/>
                </a:solidFill>
              </a:rPr>
              <a:t>Adding a new device requires only publishing its pairing code.</a:t>
            </a:r>
          </a:p>
          <a:p>
            <a:pPr algn="l" lvl="1"/>
            <a:r>
              <a:rPr sz="1600" lang="en-GB" dirty="0">
                <a:solidFill>
                  <a:srgbClr val="1E1E1E"/>
                </a:solidFill>
              </a:rPr>
              <a:t>N devices: N×(N-1)/2 possible direct connections.</a:t>
            </a:r>
          </a:p>
          <a:p>
            <a:pPr algn="l"/>
            <a:r>
              <a:rPr sz="700" lang="en-GB" dirty="0">
                <a:solidFill>
                  <a:srgbClr val="1E1E1E"/>
                </a:solidFill>
              </a:rPr>
              <a:t/>
            </a:r>
          </a:p>
          <a:p>
            <a:pPr algn="l">
              <a:spcBef>
                <a:spcPts val="500"/>
              </a:spcBef>
            </a:pPr>
            <a:r>
              <a:rPr sz="1700" lang="en-GB" dirty="0" b="1">
                <a:solidFill>
                  <a:srgbClr val="1E3A5F"/>
                </a:solidFill>
              </a:rPr>
              <a:t>The single dependency</a:t>
            </a:r>
          </a:p>
          <a:p>
            <a:pPr algn="l"/>
            <a:r>
              <a:rPr sz="1600" lang="en-GB" dirty="0">
                <a:solidFill>
                  <a:srgbClr val="1E1E1E"/>
                </a:solidFill>
              </a:rPr>
              <a:t>The pairing code model requires the virtual Bell measurement to work, which is a larger hypothesis than the primary EMT channel. The fixed-pair with relay station is the conservative, physically defensible architecture. The pairing code model is the aspirational endpoint.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Part 5 — Feasibility Assessment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What this section covers: an honest assessment of what is confirmed, what is plausible but unproven, what is the central unknown, and what is speculative.</a:t>
            </a:r>
          </a:p>
          <a:p>
            <a:pPr algn="l"/>
            <a:r>
              <a:rPr sz="700" lang="en-GB" dirty="0">
                <a:solidFill>
                  <a:srgbClr val="1E1E1E"/>
                </a:solidFill>
              </a:rPr>
              <a:t/>
            </a:r>
          </a:p>
          <a:p>
            <a:pPr algn="l" lvl="1"/>
            <a:r>
              <a:rPr sz="1600" lang="en-GB" dirty="0">
                <a:solidFill>
                  <a:srgbClr val="1E1E1E"/>
                </a:solidFill>
              </a:rPr>
              <a:t>5.1  Confirmed physics.</a:t>
            </a:r>
          </a:p>
          <a:p>
            <a:pPr algn="l" lvl="1"/>
            <a:r>
              <a:rPr sz="1600" lang="en-GB" dirty="0">
                <a:solidFill>
                  <a:srgbClr val="1E1E1E"/>
                </a:solidFill>
              </a:rPr>
              <a:t>5.2  Sound physics, not yet demonstrated at this scale.</a:t>
            </a:r>
          </a:p>
          <a:p>
            <a:pPr algn="l" lvl="1"/>
            <a:r>
              <a:rPr sz="1600" lang="en-GB" dirty="0">
                <a:solidFill>
                  <a:srgbClr val="1E1E1E"/>
                </a:solidFill>
              </a:rPr>
              <a:t>5.3  The central open question.</a:t>
            </a:r>
          </a:p>
          <a:p>
            <a:pPr algn="l" lvl="1"/>
            <a:r>
              <a:rPr sz="1600" lang="en-GB" dirty="0">
                <a:solidFill>
                  <a:srgbClr val="1E1E1E"/>
                </a:solidFill>
              </a:rPr>
              <a:t>5.4  Speculative extensions.</a:t>
            </a:r>
          </a:p>
          <a:p>
            <a:pPr algn="l" lvl="1"/>
            <a:r>
              <a:rPr sz="1600" lang="en-GB" dirty="0">
                <a:solidFill>
                  <a:srgbClr val="1E1E1E"/>
                </a:solidFill>
              </a:rPr>
              <a:t>5.5  Engineering feasibility.</a:t>
            </a:r>
          </a:p>
          <a:p>
            <a:pPr algn="l" lvl="1"/>
            <a:r>
              <a:rPr sz="1600" lang="en-GB" dirty="0">
                <a:solidFill>
                  <a:srgbClr val="1E1E1E"/>
                </a:solidFill>
              </a:rPr>
              <a:t>5.6  Conclusion.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5.1  Confirmed Physics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everything in this list has been demonstrated in a real laboratory and is not disputed.</a:t>
            </a:r>
          </a:p>
          <a:p>
            <a:pPr algn="l"/>
            <a:r>
              <a:rPr sz="700" lang="en-GB" dirty="0">
                <a:solidFill>
                  <a:srgbClr val="1E1E1E"/>
                </a:solidFill>
              </a:rPr>
              <a:t/>
            </a:r>
          </a:p>
          <a:p>
            <a:pPr algn="l" lvl="1"/>
            <a:r>
              <a:rPr sz="1600" lang="en-GB" dirty="0">
                <a:solidFill>
                  <a:srgbClr val="1E1E1E"/>
                </a:solidFill>
              </a:rPr>
              <a:t>Ca⁺ ion trapping, laser cooling, motional ground state: standard worldwide.</a:t>
            </a:r>
          </a:p>
          <a:p>
            <a:pPr algn="l" lvl="1"/>
            <a:r>
              <a:rPr sz="1600" lang="en-GB" dirty="0">
                <a:solidFill>
                  <a:srgbClr val="1E1E1E"/>
                </a:solidFill>
              </a:rPr>
              <a:t>Mølmer–Sørensen gate fidelity &gt; 99.9%: Oxford, Innsbruck, NIST, Quantinuum.</a:t>
            </a:r>
          </a:p>
          <a:p>
            <a:pPr algn="l" lvl="1"/>
            <a:r>
              <a:rPr sz="1600" lang="en-GB" dirty="0">
                <a:solidFill>
                  <a:srgbClr val="1E1E1E"/>
                </a:solidFill>
              </a:rPr>
              <a:t>Magnetic spin rotation to arbitrary angle, &lt; 0.1° precision: standard NMR/ion trap.</a:t>
            </a:r>
          </a:p>
          <a:p>
            <a:pPr algn="l" lvl="1"/>
            <a:r>
              <a:rPr sz="1600" lang="en-GB" dirty="0">
                <a:solidFill>
                  <a:srgbClr val="1E1E1E"/>
                </a:solidFill>
              </a:rPr>
              <a:t>397 nm fluorescence readout at &gt; 99.9% fidelity per shot: PTB, NIST.</a:t>
            </a:r>
          </a:p>
          <a:p>
            <a:pPr algn="l" lvl="1"/>
            <a:r>
              <a:rPr sz="1600" lang="en-GB" dirty="0">
                <a:solidFill>
                  <a:srgbClr val="1E1E1E"/>
                </a:solidFill>
              </a:rPr>
              <a:t>Dynamical decoupling extending Ca⁺ nuclear spin coherence to ~10 hours: demonstrated.</a:t>
            </a:r>
          </a:p>
          <a:p>
            <a:pPr algn="l" lvl="1"/>
            <a:r>
              <a:rPr sz="1600" lang="en-GB" dirty="0">
                <a:solidFill>
                  <a:srgbClr val="1E1E1E"/>
                </a:solidFill>
              </a:rPr>
              <a:t>Ensemble averaging reducing noise by √N: basic statistics, universal.</a:t>
            </a:r>
          </a:p>
          <a:p>
            <a:pPr algn="l" lvl="1"/>
            <a:r>
              <a:rPr sz="1600" lang="en-GB" dirty="0">
                <a:solidFill>
                  <a:srgbClr val="1E1E1E"/>
                </a:solidFill>
              </a:rPr>
              <a:t>Delayed-choice entanglement swapping showing retroactive correlations: Ma et al. 2012.</a:t>
            </a:r>
          </a:p>
          <a:p>
            <a:pPr algn="l" lvl="1"/>
            <a:r>
              <a:rPr sz="1600" lang="en-GB" dirty="0">
                <a:solidFill>
                  <a:srgbClr val="1E1E1E"/>
                </a:solidFill>
              </a:rPr>
              <a:t>Ion shuttling between trap zones without coherence loss: Oxford, Innsbruck.</a:t>
            </a:r>
          </a:p>
          <a:p>
            <a:pPr algn="l" lvl="1"/>
            <a:r>
              <a:rPr sz="1600" lang="en-GB" dirty="0">
                <a:solidFill>
                  <a:srgbClr val="1E1E1E"/>
                </a:solidFill>
              </a:rPr>
              <a:t>Photon-mediated remote entanglement (Delft method): demonstrated, NV centres, 1.3 km.</a:t>
            </a:r>
          </a:p>
          <a:p>
            <a:pPr algn="l" lvl="1"/>
            <a:r>
              <a:rPr sz="1600" lang="en-GB" dirty="0">
                <a:solidFill>
                  <a:srgbClr val="1E1E1E"/>
                </a:solidFill>
              </a:rPr>
              <a:t>Linear ion chain of 12+ ions in a Paul trap: routinely demonstrated in quantum computing.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5.2  Sound Physics, Undemonstrated at Scale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these are things that should work based on physics we know, but that nobody has actually built yet at the scale the EMT requires.</a:t>
            </a:r>
          </a:p>
          <a:p>
            <a:pPr algn="l"/>
            <a:r>
              <a:rPr sz="700" lang="en-GB" dirty="0">
                <a:solidFill>
                  <a:srgbClr val="1E1E1E"/>
                </a:solidFill>
              </a:rPr>
              <a:t/>
            </a:r>
          </a:p>
          <a:p>
            <a:pPr algn="l" lvl="1"/>
            <a:r>
              <a:rPr sz="1600" lang="en-GB" dirty="0">
                <a:solidFill>
                  <a:srgbClr val="1E1E1E"/>
                </a:solidFill>
              </a:rPr>
              <a:t>Miniature per-ion coil fabricated in the same e-beam step as the trap electrodes: physically feasible, not yet demonstrated in a production device.</a:t>
            </a:r>
          </a:p>
          <a:p>
            <a:pPr algn="l" lvl="1"/>
            <a:r>
              <a:rPr sz="1600" lang="en-GB" dirty="0">
                <a:solidFill>
                  <a:srgbClr val="1E1E1E"/>
                </a:solidFill>
              </a:rPr>
              <a:t>Simultaneous entanglement of all 12 ion pairs across a separation point with subsequent physical division: single-pair entanglement across zones is demonstrated; 12-pair simultaneous entanglement plus physical separation is an extrapolation.</a:t>
            </a:r>
          </a:p>
          <a:p>
            <a:pPr algn="l" lvl="1"/>
            <a:r>
              <a:rPr sz="1600" lang="en-GB" dirty="0">
                <a:solidFill>
                  <a:srgbClr val="1E1E1E"/>
                </a:solidFill>
              </a:rPr>
              <a:t>Orientation angle encoding (ROR) as a communication protocol: write and read mechanisms each individually demonstrated; the combined protocol is novel but requires no new physics.</a:t>
            </a:r>
          </a:p>
          <a:p>
            <a:pPr algn="l" lvl="1"/>
            <a:r>
              <a:rPr sz="1600" lang="en-GB" dirty="0">
                <a:solidFill>
                  <a:srgbClr val="1E1E1E"/>
                </a:solidFill>
              </a:rPr>
              <a:t>Flag protocol (particles 11 and 12) for handshake coordination: requires only state-selective fluorescence and magnetic pulses, both demonstrated.</a:t>
            </a:r>
          </a:p>
          <a:p>
            <a:pPr algn="l" lvl="1"/>
            <a:r>
              <a:rPr sz="1600" lang="en-GB" dirty="0">
                <a:solidFill>
                  <a:srgbClr val="1E1E1E"/>
                </a:solidFill>
              </a:rPr>
              <a:t>Bootstrap re-entanglement maintaining 10+ pairs long-term: individual steps demonstrated; the integrated system is new.</a:t>
            </a:r>
          </a:p>
          <a:p>
            <a:pPr algn="l" lvl="1"/>
            <a:r>
              <a:rPr sz="1600" lang="en-GB" dirty="0">
                <a:solidFill>
                  <a:srgbClr val="1E1E1E"/>
                </a:solidFill>
              </a:rPr>
              <a:t>Chip-scale UHV packaging: active engineering challenge in quantum computing industry.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5.3  The Central Open Question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will it actually work? Does pointing Device A's ions at a certain angle cause Device B's ions to show any trace of that angle? Standard physics says no. That prediction has not been tested in the conditions the EMT uses. This experiment will test it.</a:t>
            </a:r>
          </a:p>
          <a:p>
            <a:pPr algn="l"/>
            <a:r>
              <a:rPr sz="700" lang="en-GB" dirty="0">
                <a:solidFill>
                  <a:srgbClr val="1E1E1E"/>
                </a:solidFill>
              </a:rPr>
              <a:t/>
            </a:r>
          </a:p>
          <a:p>
            <a:pPr algn="l">
              <a:spcBef>
                <a:spcPts val="500"/>
              </a:spcBef>
            </a:pPr>
            <a:r>
              <a:rPr sz="1700" lang="en-GB" dirty="0" b="1">
                <a:solidFill>
                  <a:srgbClr val="1E3A5F"/>
                </a:solidFill>
              </a:rPr>
              <a:t>The primary EMT claim</a:t>
            </a:r>
          </a:p>
          <a:p>
            <a:pPr algn="l"/>
            <a:r>
              <a:rPr sz="1600" lang="en-GB" dirty="0">
                <a:solidFill>
                  <a:srgbClr val="1E1E1E"/>
                </a:solidFill>
              </a:rPr>
              <a:t>When Alice sets all 10 data ions to orientation θ, does Bob's average of his 10 entangled partner ions encode any information about θ?</a:t>
            </a:r>
          </a:p>
          <a:p>
            <a:pPr algn="l"/>
            <a:r>
              <a:rPr sz="700" lang="en-GB" dirty="0">
                <a:solidFill>
                  <a:srgbClr val="1E1E1E"/>
                </a:solidFill>
              </a:rPr>
              <a:t/>
            </a:r>
          </a:p>
          <a:p>
            <a:pPr algn="l">
              <a:spcBef>
                <a:spcPts val="500"/>
              </a:spcBef>
            </a:pPr>
            <a:r>
              <a:rPr sz="1700" lang="en-GB" dirty="0" b="1">
                <a:solidFill>
                  <a:srgbClr val="1E3A5F"/>
                </a:solidFill>
              </a:rPr>
              <a:t>Standard QM prediction</a:t>
            </a:r>
          </a:p>
          <a:p>
            <a:pPr algn="l"/>
            <a:r>
              <a:rPr sz="1300" lang="en-GB" dirty="0">
                <a:solidFill>
                  <a:srgbClr val="1E1E1E"/>
                </a:solidFill>
                <a:latin typeface="Courier New"/>
              </a:rPr>
              <a:t>  ρ_B = Tr_A(ρ_AB) = I/2  for all Alice operations</a:t>
            </a:r>
          </a:p>
          <a:p>
            <a:pPr algn="l"/>
            <a:r>
              <a:rPr sz="1600" lang="en-GB" dirty="0">
                <a:solidFill>
                  <a:srgbClr val="1E1E1E"/>
                </a:solidFill>
              </a:rPr>
              <a:t>Bob always sees a maximally mixed state. Signal is identically zero.</a:t>
            </a:r>
          </a:p>
          <a:p>
            <a:pPr algn="l"/>
            <a:r>
              <a:rPr sz="700" lang="en-GB" dirty="0">
                <a:solidFill>
                  <a:srgbClr val="1E1E1E"/>
                </a:solidFill>
              </a:rPr>
              <a:t/>
            </a:r>
          </a:p>
          <a:p>
            <a:pPr algn="l">
              <a:spcBef>
                <a:spcPts val="500"/>
              </a:spcBef>
            </a:pPr>
            <a:r>
              <a:rPr sz="1700" lang="en-GB" dirty="0" b="1">
                <a:solidFill>
                  <a:srgbClr val="1E3A5F"/>
                </a:solidFill>
              </a:rPr>
              <a:t>Why the experiment is worth performing</a:t>
            </a:r>
          </a:p>
          <a:p>
            <a:pPr algn="l" lvl="1"/>
            <a:r>
              <a:rPr sz="1600" lang="en-GB" dirty="0">
                <a:solidFill>
                  <a:srgbClr val="1E1E1E"/>
                </a:solidFill>
              </a:rPr>
              <a:t>The theorem is proven for individual pairs. The EMT tests a collective variable of the N-pair ensemble — whether ensemble orientation coherence survives in a way not captured by summing N individual density matrices.</a:t>
            </a:r>
          </a:p>
          <a:p>
            <a:pPr algn="l" lvl="1"/>
            <a:r>
              <a:rPr sz="1600" lang="en-GB" dirty="0">
                <a:solidFill>
                  <a:srgbClr val="1E1E1E"/>
                </a:solidFill>
              </a:rPr>
              <a:t>A definitive null result is publishable and tightens bounds on all non-local theories. A positive result would require revision of QM.</a:t>
            </a:r>
          </a:p>
          <a:p>
            <a:pPr algn="l"/>
            <a:r>
              <a:rPr sz="700" lang="en-GB" dirty="0">
                <a:solidFill>
                  <a:srgbClr val="1E1E1E"/>
                </a:solidFill>
              </a:rPr>
              <a:t/>
            </a:r>
          </a:p>
          <a:p>
            <a:pPr algn="l">
              <a:spcBef>
                <a:spcPts val="500"/>
              </a:spcBef>
            </a:pPr>
            <a:r>
              <a:rPr sz="1700" lang="en-GB" dirty="0" b="1">
                <a:solidFill>
                  <a:srgbClr val="1E3A5F"/>
                </a:solidFill>
              </a:rPr>
              <a:t>Critical experimental requirement</a:t>
            </a:r>
          </a:p>
          <a:p>
            <a:pPr algn="l"/>
            <a:r>
              <a:rPr sz="1600" lang="en-GB" dirty="0">
                <a:solidFill>
                  <a:srgbClr val="1E1E1E"/>
                </a:solidFill>
              </a:rPr>
              <a:t>All classical leakage paths must be eliminated before any positive result can be claimed: EM shielding, vibration isolation, common-mode field rejection, blind analysis. Loophole-free design is as important as the measurement itself.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5.4  Speculative Extensions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these ideas require even more new physics than the basic EMT channel. They are included because they follow logically if the EMT works — but they should not be treated as likely.</a:t>
            </a:r>
          </a:p>
          <a:p>
            <a:pPr algn="l"/>
            <a:r>
              <a:rPr sz="700" lang="en-GB" dirty="0">
                <a:solidFill>
                  <a:srgbClr val="1E1E1E"/>
                </a:solidFill>
              </a:rPr>
              <a:t/>
            </a:r>
          </a:p>
          <a:p>
            <a:pPr algn="l">
              <a:spcBef>
                <a:spcPts val="500"/>
              </a:spcBef>
            </a:pPr>
            <a:r>
              <a:rPr sz="1700" lang="en-GB" dirty="0" b="1">
                <a:solidFill>
                  <a:srgbClr val="1E3A5F"/>
                </a:solidFill>
              </a:rPr>
              <a:t>Virtual Bell measurement / pairing code recovery</a:t>
            </a:r>
          </a:p>
          <a:p>
            <a:pPr algn="l" lvl="1"/>
            <a:r>
              <a:rPr sz="1600" lang="en-GB" dirty="0">
                <a:solidFill>
                  <a:srgbClr val="1E1E1E"/>
                </a:solidFill>
              </a:rPr>
              <a:t>Requires not only that the EMT channel works, but that entanglement can be created between systems with no shared quantum history. This is a significantly larger departure from known physics.</a:t>
            </a:r>
          </a:p>
          <a:p>
            <a:pPr algn="l"/>
            <a:r>
              <a:rPr sz="700" lang="en-GB" dirty="0">
                <a:solidFill>
                  <a:srgbClr val="1E1E1E"/>
                </a:solidFill>
              </a:rPr>
              <a:t/>
            </a:r>
          </a:p>
          <a:p>
            <a:pPr algn="l">
              <a:spcBef>
                <a:spcPts val="500"/>
              </a:spcBef>
            </a:pPr>
            <a:r>
              <a:rPr sz="1700" lang="en-GB" dirty="0" b="1">
                <a:solidFill>
                  <a:srgbClr val="1E3A5F"/>
                </a:solidFill>
              </a:rPr>
              <a:t>Phone-like peer-to-peer network</a:t>
            </a:r>
          </a:p>
          <a:p>
            <a:pPr algn="l" lvl="1"/>
            <a:r>
              <a:rPr sz="1600" lang="en-GB" dirty="0">
                <a:solidFill>
                  <a:srgbClr val="1E1E1E"/>
                </a:solidFill>
              </a:rPr>
              <a:t>Contingent on the virtual Bell measurement working. If it does, the architecture follows directly.</a:t>
            </a:r>
          </a:p>
          <a:p>
            <a:pPr algn="l"/>
            <a:r>
              <a:rPr sz="700" lang="en-GB" dirty="0">
                <a:solidFill>
                  <a:srgbClr val="1E1E1E"/>
                </a:solidFill>
              </a:rPr>
              <a:t/>
            </a:r>
          </a:p>
          <a:p>
            <a:pPr algn="l">
              <a:spcBef>
                <a:spcPts val="500"/>
              </a:spcBef>
            </a:pPr>
            <a:r>
              <a:rPr sz="1700" lang="en-GB" dirty="0" b="1">
                <a:solidFill>
                  <a:srgbClr val="1E3A5F"/>
                </a:solidFill>
              </a:rPr>
              <a:t>Speculation hierarchy</a:t>
            </a:r>
          </a:p>
          <a:p>
            <a:pPr algn="l"/>
            <a:r>
              <a:rPr sz="1300" lang="en-GB" dirty="0">
                <a:solidFill>
                  <a:srgbClr val="1E1E1E"/>
                </a:solidFill>
                <a:latin typeface="Courier New"/>
              </a:rPr>
              <a:t>  Level 1:  EMT channel signal exists</a:t>
            </a:r>
          </a:p>
          <a:p>
            <a:pPr algn="l"/>
            <a:r>
              <a:rPr sz="1300" lang="en-GB" dirty="0">
                <a:solidFill>
                  <a:srgbClr val="1E1E1E"/>
                </a:solidFill>
                <a:latin typeface="Courier New"/>
              </a:rPr>
              <a:t>            → NCT incomplete in ensemble-orientation regime</a:t>
            </a:r>
          </a:p>
          <a:p>
            <a:pPr algn="l"/>
            <a:r>
              <a:rPr sz="1300" lang="en-GB" dirty="0">
                <a:solidFill>
                  <a:srgbClr val="1E1E1E"/>
                </a:solidFill>
                <a:latin typeface="Courier New"/>
              </a:rPr>
              <a:t>  Level 2:  Virtual Bell measurement works</a:t>
            </a:r>
          </a:p>
          <a:p>
            <a:pPr algn="l"/>
            <a:r>
              <a:rPr sz="1300" lang="en-GB" dirty="0">
                <a:solidFill>
                  <a:srgbClr val="1E1E1E"/>
                </a:solidFill>
                <a:latin typeface="Courier New"/>
              </a:rPr>
              <a:t>            → entanglement creatable without prior interaction</a:t>
            </a:r>
          </a:p>
          <a:p>
            <a:pPr algn="l"/>
            <a:r>
              <a:rPr sz="1300" lang="en-GB" dirty="0">
                <a:solidFill>
                  <a:srgbClr val="1E1E1E"/>
                </a:solidFill>
                <a:latin typeface="Courier New"/>
              </a:rPr>
              <a:t>  Level 3:  Full peer-to-peer phone network</a:t>
            </a:r>
          </a:p>
          <a:p>
            <a:pPr algn="l"/>
            <a:r>
              <a:rPr sz="1300" lang="en-GB" dirty="0">
                <a:solidFill>
                  <a:srgbClr val="1E1E1E"/>
                </a:solidFill>
                <a:latin typeface="Courier New"/>
              </a:rPr>
              <a:t>            → follows from Level 2</a:t>
            </a:r>
          </a:p>
          <a:p>
            <a:pPr algn="l"/>
            <a:r>
              <a:rPr sz="700" lang="en-GB" dirty="0">
                <a:solidFill>
                  <a:srgbClr val="1E1E1E"/>
                </a:solidFill>
              </a:rPr>
              <a:t/>
            </a:r>
          </a:p>
          <a:p>
            <a:pPr algn="l"/>
            <a:r>
              <a:rPr sz="1600" lang="en-GB" dirty="0">
                <a:solidFill>
                  <a:srgbClr val="1E1E1E"/>
                </a:solidFill>
              </a:rPr>
              <a:t>The fixed-pair EMT link with relay station (section 4.1) requires only Level 1. It is the conservative, buildable target.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5.5  Engineering Feasibility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if the experiment works, how hard is it to build the actual device? The honest answer is: hard, but nothing about it requires inventing new physics or new materials.</a:t>
            </a:r>
          </a:p>
          <a:p>
            <a:pPr algn="l"/>
            <a:r>
              <a:rPr sz="700" lang="en-GB" dirty="0">
                <a:solidFill>
                  <a:srgbClr val="1E1E1E"/>
                </a:solidFill>
              </a:rPr>
              <a:t/>
            </a:r>
          </a:p>
          <a:p>
            <a:pPr algn="l">
              <a:spcBef>
                <a:spcPts val="500"/>
              </a:spcBef>
            </a:pPr>
            <a:r>
              <a:rPr sz="1700" lang="en-GB" dirty="0" b="1">
                <a:solidFill>
                  <a:srgbClr val="1E3A5F"/>
                </a:solidFill>
              </a:rPr>
              <a:t>If Stage 2 confirms the primary effect</a:t>
            </a:r>
          </a:p>
          <a:p>
            <a:pPr algn="l" lvl="1"/>
            <a:r>
              <a:rPr sz="1600" lang="en-GB" dirty="0">
                <a:solidFill>
                  <a:srgbClr val="1E1E1E"/>
                </a:solidFill>
              </a:rPr>
              <a:t>The hardware path is clear. Ca⁺ ion trap technology is the most mature qubit platform. All required capabilities are individually demonstrated.</a:t>
            </a:r>
          </a:p>
          <a:p>
            <a:pPr algn="l" lvl="1"/>
            <a:r>
              <a:rPr sz="1600" lang="en-GB" dirty="0">
                <a:solidFill>
                  <a:srgbClr val="1E1E1E"/>
                </a:solidFill>
              </a:rPr>
              <a:t>Chip-scale UHV packaging: being solved by quantum computing industry.</a:t>
            </a:r>
          </a:p>
          <a:p>
            <a:pPr algn="l" lvl="1"/>
            <a:r>
              <a:rPr sz="1600" lang="en-GB" dirty="0">
                <a:solidFill>
                  <a:srgbClr val="1E1E1E"/>
                </a:solidFill>
              </a:rPr>
              <a:t>12-ion chain with full entanglement at separation: requires scale-up of demonstrated MS gate technique.</a:t>
            </a:r>
          </a:p>
          <a:p>
            <a:pPr algn="l" lvl="1"/>
            <a:r>
              <a:rPr sz="1600" lang="en-GB" dirty="0">
                <a:solidFill>
                  <a:srgbClr val="1E1E1E"/>
                </a:solidFill>
              </a:rPr>
              <a:t>Photon collection efficiency for bootstrap re-entanglement: nanophotonic cavity QED achieves &gt; 50% efficiency.</a:t>
            </a:r>
          </a:p>
          <a:p>
            <a:pPr algn="l" lvl="1"/>
            <a:r>
              <a:rPr sz="1600" lang="en-GB" dirty="0">
                <a:solidFill>
                  <a:srgbClr val="1E1E1E"/>
                </a:solidFill>
              </a:rPr>
              <a:t>MCU control of DD pulses plus coil writes: embedded systems engineering.</a:t>
            </a:r>
          </a:p>
          <a:p>
            <a:pPr algn="l"/>
            <a:r>
              <a:rPr sz="700" lang="en-GB" dirty="0">
                <a:solidFill>
                  <a:srgbClr val="1E1E1E"/>
                </a:solidFill>
              </a:rPr>
              <a:t/>
            </a:r>
          </a:p>
          <a:p>
            <a:pPr algn="l">
              <a:spcBef>
                <a:spcPts val="500"/>
              </a:spcBef>
            </a:pPr>
            <a:r>
              <a:rPr sz="1700" lang="en-GB" dirty="0" b="1">
                <a:solidFill>
                  <a:srgbClr val="1E3A5F"/>
                </a:solidFill>
              </a:rPr>
              <a:t>Timeline estimate</a:t>
            </a:r>
          </a:p>
          <a:p>
            <a:pPr algn="l"/>
            <a:r>
              <a:rPr sz="1300" lang="en-GB" dirty="0">
                <a:solidFill>
                  <a:srgbClr val="1E1E1E"/>
                </a:solidFill>
                <a:latin typeface="Courier New"/>
              </a:rPr>
              <a:t>  Stage 1 (single pair, same lab):</a:t>
            </a:r>
          </a:p>
          <a:p>
            <a:pPr algn="l"/>
            <a:r>
              <a:rPr sz="1300" lang="en-GB" dirty="0">
                <a:solidFill>
                  <a:srgbClr val="1E1E1E"/>
                </a:solidFill>
                <a:latin typeface="Courier New"/>
              </a:rPr>
              <a:t>    6–12 months in existing ion trap lab</a:t>
            </a:r>
          </a:p>
          <a:p>
            <a:pPr algn="l"/>
            <a:r>
              <a:rPr sz="1300" lang="en-GB" dirty="0">
                <a:solidFill>
                  <a:srgbClr val="1E1E1E"/>
                </a:solidFill>
                <a:latin typeface="Courier New"/>
              </a:rPr>
              <a:t>  Stage 2 (remote isolation, primary test):</a:t>
            </a:r>
          </a:p>
          <a:p>
            <a:pPr algn="l"/>
            <a:r>
              <a:rPr sz="1300" lang="en-GB" dirty="0">
                <a:solidFill>
                  <a:srgbClr val="1E1E1E"/>
                </a:solidFill>
                <a:latin typeface="Courier New"/>
              </a:rPr>
              <a:t>    12–24 months with dedicated apparatus</a:t>
            </a:r>
          </a:p>
          <a:p>
            <a:pPr algn="l"/>
            <a:r>
              <a:rPr sz="1300" lang="en-GB" dirty="0">
                <a:solidFill>
                  <a:srgbClr val="1E1E1E"/>
                </a:solidFill>
                <a:latin typeface="Courier New"/>
              </a:rPr>
              <a:t>  Stage 3 (coherence maintenance, self-healing):</a:t>
            </a:r>
          </a:p>
          <a:p>
            <a:pPr algn="l"/>
            <a:r>
              <a:rPr sz="1300" lang="en-GB" dirty="0">
                <a:solidFill>
                  <a:srgbClr val="1E1E1E"/>
                </a:solidFill>
                <a:latin typeface="Courier New"/>
              </a:rPr>
              <a:t>    24–48 months engineering after Stage 2 confirmation</a:t>
            </a:r>
          </a:p>
          <a:p>
            <a:pPr algn="l"/>
            <a:r>
              <a:rPr sz="1300" lang="en-GB" dirty="0">
                <a:solidFill>
                  <a:srgbClr val="1E1E1E"/>
                </a:solidFill>
                <a:latin typeface="Courier New"/>
              </a:rPr>
              <a:t>  Production device:</a:t>
            </a:r>
          </a:p>
          <a:p>
            <a:pPr algn="l"/>
            <a:r>
              <a:rPr sz="1300" lang="en-GB" dirty="0">
                <a:solidFill>
                  <a:srgbClr val="1E1E1E"/>
                </a:solidFill>
                <a:latin typeface="Courier New"/>
              </a:rPr>
              <a:t>    Dependent on chip-scale UHV packaging progress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5.6  Conclusion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 device is physically plausible, the experiment is feasible, and both possible results are scientifically valuable. It is worth building and testing.</a:t>
            </a:r>
          </a:p>
          <a:p>
            <a:pPr algn="l"/>
            <a:r>
              <a:rPr sz="700" lang="en-GB" dirty="0">
                <a:solidFill>
                  <a:srgbClr val="1E1E1E"/>
                </a:solidFill>
              </a:rPr>
              <a:t/>
            </a:r>
          </a:p>
          <a:p>
            <a:pPr algn="l">
              <a:spcBef>
                <a:spcPts val="500"/>
              </a:spcBef>
            </a:pPr>
            <a:r>
              <a:rPr sz="1700" lang="en-GB" dirty="0" b="1">
                <a:solidFill>
                  <a:srgbClr val="1E3A5F"/>
                </a:solidFill>
              </a:rPr>
              <a:t>Summary</a:t>
            </a:r>
          </a:p>
          <a:p>
            <a:pPr algn="l" lvl="1"/>
            <a:r>
              <a:rPr sz="1600" lang="en-GB" dirty="0">
                <a:solidFill>
                  <a:srgbClr val="1E1E1E"/>
                </a:solidFill>
              </a:rPr>
              <a:t>The substrate (Ca⁺), write mechanism (miniature coil), read mechanism (397 nm fluorescence polarimetry), coherence maintenance (DD), flag protocol (12-particle line), and self-healing bootstrap are all grounded in established or tractable physics.</a:t>
            </a:r>
          </a:p>
          <a:p>
            <a:pPr algn="l" lvl="1"/>
            <a:r>
              <a:rPr sz="1600" lang="en-GB" dirty="0">
                <a:solidFill>
                  <a:srgbClr val="1E1E1E"/>
                </a:solidFill>
              </a:rPr>
              <a:t>The central EMT hypothesis — that ensemble orientation of entangled ions produces a detectable signal — contradicts the no-communication theorem as currently proven but addresses a regime not directly tested.</a:t>
            </a:r>
          </a:p>
          <a:p>
            <a:pPr algn="l"/>
            <a:r>
              <a:rPr sz="700" lang="en-GB" dirty="0">
                <a:solidFill>
                  <a:srgbClr val="1E1E1E"/>
                </a:solidFill>
              </a:rPr>
              <a:t/>
            </a:r>
          </a:p>
          <a:p>
            <a:pPr algn="l">
              <a:spcBef>
                <a:spcPts val="500"/>
              </a:spcBef>
            </a:pPr>
            <a:r>
              <a:rPr sz="1700" lang="en-GB" dirty="0" b="1">
                <a:solidFill>
                  <a:srgbClr val="1E3A5F"/>
                </a:solidFill>
              </a:rPr>
              <a:t>If the experiment confirms the effect</a:t>
            </a:r>
          </a:p>
          <a:p>
            <a:pPr algn="l"/>
            <a:r>
              <a:rPr sz="1600" lang="en-GB" dirty="0">
                <a:solidFill>
                  <a:srgbClr val="1E1E1E"/>
                </a:solidFill>
              </a:rPr>
              <a:t>The device is buildable. Range covers the entire inner solar system with current Ca⁺ nuclear spin coherence technology.</a:t>
            </a:r>
          </a:p>
          <a:p>
            <a:pPr algn="l"/>
            <a:r>
              <a:rPr sz="700" lang="en-GB" dirty="0">
                <a:solidFill>
                  <a:srgbClr val="1E1E1E"/>
                </a:solidFill>
              </a:rPr>
              <a:t/>
            </a:r>
          </a:p>
          <a:p>
            <a:pPr algn="l">
              <a:spcBef>
                <a:spcPts val="500"/>
              </a:spcBef>
            </a:pPr>
            <a:r>
              <a:rPr sz="1700" lang="en-GB" dirty="0" b="1">
                <a:solidFill>
                  <a:srgbClr val="1E3A5F"/>
                </a:solidFill>
              </a:rPr>
              <a:t>If the experiment finds no effect</a:t>
            </a:r>
          </a:p>
          <a:p>
            <a:pPr algn="l"/>
            <a:r>
              <a:rPr sz="1600" lang="en-GB" dirty="0">
                <a:solidFill>
                  <a:srgbClr val="1E1E1E"/>
                </a:solidFill>
              </a:rPr>
              <a:t>The theorem is confirmed in a new regime. The apparatus — a 12-ion linear chain with precision orientation control and weak-measurement readout — is a world-class quantum sensor applicable to atomic clocks, gravitational wave detection, and quantum key distribution regardless of the primary result.</a:t>
            </a:r>
          </a:p>
          <a:p>
            <a:pPr algn="l"/>
            <a:r>
              <a:rPr sz="700" lang="en-GB" dirty="0">
                <a:solidFill>
                  <a:srgbClr val="1E1E1E"/>
                </a:solidFill>
              </a:rPr>
              <a:t/>
            </a:r>
          </a:p>
          <a:p>
            <a:pPr algn="l"/>
            <a:r>
              <a:rPr sz="1300" lang="en-GB" dirty="0">
                <a:solidFill>
                  <a:srgbClr val="788598"/>
                </a:solidFill>
              </a:rPr>
              <a:t>The device is the experiment. The experiment is the device.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Protocol Properties and Throughput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 flag protocol ensures that only one device is changing the data ions at a time, and that the other device has finished reading before the first one moves on. This gives us a reliable two-way conversation with no dropped characters.</a:t>
            </a:r>
          </a:p>
          <a:p>
            <a:pPr algn="l"/>
            <a:r>
              <a:rPr sz="700" lang="en-GB" dirty="0">
                <a:solidFill>
                  <a:srgbClr val="1E1E1E"/>
                </a:solidFill>
              </a:rPr>
              <a:t/>
            </a:r>
          </a:p>
          <a:p>
            <a:pPr algn="l">
              <a:spcBef>
                <a:spcPts val="500"/>
              </a:spcBef>
            </a:pPr>
            <a:r>
              <a:rPr sz="1700" lang="en-GB" dirty="0" b="1">
                <a:solidFill>
                  <a:srgbClr val="1E3A5F"/>
                </a:solidFill>
              </a:rPr>
              <a:t>No arbitration required</a:t>
            </a:r>
          </a:p>
          <a:p>
            <a:pPr algn="l"/>
            <a:r>
              <a:rPr sz="1600" lang="en-GB" dirty="0">
                <a:solidFill>
                  <a:srgbClr val="1E1E1E"/>
                </a:solidFill>
              </a:rPr>
              <a:t>Device A writes only to ion 11. Device B writes only to ion 12. Neither writes to the other's flag. Read-before-write on the partner's flag prevents data corruption. No token passing or priority system needed.</a:t>
            </a:r>
          </a:p>
          <a:p>
            <a:pPr algn="l"/>
            <a:r>
              <a:rPr sz="700" lang="en-GB" dirty="0">
                <a:solidFill>
                  <a:srgbClr val="1E1E1E"/>
                </a:solidFill>
              </a:rPr>
              <a:t/>
            </a:r>
          </a:p>
          <a:p>
            <a:pPr algn="l">
              <a:spcBef>
                <a:spcPts val="500"/>
              </a:spcBef>
            </a:pPr>
            <a:r>
              <a:rPr sz="1700" lang="en-GB" dirty="0" b="1">
                <a:solidFill>
                  <a:srgbClr val="1E3A5F"/>
                </a:solidFill>
              </a:rPr>
              <a:t>Read confirmation (DONE state)</a:t>
            </a:r>
          </a:p>
          <a:p>
            <a:pPr algn="l"/>
            <a:r>
              <a:rPr sz="1600" lang="en-GB" dirty="0">
                <a:solidFill>
                  <a:srgbClr val="1E1E1E"/>
                </a:solidFill>
              </a:rPr>
              <a:t>When Device A sets Flag 11 = DONE, Device B knows its transmission was successfully decoded and may safely advance to the next character. Without this, a transmitter could overwrite the data ions before the reader had finished.</a:t>
            </a:r>
          </a:p>
          <a:p>
            <a:pPr algn="l"/>
            <a:r>
              <a:rPr sz="700" lang="en-GB" dirty="0">
                <a:solidFill>
                  <a:srgbClr val="1E1E1E"/>
                </a:solidFill>
              </a:rPr>
              <a:t/>
            </a:r>
          </a:p>
          <a:p>
            <a:pPr algn="l">
              <a:spcBef>
                <a:spcPts val="500"/>
              </a:spcBef>
            </a:pPr>
            <a:r>
              <a:rPr sz="1700" lang="en-GB" dirty="0" b="1">
                <a:solidFill>
                  <a:srgbClr val="1E3A5F"/>
                </a:solidFill>
              </a:rPr>
              <a:t>Immediate reply — no dead cycle</a:t>
            </a:r>
          </a:p>
          <a:p>
            <a:pPr algn="l"/>
            <a:r>
              <a:rPr sz="1600" lang="en-GB" dirty="0">
                <a:solidFill>
                  <a:srgbClr val="1E1E1E"/>
                </a:solidFill>
              </a:rPr>
              <a:t>After DONE, the reading device transitions directly to WRITING without returning to READY. This eliminates one dead cycle and allows the reply to begin immediately.</a:t>
            </a:r>
          </a:p>
          <a:p>
            <a:pPr algn="l"/>
            <a:r>
              <a:rPr sz="700" lang="en-GB" dirty="0">
                <a:solidFill>
                  <a:srgbClr val="1E1E1E"/>
                </a:solidFill>
              </a:rPr>
              <a:t/>
            </a:r>
          </a:p>
          <a:p>
            <a:pPr algn="l">
              <a:spcBef>
                <a:spcPts val="500"/>
              </a:spcBef>
            </a:pPr>
            <a:r>
              <a:rPr sz="1700" lang="en-GB" dirty="0" b="1">
                <a:solidFill>
                  <a:srgbClr val="1E3A5F"/>
                </a:solidFill>
              </a:rPr>
              <a:t>Throughput analysis</a:t>
            </a:r>
          </a:p>
          <a:p>
            <a:pPr algn="l"/>
            <a:r>
              <a:rPr sz="1300" lang="en-GB" dirty="0">
                <a:solidFill>
                  <a:srgbClr val="1E1E1E"/>
                </a:solidFill>
                <a:latin typeface="Courier New"/>
              </a:rPr>
              <a:t>  One exchange = A→B + B→A = 2 × t_dwell</a:t>
            </a:r>
          </a:p>
          <a:p>
            <a:pPr algn="l"/>
            <a:r>
              <a:rPr sz="1300" lang="en-GB" dirty="0">
                <a:solidFill>
                  <a:srgbClr val="1E1E1E"/>
                </a:solidFill>
                <a:latin typeface="Courier New"/>
              </a:rPr>
              <a:t>  t_dwell = N × t_read  (N=10, t_read ≈ 10–100 μs)</a:t>
            </a:r>
          </a:p>
          <a:p>
            <a:pPr algn="l"/>
            <a:r>
              <a:rPr sz="1300" lang="en-GB" dirty="0">
                <a:solidFill>
                  <a:srgbClr val="1E1E1E"/>
                </a:solidFill>
                <a:latin typeface="Courier New"/>
              </a:rPr>
              <a:t>  t_dwell ≈ 100 μs to 1 ms per direction</a:t>
            </a:r>
          </a:p>
          <a:p>
            <a:pPr algn="l"/>
            <a:r>
              <a:rPr sz="1300" lang="en-GB" dirty="0">
                <a:solidFill>
                  <a:srgbClr val="1E1E1E"/>
                </a:solidFill>
                <a:latin typeface="Courier New"/>
              </a:rPr>
              <a:t>  Throughput ≈ 500 to 5,000 character-exchanges per second</a:t>
            </a:r>
          </a:p>
          <a:p>
            <a:pPr algn="l"/>
            <a:r>
              <a:rPr sz="700" lang="en-GB" dirty="0">
                <a:solidFill>
                  <a:srgbClr val="1E1E1E"/>
                </a:solidFill>
              </a:rPr>
              <a:t/>
            </a:r>
          </a:p>
          <a:p>
            <a:pPr algn="l">
              <a:spcBef>
                <a:spcPts val="500"/>
              </a:spcBef>
            </a:pPr>
            <a:r>
              <a:rPr sz="1700" lang="en-GB" dirty="0" b="1">
                <a:solidFill>
                  <a:srgbClr val="1E3A5F"/>
                </a:solidFill>
              </a:rPr>
              <a:t>Comparison with larger ensembles</a:t>
            </a:r>
          </a:p>
          <a:p>
            <a:pPr algn="l"/>
            <a:r>
              <a:rPr sz="1600" lang="en-GB" dirty="0">
                <a:solidFill>
                  <a:srgbClr val="1E1E1E"/>
                </a:solidFill>
              </a:rPr>
              <a:t>A longer ion chain (e.g. 100 data ions instead of 10) would reduce the angular noise from ±14.2° to ±4.5°, enabling finer character spacing and a larger character set. The 12-ion design is the minimum viable starting point.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a:extLst>
              <a:ext uri="{FF2B5EF4-FFF2-40B4-BE49-F238E27FC236}">
                <a16:creationId xmlns:a16="http://schemas.microsoft.com/office/drawing/2014/main" id="{77BFE8A6-40E1-8F8A-0D89-55D3CA9F655D}"/>
              </a:ext>
            </a:extLst>
          </p:cNvPr>
          <p:cNvSpPr txBox="1"/>
          <p:nvPr/>
        </p:nvSpPr>
        <p:spPr>
          <a:xfrm>
            <a:off x="0" y="0"/>
            <a:ext cx="6858000" cy="523220"/>
          </a:xfrm>
          <a:prstGeom prst="rect">
            <a:avLst/>
          </a:prstGeom>
          <a:noFill/>
        </p:spPr>
        <p:txBody>
          <a:bodyPr wrap="square" rtlCol="0">
            <a:spAutoFit/>
          </a:bodyPr>
          <a:lstStyle/>
          <a:p>
            <a:pPr algn="ctr"/>
            <a:r>
              <a:rPr lang="en-GB" sz="2800" dirty="0"/>
              <a:t>Expanding the reach</a:t>
            </a:r>
          </a:p>
        </p:txBody>
      </p:sp>
      <p:sp>
        <p:nvSpPr>
          <p:cNvPr id="5" name="TextBox 4">
            <a:extLst>
              <a:ext uri="{FF2B5EF4-FFF2-40B4-BE49-F238E27FC236}">
                <a16:creationId xmlns:a16="http://schemas.microsoft.com/office/drawing/2014/main" id="{3376B9C9-C82C-E0F3-1A83-770A1FAB745C}"/>
              </a:ext>
            </a:extLst>
          </p:cNvPr>
          <p:cNvSpPr txBox="1"/>
          <p:nvPr/>
        </p:nvSpPr>
        <p:spPr>
          <a:xfrm>
            <a:off x="0" y="657225"/>
            <a:ext cx="6858000" cy="5078313"/>
          </a:xfrm>
          <a:prstGeom prst="rect">
            <a:avLst/>
          </a:prstGeom>
          <a:noFill/>
        </p:spPr>
        <p:txBody>
          <a:bodyPr wrap="square" rtlCol="0">
            <a:spAutoFit/>
          </a:bodyPr>
          <a:lstStyle/>
          <a:p>
            <a:r>
              <a:rPr lang="en-GB" dirty="0"/>
              <a:t>While a pair of these enable communication across the solar system, it is restricted to the 2 devices:</a:t>
            </a:r>
          </a:p>
          <a:p>
            <a:r>
              <a:rPr lang="en-GB" dirty="0"/>
              <a:t>Mars &lt;-&gt; Earth</a:t>
            </a:r>
          </a:p>
          <a:p>
            <a:r>
              <a:rPr lang="en-GB" dirty="0"/>
              <a:t>Or Earth &lt;-&gt; Spaceship</a:t>
            </a:r>
          </a:p>
          <a:p>
            <a:endParaRPr lang="en-GB" dirty="0"/>
          </a:p>
          <a:p>
            <a:r>
              <a:rPr lang="en-GB" dirty="0"/>
              <a:t>To overcome this limitation, imagine a “call centre” that houses all Earth bound transceivers (or a dedicated space station) - by housing and connecting them together, communication channels can be extended, for example:</a:t>
            </a:r>
          </a:p>
          <a:p>
            <a:r>
              <a:rPr lang="en-GB" dirty="0"/>
              <a:t>Mars wants to call a Ship orbiting Jupiter but the Ship only has 1 EMT that is entangled with a EMT on the “Call Centre Station”..</a:t>
            </a:r>
          </a:p>
          <a:p>
            <a:r>
              <a:rPr lang="en-GB" dirty="0"/>
              <a:t>Mars would call the Station and the Station would route the call using classical means in-between the multiple EMTs.</a:t>
            </a:r>
          </a:p>
          <a:p>
            <a:endParaRPr lang="en-GB" dirty="0"/>
          </a:p>
          <a:p>
            <a:r>
              <a:rPr lang="en-GB" dirty="0" err="1"/>
              <a:t>DynamicDecoupling</a:t>
            </a:r>
            <a:endParaRPr lang="en-GB" dirty="0"/>
          </a:p>
          <a:p>
            <a:r>
              <a:rPr lang="en-GB" dirty="0"/>
              <a:t>Continuous re-entanglement</a:t>
            </a:r>
          </a:p>
          <a:p>
            <a:r>
              <a:rPr lang="en-GB" dirty="0"/>
              <a:t>Calcium ions</a:t>
            </a:r>
          </a:p>
          <a:p>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