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300" r:id="rId18"/>
    <p:sldId id="301" r:id="rId19"/>
    <p:sldId id="271" r:id="rId20"/>
    <p:sldId id="272" r:id="rId21"/>
    <p:sldId id="273" r:id="rId22"/>
    <p:sldId id="274" r:id="rId23"/>
    <p:sldId id="275" r:id="rId24"/>
    <p:sldId id="276" r:id="rId25"/>
    <p:sldId id="277" r:id="rId26"/>
    <p:sldId id="278" r:id="rId27"/>
    <p:sldId id="279"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9" r:id="rId4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varScale="1">
        <p:scale>
          <a:sx n="57" d="100"/>
          <a:sy n="57" d="100"/>
        </p:scale>
        <p:origin x="260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645920"/>
            <a:ext cx="6858000" cy="1645920"/>
          </a:xfrm>
          <a:prstGeom prst="rect">
            <a:avLst/>
          </a:prstGeom>
          <a:noFill/>
        </p:spPr>
        <p:txBody>
          <a:bodyPr wrap="square">
            <a:spAutoFit/>
          </a:bodyPr>
          <a:lstStyle/>
          <a:p>
            <a:pPr algn="ctr"/>
            <a:r>
              <a:rPr lang="en-GB" sz="4400" b="1">
                <a:solidFill>
                  <a:srgbClr val="0F172A"/>
                </a:solidFill>
              </a:rPr>
              <a:t>Entangled Multiplexing Transceiver</a:t>
            </a:r>
          </a:p>
        </p:txBody>
      </p:sp>
      <p:sp>
        <p:nvSpPr>
          <p:cNvPr id="3" name="TextBox 2"/>
          <p:cNvSpPr txBox="1"/>
          <p:nvPr/>
        </p:nvSpPr>
        <p:spPr>
          <a:xfrm>
            <a:off x="0" y="2743200"/>
            <a:ext cx="6858000" cy="1645920"/>
          </a:xfrm>
          <a:prstGeom prst="rect">
            <a:avLst/>
          </a:prstGeom>
          <a:noFill/>
        </p:spPr>
        <p:txBody>
          <a:bodyPr wrap="square">
            <a:spAutoFit/>
          </a:bodyPr>
          <a:lstStyle/>
          <a:p>
            <a:pPr algn="ctr"/>
            <a:r>
              <a:rPr lang="en-GB" sz="5600" b="1">
                <a:solidFill>
                  <a:srgbClr val="1E3A5F"/>
                </a:solidFill>
              </a:rPr>
              <a:t>EMT</a:t>
            </a:r>
          </a:p>
        </p:txBody>
      </p:sp>
      <p:sp>
        <p:nvSpPr>
          <p:cNvPr id="4" name="TextBox 3"/>
          <p:cNvSpPr txBox="1"/>
          <p:nvPr/>
        </p:nvSpPr>
        <p:spPr>
          <a:xfrm>
            <a:off x="0" y="3657600"/>
            <a:ext cx="6858000" cy="877163"/>
          </a:xfrm>
          <a:prstGeom prst="rect">
            <a:avLst/>
          </a:prstGeom>
          <a:noFill/>
        </p:spPr>
        <p:txBody>
          <a:bodyPr wrap="square">
            <a:spAutoFit/>
          </a:bodyPr>
          <a:lstStyle/>
          <a:p>
            <a:pPr algn="ctr"/>
            <a:r>
              <a:rPr lang="en-GB" sz="1700" dirty="0">
                <a:solidFill>
                  <a:srgbClr val="556581"/>
                </a:solidFill>
              </a:rPr>
              <a:t>A proposed architecture for non-classical signalling via
entangled Ca⁺ ion pairs, orientation encoding and
ensemble weak measurement in a linear ion trap.</a:t>
            </a:r>
          </a:p>
        </p:txBody>
      </p:sp>
      <p:sp>
        <p:nvSpPr>
          <p:cNvPr id="5" name="TextBox 4"/>
          <p:cNvSpPr txBox="1"/>
          <p:nvPr/>
        </p:nvSpPr>
        <p:spPr>
          <a:xfrm>
            <a:off x="0" y="8046720"/>
            <a:ext cx="6858000" cy="1645920"/>
          </a:xfrm>
          <a:prstGeom prst="rect">
            <a:avLst/>
          </a:prstGeom>
          <a:noFill/>
        </p:spPr>
        <p:txBody>
          <a:bodyPr wrap="square">
            <a:spAutoFit/>
          </a:bodyPr>
          <a:lstStyle/>
          <a:p>
            <a:pPr algn="ctr"/>
            <a:r>
              <a:rPr lang="en-GB" sz="1400">
                <a:solidFill>
                  <a:srgbClr val="788598"/>
                </a:solidFill>
              </a:rPr>
              <a:t>Daniel Miles  ·  2026  ·  Original Concept Paper  ·  Rev.2
https://alternitech.square.site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The EMT Hypothesis</a:t>
            </a:r>
          </a:p>
        </p:txBody>
      </p:sp>
      <p:sp>
        <p:nvSpPr>
          <p:cNvPr id="3" name="TextBox 2"/>
          <p:cNvSpPr txBox="1"/>
          <p:nvPr/>
        </p:nvSpPr>
        <p:spPr>
          <a:xfrm>
            <a:off x="150187" y="671901"/>
            <a:ext cx="6563531" cy="9197390"/>
          </a:xfrm>
          <a:prstGeom prst="rect">
            <a:avLst/>
          </a:prstGeom>
          <a:noFill/>
        </p:spPr>
        <p:txBody>
          <a:bodyPr wrap="square">
            <a:spAutoFit/>
          </a:bodyPr>
          <a:lstStyle/>
          <a:p>
            <a:pPr algn="l">
              <a:spcBef>
                <a:spcPts val="300"/>
              </a:spcBef>
            </a:pPr>
            <a:r>
              <a:rPr lang="en-GB" sz="1500" b="1" dirty="0">
                <a:solidFill>
                  <a:srgbClr val="1A5676"/>
                </a:solidFill>
              </a:rPr>
              <a:t>In plain terms: both devices share a fixed measurement axis. Particle A is spin-up on that axis — its HOME is 0°. Particle B is spin-down — its HOME is 180°. The question is simple: if particle A is rotated from 0° to 30°, does particle B shift from 180° to 210°? Standard physics says no. That prediction has never been directly tested.</a:t>
            </a:r>
          </a:p>
          <a:p>
            <a:pPr algn="l"/>
            <a:endParaRPr lang="en-GB" sz="1500" b="1" dirty="0">
              <a:solidFill>
                <a:srgbClr val="1A5676"/>
              </a:solidFill>
            </a:endParaRPr>
          </a:p>
          <a:p>
            <a:pPr algn="l">
              <a:spcBef>
                <a:spcPts val="500"/>
              </a:spcBef>
            </a:pPr>
            <a:r>
              <a:rPr lang="en-GB" sz="1700" b="1" dirty="0">
                <a:solidFill>
                  <a:srgbClr val="1E3A5F"/>
                </a:solidFill>
              </a:rPr>
              <a:t>The experimental setup</a:t>
            </a:r>
          </a:p>
          <a:p>
            <a:pPr algn="l"/>
            <a:r>
              <a:rPr lang="en-GB" sz="1300" dirty="0">
                <a:solidFill>
                  <a:srgbClr val="1E1E1E"/>
                </a:solidFill>
                <a:latin typeface="Courier New"/>
              </a:rPr>
              <a:t>  Shared measurement axis:   fixed for both devices</a:t>
            </a:r>
          </a:p>
          <a:p>
            <a:pPr algn="l"/>
            <a:r>
              <a:rPr lang="en-GB" sz="1300" dirty="0">
                <a:solidFill>
                  <a:srgbClr val="1E1E1E"/>
                </a:solidFill>
                <a:latin typeface="Courier New"/>
              </a:rPr>
              <a:t>  Particle A (spin-up):      HOME = 0°   (355°–005° zone)</a:t>
            </a:r>
          </a:p>
          <a:p>
            <a:pPr algn="l"/>
            <a:r>
              <a:rPr lang="en-GB" sz="1300" dirty="0">
                <a:solidFill>
                  <a:srgbClr val="1E1E1E"/>
                </a:solidFill>
                <a:latin typeface="Courier New"/>
              </a:rPr>
              <a:t>  Particle B (spin-down):    HOME = 180°  (175°–185° zone)</a:t>
            </a:r>
          </a:p>
          <a:p>
            <a:pPr algn="l"/>
            <a:r>
              <a:rPr lang="en-GB" sz="1300" dirty="0">
                <a:solidFill>
                  <a:srgbClr val="1E1E1E"/>
                </a:solidFill>
                <a:latin typeface="Courier New"/>
              </a:rPr>
              <a:t>  Rotation: about the shared axis, keeping both on same plane</a:t>
            </a:r>
          </a:p>
          <a:p>
            <a:pPr algn="l"/>
            <a:endParaRPr lang="en-GB" sz="1300" dirty="0">
              <a:solidFill>
                <a:srgbClr val="1E1E1E"/>
              </a:solidFill>
              <a:latin typeface="Courier New"/>
            </a:endParaRPr>
          </a:p>
          <a:p>
            <a:pPr algn="l">
              <a:spcBef>
                <a:spcPts val="500"/>
              </a:spcBef>
            </a:pPr>
            <a:r>
              <a:rPr lang="en-GB" sz="1700" b="1" dirty="0">
                <a:solidFill>
                  <a:srgbClr val="1E3A5F"/>
                </a:solidFill>
              </a:rPr>
              <a:t>The hypothesis, stated precisely</a:t>
            </a:r>
          </a:p>
          <a:p>
            <a:pPr algn="l"/>
            <a:r>
              <a:rPr lang="en-GB" sz="1600" dirty="0">
                <a:solidFill>
                  <a:srgbClr val="1E1E1E"/>
                </a:solidFill>
              </a:rPr>
              <a:t>When particle A is rotated from HOME (0°) to angle θ, particle B undergoes a corresponding rotation from its HOME (180°) to (180° + θ), maintaining the anticorrelation of the entangled pair. This rotation of B is detectable by Device B reading only its own particle continuously.</a:t>
            </a:r>
          </a:p>
          <a:p>
            <a:pPr algn="l"/>
            <a:endParaRPr lang="en-GB" sz="1600" dirty="0">
              <a:solidFill>
                <a:srgbClr val="1E1E1E"/>
              </a:solidFill>
            </a:endParaRPr>
          </a:p>
          <a:p>
            <a:pPr algn="l">
              <a:spcBef>
                <a:spcPts val="500"/>
              </a:spcBef>
            </a:pPr>
            <a:r>
              <a:rPr lang="en-GB" sz="1700" b="1" dirty="0">
                <a:solidFill>
                  <a:srgbClr val="1E3A5F"/>
                </a:solidFill>
              </a:rPr>
              <a:t>What the 10-ion ensemble does</a:t>
            </a:r>
          </a:p>
          <a:p>
            <a:pPr lvl="1" algn="l"/>
            <a:r>
              <a:rPr lang="en-GB" sz="1600" dirty="0">
                <a:solidFill>
                  <a:srgbClr val="1E1E1E"/>
                </a:solidFill>
              </a:rPr>
              <a:t>The 10 data ions exist purely to reduce measurement noise. If the effect is real for one pair, it is real for all 10. Averaging 10 readings reduces the noise by √10 ≈ 3.16×, making a small signal statistically detectable. The physics claim is about one pair. The 10 ions are the engineering solution to measuring it reliably.</a:t>
            </a:r>
          </a:p>
          <a:p>
            <a:pPr algn="l"/>
            <a:endParaRPr lang="en-GB" sz="1600" dirty="0">
              <a:solidFill>
                <a:srgbClr val="1E1E1E"/>
              </a:solidFill>
            </a:endParaRPr>
          </a:p>
          <a:p>
            <a:pPr algn="l">
              <a:spcBef>
                <a:spcPts val="500"/>
              </a:spcBef>
            </a:pPr>
            <a:r>
              <a:rPr lang="en-GB" sz="1700" b="1" dirty="0">
                <a:solidFill>
                  <a:srgbClr val="1E3A5F"/>
                </a:solidFill>
              </a:rPr>
              <a:t>Why standard physics says this cannot happen</a:t>
            </a:r>
          </a:p>
          <a:p>
            <a:pPr lvl="1" algn="l"/>
            <a:r>
              <a:rPr lang="en-GB" sz="1600" dirty="0">
                <a:solidFill>
                  <a:srgbClr val="1E1E1E"/>
                </a:solidFill>
              </a:rPr>
              <a:t>The no-communication theorem states that any local operation Alice applies to her particle leaves Bob's reduced density matrix unchanged: </a:t>
            </a:r>
            <a:r>
              <a:rPr lang="en-GB" sz="1600" dirty="0" err="1">
                <a:solidFill>
                  <a:srgbClr val="1E1E1E"/>
                </a:solidFill>
              </a:rPr>
              <a:t>ρ_B</a:t>
            </a:r>
            <a:r>
              <a:rPr lang="en-GB" sz="1600" dirty="0">
                <a:solidFill>
                  <a:srgbClr val="1E1E1E"/>
                </a:solidFill>
              </a:rPr>
              <a:t> = I/2. Bob's particle has no definite orientation before measurement. Rotating Alice's particle does not change what Bob sees locally.</a:t>
            </a:r>
          </a:p>
          <a:p>
            <a:pPr lvl="1" algn="l"/>
            <a:r>
              <a:rPr lang="en-GB" sz="1600" dirty="0">
                <a:solidFill>
                  <a:srgbClr val="1E1E1E"/>
                </a:solidFill>
              </a:rPr>
              <a:t>Bell tests confirm that measurement outcomes are correlated when both parties measure along the same axis and compare results. They confirm binary outcome correlation. They do not test whether B's continuous orientation angle tracks A's rotation — no experiment has done this.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Part 1 — Theoretical Foundation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What this section covers: the physics that underpins the EMT concept before any hardware is discussed.</a:t>
            </a:r>
          </a:p>
          <a:p>
            <a:pPr algn="l"/>
            <a:endParaRPr lang="en-GB" sz="1500" b="1" dirty="0">
              <a:solidFill>
                <a:srgbClr val="1A5676"/>
              </a:solidFill>
            </a:endParaRPr>
          </a:p>
          <a:p>
            <a:pPr algn="l"/>
            <a:r>
              <a:rPr lang="en-GB" sz="1600" dirty="0">
                <a:solidFill>
                  <a:srgbClr val="1E1E1E"/>
                </a:solidFill>
              </a:rPr>
              <a:t>1.1  The no-communication theorem — what it says and where it has been tested.</a:t>
            </a:r>
          </a:p>
          <a:p>
            <a:pPr algn="l"/>
            <a:r>
              <a:rPr lang="en-GB" sz="1600" dirty="0">
                <a:solidFill>
                  <a:srgbClr val="1E1E1E"/>
                </a:solidFill>
              </a:rPr>
              <a:t>1.2  Quantum entanglement — what it is physically and what it is not.</a:t>
            </a:r>
          </a:p>
          <a:p>
            <a:pPr algn="l"/>
            <a:r>
              <a:rPr lang="en-GB" sz="1600" dirty="0">
                <a:solidFill>
                  <a:srgbClr val="1E1E1E"/>
                </a:solidFill>
              </a:rPr>
              <a:t>1.3  Weak measurement — how to extract partial information without destroying a quantum state.</a:t>
            </a:r>
          </a:p>
          <a:p>
            <a:pPr algn="l"/>
            <a:r>
              <a:rPr lang="en-GB" sz="1600" dirty="0">
                <a:solidFill>
                  <a:srgbClr val="1E1E1E"/>
                </a:solidFill>
              </a:rPr>
              <a:t>1.4  Ensemble averaging — how reading many particles reduces noise.</a:t>
            </a:r>
          </a:p>
          <a:p>
            <a:pPr algn="l"/>
            <a:r>
              <a:rPr lang="en-GB" sz="1600" dirty="0">
                <a:solidFill>
                  <a:srgbClr val="1E1E1E"/>
                </a:solidFill>
              </a:rPr>
              <a:t>1.5  The central experimental question — the specific untested regime.</a:t>
            </a:r>
          </a:p>
          <a:p>
            <a:pPr algn="l"/>
            <a:r>
              <a:rPr lang="en-GB" sz="1600" dirty="0">
                <a:solidFill>
                  <a:srgbClr val="1E1E1E"/>
                </a:solidFill>
              </a:rPr>
              <a:t>1.6  Orientation encoding — the Rotary Orientation Ring.</a:t>
            </a:r>
          </a:p>
          <a:p>
            <a:pPr algn="l"/>
            <a:endParaRPr lang="en-GB" sz="1600" dirty="0">
              <a:solidFill>
                <a:srgbClr val="1E1E1E"/>
              </a:solidFill>
            </a:endParaRPr>
          </a:p>
          <a:p>
            <a:pPr algn="l"/>
            <a:r>
              <a:rPr lang="en-GB" sz="1300" dirty="0">
                <a:solidFill>
                  <a:srgbClr val="788598"/>
                </a:solidFill>
              </a:rPr>
              <a:t>All claims in this section are grounded in published results. The central question in 1.5 is explicitly unresolved.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1.1  The No-Communication Theorem</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quantum entanglement cannot be used to send a message under the rules of standard quantum mechanics. This paper asks whether those rules are complete.</a:t>
            </a:r>
          </a:p>
          <a:p>
            <a:pPr algn="l"/>
            <a:endParaRPr lang="en-GB" sz="1500" b="1" dirty="0">
              <a:solidFill>
                <a:srgbClr val="1A5676"/>
              </a:solidFill>
            </a:endParaRPr>
          </a:p>
          <a:p>
            <a:pPr algn="l">
              <a:spcBef>
                <a:spcPts val="500"/>
              </a:spcBef>
            </a:pPr>
            <a:r>
              <a:rPr lang="en-GB" sz="1700" b="1" dirty="0">
                <a:solidFill>
                  <a:srgbClr val="1E3A5F"/>
                </a:solidFill>
              </a:rPr>
              <a:t>Formal statement</a:t>
            </a:r>
          </a:p>
          <a:p>
            <a:pPr algn="l"/>
            <a:r>
              <a:rPr lang="en-GB" sz="1600" dirty="0">
                <a:solidFill>
                  <a:srgbClr val="1E1E1E"/>
                </a:solidFill>
              </a:rPr>
              <a:t>For any bipartite quantum state ρ_AB shared between Alice and Bob, Alice's local operations produce no detectable change in Bob's reduced density matrix. Formally:</a:t>
            </a:r>
          </a:p>
          <a:p>
            <a:pPr algn="l"/>
            <a:endParaRPr lang="en-GB" sz="1600" dirty="0">
              <a:solidFill>
                <a:srgbClr val="1E1E1E"/>
              </a:solidFill>
            </a:endParaRPr>
          </a:p>
          <a:p>
            <a:pPr algn="l"/>
            <a:r>
              <a:rPr lang="en-GB" sz="1300" dirty="0">
                <a:solidFill>
                  <a:srgbClr val="1E1E1E"/>
                </a:solidFill>
                <a:latin typeface="Courier New"/>
              </a:rPr>
              <a:t>  Tr_A[(Λ_A ⊗ I_B)(ρ_AB)]  =  Tr_A[ρ_AB]  =  ρ_B</a:t>
            </a:r>
          </a:p>
          <a:p>
            <a:pPr algn="l"/>
            <a:endParaRPr lang="en-GB" sz="1300" dirty="0">
              <a:solidFill>
                <a:srgbClr val="1E1E1E"/>
              </a:solidFill>
              <a:latin typeface="Courier New"/>
            </a:endParaRPr>
          </a:p>
          <a:p>
            <a:pPr algn="l"/>
            <a:r>
              <a:rPr lang="en-GB" sz="1600" dirty="0">
                <a:solidFill>
                  <a:srgbClr val="1E1E1E"/>
                </a:solidFill>
              </a:rPr>
              <a:t>This holds for all local operations — unitary rotations, measurements, state preparation, and any classical post-processing. It follows from the linearity of quantum mechanics and the tensor product structure of composite systems.</a:t>
            </a:r>
          </a:p>
          <a:p>
            <a:pPr algn="l"/>
            <a:endParaRPr lang="en-GB" sz="1600" dirty="0">
              <a:solidFill>
                <a:srgbClr val="1E1E1E"/>
              </a:solidFill>
            </a:endParaRPr>
          </a:p>
          <a:p>
            <a:pPr algn="l">
              <a:spcBef>
                <a:spcPts val="500"/>
              </a:spcBef>
            </a:pPr>
            <a:r>
              <a:rPr lang="en-GB" sz="1700" b="1" dirty="0">
                <a:solidFill>
                  <a:srgbClr val="1E3A5F"/>
                </a:solidFill>
              </a:rPr>
              <a:t>What it does and does not say</a:t>
            </a:r>
          </a:p>
          <a:p>
            <a:pPr lvl="1" algn="l"/>
            <a:r>
              <a:rPr lang="en-GB" sz="1600" dirty="0">
                <a:solidFill>
                  <a:srgbClr val="1E1E1E"/>
                </a:solidFill>
              </a:rPr>
              <a:t>It says: Bob's measurement statistics are unchanged regardless of what Alice does to her half of the entangled pair. No information is transferred.</a:t>
            </a:r>
          </a:p>
          <a:p>
            <a:pPr lvl="1" algn="l"/>
            <a:r>
              <a:rPr lang="en-GB" sz="1600" dirty="0">
                <a:solidFill>
                  <a:srgbClr val="1E1E1E"/>
                </a:solidFill>
              </a:rPr>
              <a:t>It does not say: the theorem has been tested in the regime of large ensembles of ion pairs (N ≫ 1) with continuous-variable orientation encoding and a shared global phase reference. This untested regime is where the EMT experiment operates.</a:t>
            </a:r>
          </a:p>
          <a:p>
            <a:pPr algn="l"/>
            <a:endParaRPr lang="en-GB" sz="1600" dirty="0">
              <a:solidFill>
                <a:srgbClr val="1E1E1E"/>
              </a:solidFill>
            </a:endParaRPr>
          </a:p>
          <a:p>
            <a:pPr algn="l">
              <a:spcBef>
                <a:spcPts val="500"/>
              </a:spcBef>
            </a:pPr>
            <a:r>
              <a:rPr lang="en-GB" sz="1700" b="1" dirty="0">
                <a:solidFill>
                  <a:srgbClr val="1E3A5F"/>
                </a:solidFill>
              </a:rPr>
              <a:t>Scope of existing experimental tests</a:t>
            </a:r>
          </a:p>
          <a:p>
            <a:pPr algn="l"/>
            <a:r>
              <a:rPr lang="en-GB" sz="1600" dirty="0">
                <a:solidFill>
                  <a:srgbClr val="1E1E1E"/>
                </a:solidFill>
              </a:rPr>
              <a:t>Bell test experiments (Aspect 1982, Hensen 2015, Rosenfeld 2017) confirm entanglement and rule out local hidden variables. None tests ensemble orientation signalling. The EMT experiment is genuinely novel.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1.2  Quantum Entanglement — The Joint State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two entangled particles share a single quantum state between them. Measuring one instantly tells you something about the other, no matter how far apart they are — but standard physics says you cannot use this to send a message.</a:t>
            </a:r>
          </a:p>
          <a:p>
            <a:pPr algn="l"/>
            <a:endParaRPr lang="en-GB" sz="1500" b="1" dirty="0">
              <a:solidFill>
                <a:srgbClr val="1A5676"/>
              </a:solidFill>
            </a:endParaRPr>
          </a:p>
          <a:p>
            <a:pPr algn="l">
              <a:spcBef>
                <a:spcPts val="500"/>
              </a:spcBef>
            </a:pPr>
            <a:r>
              <a:rPr lang="en-GB" sz="1700" b="1" dirty="0">
                <a:solidFill>
                  <a:srgbClr val="1E3A5F"/>
                </a:solidFill>
              </a:rPr>
              <a:t>What entanglement is</a:t>
            </a:r>
          </a:p>
          <a:p>
            <a:pPr algn="l"/>
            <a:r>
              <a:rPr lang="en-GB" sz="1600" dirty="0">
                <a:solidFill>
                  <a:srgbClr val="1E1E1E"/>
                </a:solidFill>
              </a:rPr>
              <a:t>Two particles are entangled when their joint state cannot be written as a product of individual states. For a maximally entangled Bell state:</a:t>
            </a:r>
          </a:p>
          <a:p>
            <a:pPr algn="l"/>
            <a:endParaRPr lang="en-GB" sz="1600" dirty="0">
              <a:solidFill>
                <a:srgbClr val="1E1E1E"/>
              </a:solidFill>
            </a:endParaRPr>
          </a:p>
          <a:p>
            <a:pPr algn="l"/>
            <a:r>
              <a:rPr lang="en-GB" sz="1300" dirty="0">
                <a:solidFill>
                  <a:srgbClr val="1E1E1E"/>
                </a:solidFill>
                <a:latin typeface="Courier New"/>
              </a:rPr>
              <a:t>  |Φ⁺⟩ = (1/√2)(|↑⟩_A|↑⟩_B + |↓⟩_A|↓⟩_B)</a:t>
            </a:r>
          </a:p>
          <a:p>
            <a:pPr algn="l"/>
            <a:endParaRPr lang="en-GB" sz="1300" dirty="0">
              <a:solidFill>
                <a:srgbClr val="1E1E1E"/>
              </a:solidFill>
              <a:latin typeface="Courier New"/>
            </a:endParaRPr>
          </a:p>
          <a:p>
            <a:pPr algn="l"/>
            <a:r>
              <a:rPr lang="en-GB" sz="1600" dirty="0">
                <a:solidFill>
                  <a:srgbClr val="1E1E1E"/>
                </a:solidFill>
              </a:rPr>
              <a:t>Neither ion A nor ion B has a definite spin individually. The state is a property of the pair. Measuring A instantly determines the correlated outcome of B, regardless of separation.</a:t>
            </a:r>
          </a:p>
          <a:p>
            <a:pPr algn="l"/>
            <a:endParaRPr lang="en-GB" sz="1600" dirty="0">
              <a:solidFill>
                <a:srgbClr val="1E1E1E"/>
              </a:solidFill>
            </a:endParaRPr>
          </a:p>
          <a:p>
            <a:pPr algn="l">
              <a:spcBef>
                <a:spcPts val="500"/>
              </a:spcBef>
            </a:pPr>
            <a:r>
              <a:rPr lang="en-GB" sz="1700" b="1" dirty="0">
                <a:solidFill>
                  <a:srgbClr val="1E3A5F"/>
                </a:solidFill>
              </a:rPr>
              <a:t>What entanglement is not</a:t>
            </a:r>
          </a:p>
          <a:p>
            <a:pPr lvl="1" algn="l"/>
            <a:r>
              <a:rPr lang="en-GB" sz="1600" dirty="0">
                <a:solidFill>
                  <a:srgbClr val="1E1E1E"/>
                </a:solidFill>
              </a:rPr>
              <a:t>Entanglement is not a signal channel in standard QM. When Alice orients her ion to angle θ, she is performing a local operation. Bob's marginal statistics — what he sees averaging his own measurements — are unchanged. This is the content of the no-communication theorem.</a:t>
            </a:r>
          </a:p>
          <a:p>
            <a:pPr algn="l"/>
            <a:endParaRPr lang="en-GB" sz="1600" dirty="0">
              <a:solidFill>
                <a:srgbClr val="1E1E1E"/>
              </a:solidFill>
            </a:endParaRPr>
          </a:p>
          <a:p>
            <a:pPr algn="l">
              <a:spcBef>
                <a:spcPts val="500"/>
              </a:spcBef>
            </a:pPr>
            <a:r>
              <a:rPr lang="en-GB" sz="1700" b="1" dirty="0">
                <a:solidFill>
                  <a:srgbClr val="1E3A5F"/>
                </a:solidFill>
              </a:rPr>
              <a:t>The Zeeman sublevel encoding in Ca⁺</a:t>
            </a:r>
          </a:p>
          <a:p>
            <a:pPr algn="l"/>
            <a:r>
              <a:rPr lang="en-GB" sz="1600" dirty="0">
                <a:solidFill>
                  <a:srgbClr val="1E1E1E"/>
                </a:solidFill>
              </a:rPr>
              <a:t>In a Paul trap with static bias field B (1–10 mT), the S₁/₂ ground state splits into Zeeman sublevels m_J = ±½ with separation ΔE = gμ_B·B. An arbitrary superposition |ψ⟩ = α|↑⟩ + β|↓⟩ represents a spin orientation angle θ = 2·arctan(|β|/|α|) on the Bloch sphere. This continuous angle is what the EMT encodes as a character.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1.3  Weak Measurement Theory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instead of making one definitive measurement that destroys the quantum state, we nudge the particle very gently many times. Each nudge gives a tiny amount of information. Adding them up recovers the answer with less disturbance.</a:t>
            </a:r>
          </a:p>
          <a:p>
            <a:pPr algn="l"/>
            <a:endParaRPr lang="en-GB" sz="1500" b="1" dirty="0">
              <a:solidFill>
                <a:srgbClr val="1A5676"/>
              </a:solidFill>
            </a:endParaRPr>
          </a:p>
          <a:p>
            <a:pPr algn="l">
              <a:spcBef>
                <a:spcPts val="500"/>
              </a:spcBef>
            </a:pPr>
            <a:r>
              <a:rPr lang="en-GB" sz="1700" b="1" dirty="0">
                <a:solidFill>
                  <a:srgbClr val="1E3A5F"/>
                </a:solidFill>
              </a:rPr>
              <a:t>Definition</a:t>
            </a:r>
          </a:p>
          <a:p>
            <a:pPr algn="l"/>
            <a:r>
              <a:rPr lang="en-GB" sz="1600" dirty="0">
                <a:solidFill>
                  <a:srgbClr val="1E1E1E"/>
                </a:solidFill>
              </a:rPr>
              <a:t>A weak measurement couples a system to a meter with interaction strength g ≪ 1. Each read disturbs the state by order g. The expectation value of observable A is recovered by averaging N reads:</a:t>
            </a:r>
          </a:p>
          <a:p>
            <a:pPr algn="l"/>
            <a:endParaRPr lang="en-GB" sz="1600" dirty="0">
              <a:solidFill>
                <a:srgbClr val="1E1E1E"/>
              </a:solidFill>
            </a:endParaRPr>
          </a:p>
          <a:p>
            <a:pPr algn="l"/>
            <a:r>
              <a:rPr lang="en-GB" sz="1300" dirty="0">
                <a:solidFill>
                  <a:srgbClr val="1E1E1E"/>
                </a:solidFill>
                <a:latin typeface="Courier New"/>
              </a:rPr>
              <a:t>  ⟨A⟩  =  lim_{N→∞}  (1/N) Σᵢ aᵢ</a:t>
            </a:r>
          </a:p>
          <a:p>
            <a:pPr algn="l"/>
            <a:endParaRPr lang="en-GB" sz="1300" dirty="0">
              <a:solidFill>
                <a:srgbClr val="1E1E1E"/>
              </a:solidFill>
              <a:latin typeface="Courier New"/>
            </a:endParaRPr>
          </a:p>
          <a:p>
            <a:pPr algn="l"/>
            <a:r>
              <a:rPr lang="en-GB" sz="1600" dirty="0">
                <a:solidFill>
                  <a:srgbClr val="1E1E1E"/>
                </a:solidFill>
              </a:rPr>
              <a:t>For finite N, the estimator has uncertainty σ/√N where σ is the single-shot uncertainty.</a:t>
            </a:r>
          </a:p>
          <a:p>
            <a:pPr algn="l"/>
            <a:endParaRPr lang="en-GB" sz="1600" dirty="0">
              <a:solidFill>
                <a:srgbClr val="1E1E1E"/>
              </a:solidFill>
            </a:endParaRPr>
          </a:p>
          <a:p>
            <a:pPr algn="l">
              <a:spcBef>
                <a:spcPts val="500"/>
              </a:spcBef>
            </a:pPr>
            <a:r>
              <a:rPr lang="en-GB" sz="1700" b="1" dirty="0">
                <a:solidFill>
                  <a:srgbClr val="1E3A5F"/>
                </a:solidFill>
              </a:rPr>
              <a:t>Application to Ca⁺ spin orientation</a:t>
            </a:r>
          </a:p>
          <a:p>
            <a:pPr lvl="1" algn="l"/>
            <a:r>
              <a:rPr lang="en-GB" sz="1600" dirty="0">
                <a:solidFill>
                  <a:srgbClr val="1E1E1E"/>
                </a:solidFill>
              </a:rPr>
              <a:t>Probing with σ+ polarised 397 nm light gives intensity I ∝ cos²(θ/2). Probing with σ− gives I ∝ sin²(θ/2). The ratio recovers θ to precision limited by photon shot noise. Readout fidelity &gt; 99.9% per shot is demonstrated for Ca⁺ at PTB and NIST.</a:t>
            </a:r>
          </a:p>
          <a:p>
            <a:pPr algn="l"/>
            <a:endParaRPr lang="en-GB" sz="1600" dirty="0">
              <a:solidFill>
                <a:srgbClr val="1E1E1E"/>
              </a:solidFill>
            </a:endParaRPr>
          </a:p>
          <a:p>
            <a:pPr algn="l">
              <a:spcBef>
                <a:spcPts val="500"/>
              </a:spcBef>
            </a:pPr>
            <a:r>
              <a:rPr lang="en-GB" sz="1700" b="1" dirty="0">
                <a:solidFill>
                  <a:srgbClr val="1E3A5F"/>
                </a:solidFill>
              </a:rPr>
              <a:t>State disturbance per weak read</a:t>
            </a:r>
          </a:p>
          <a:p>
            <a:pPr algn="l"/>
            <a:r>
              <a:rPr lang="en-GB" sz="1600" dirty="0">
                <a:solidFill>
                  <a:srgbClr val="1E1E1E"/>
                </a:solidFill>
              </a:rPr>
              <a:t>Each fluorescence event has probability p of flipping the spin. For off-resonance probing, p ≪ 1. Over N reads, coherence decays as e^⁻^ᴽ^^ᵖ. For N=1000 reads and p=10⁻³, loss is e⁻¹ ≈37%. This trade-off — more reads give better SNR but greater state disturbance — sets the practical operating point.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1.4  Ensemble Averaging — Noise Reduction by √N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if 10 people each estimate the same distance and you average their guesses, the error in your average is about 3 times smaller than any single guess. The same principle applies to ion measurements. With 10 ions all pointing the same direction, the error drops by √10 ≈3.</a:t>
            </a:r>
          </a:p>
          <a:p>
            <a:pPr algn="l"/>
            <a:endParaRPr lang="en-GB" sz="1500" b="1" dirty="0">
              <a:solidFill>
                <a:srgbClr val="1A5676"/>
              </a:solidFill>
            </a:endParaRPr>
          </a:p>
          <a:p>
            <a:pPr algn="l">
              <a:spcBef>
                <a:spcPts val="500"/>
              </a:spcBef>
            </a:pPr>
            <a:r>
              <a:rPr lang="en-GB" sz="1700" b="1" dirty="0">
                <a:solidFill>
                  <a:srgbClr val="1E3A5F"/>
                </a:solidFill>
              </a:rPr>
              <a:t>Statistical basis</a:t>
            </a:r>
          </a:p>
          <a:p>
            <a:pPr algn="l"/>
            <a:r>
              <a:rPr lang="en-GB" sz="1600" dirty="0">
                <a:solidFill>
                  <a:srgbClr val="1E1E1E"/>
                </a:solidFill>
              </a:rPr>
              <a:t>If N independent estimates x_i each have mean μ and standard deviation σ, the sample mean has standard deviation σ/√N. This is the central limit theorem. It applies universally.</a:t>
            </a:r>
          </a:p>
          <a:p>
            <a:pPr algn="l"/>
            <a:endParaRPr lang="en-GB" sz="1600" dirty="0">
              <a:solidFill>
                <a:srgbClr val="1E1E1E"/>
              </a:solidFill>
            </a:endParaRPr>
          </a:p>
          <a:p>
            <a:pPr algn="l">
              <a:spcBef>
                <a:spcPts val="500"/>
              </a:spcBef>
            </a:pPr>
            <a:r>
              <a:rPr lang="en-GB" sz="1700" b="1" dirty="0">
                <a:solidFill>
                  <a:srgbClr val="1E3A5F"/>
                </a:solidFill>
              </a:rPr>
              <a:t>Application to EMT — 10 data ions per device</a:t>
            </a:r>
          </a:p>
          <a:p>
            <a:pPr algn="l"/>
            <a:r>
              <a:rPr lang="en-GB" sz="1600" dirty="0">
                <a:solidFill>
                  <a:srgbClr val="1E1E1E"/>
                </a:solidFill>
              </a:rPr>
              <a:t>Each of the 10 data ions (particles 1–10) is prepared in the same orientation state θ. Each is independently weak-measured. The MCU averages the 10 results:</a:t>
            </a:r>
          </a:p>
          <a:p>
            <a:pPr algn="l"/>
            <a:endParaRPr lang="en-GB" sz="1600" dirty="0">
              <a:solidFill>
                <a:srgbClr val="1E1E1E"/>
              </a:solidFill>
            </a:endParaRPr>
          </a:p>
          <a:p>
            <a:pPr algn="l"/>
            <a:r>
              <a:rPr lang="en-GB" sz="1300" dirty="0">
                <a:solidFill>
                  <a:srgbClr val="1E1E1E"/>
                </a:solidFill>
                <a:latin typeface="Courier New"/>
              </a:rPr>
              <a:t>  σ_θ  =  σ_single / √N  =  ±45° / √10  =  ±14.2°</a:t>
            </a:r>
          </a:p>
          <a:p>
            <a:pPr algn="l"/>
            <a:endParaRPr lang="en-GB" sz="1300" dirty="0">
              <a:solidFill>
                <a:srgbClr val="1E1E1E"/>
              </a:solidFill>
              <a:latin typeface="Courier New"/>
            </a:endParaRPr>
          </a:p>
          <a:p>
            <a:pPr algn="l"/>
            <a:r>
              <a:rPr lang="en-GB" sz="1600" dirty="0">
                <a:solidFill>
                  <a:srgbClr val="1E1E1E"/>
                </a:solidFill>
              </a:rPr>
              <a:t>For a 10° character spacing, the ±14.2° noise floor is marginal. Reducing the spacing to 5° or increasing to 100 ions per device would improve reliability. The 10-ion design is a starting point; the optimal ensemble size is an experimental parameter.</a:t>
            </a:r>
          </a:p>
          <a:p>
            <a:pPr algn="l"/>
            <a:endParaRPr lang="en-GB" sz="1600" dirty="0">
              <a:solidFill>
                <a:srgbClr val="1E1E1E"/>
              </a:solidFill>
            </a:endParaRPr>
          </a:p>
          <a:p>
            <a:pPr algn="l">
              <a:spcBef>
                <a:spcPts val="500"/>
              </a:spcBef>
            </a:pPr>
            <a:r>
              <a:rPr lang="en-GB" sz="1700" b="1" dirty="0">
                <a:solidFill>
                  <a:srgbClr val="1E3A5F"/>
                </a:solidFill>
              </a:rPr>
              <a:t>Resolution at different ensemble sizes</a:t>
            </a:r>
          </a:p>
          <a:p>
            <a:pPr algn="l"/>
            <a:r>
              <a:rPr lang="en-GB" sz="1300" dirty="0">
                <a:solidFill>
                  <a:srgbClr val="1E1E1E"/>
                </a:solidFill>
                <a:latin typeface="Courier New"/>
              </a:rPr>
              <a:t>  N = 10      σ_θ = ±14.2°   (marginal at 10° spacing)</a:t>
            </a:r>
          </a:p>
          <a:p>
            <a:pPr algn="l"/>
            <a:r>
              <a:rPr lang="en-GB" sz="1300" dirty="0">
                <a:solidFill>
                  <a:srgbClr val="1E1E1E"/>
                </a:solidFill>
                <a:latin typeface="Courier New"/>
              </a:rPr>
              <a:t>  N = 100     σ_θ = ±4.5°    (reliable at 10° spacing)</a:t>
            </a:r>
          </a:p>
          <a:p>
            <a:pPr algn="l"/>
            <a:r>
              <a:rPr lang="en-GB" sz="1300" dirty="0">
                <a:solidFill>
                  <a:srgbClr val="1E1E1E"/>
                </a:solidFill>
                <a:latin typeface="Courier New"/>
              </a:rPr>
              <a:t>  N = 1,000   σ_θ = ±1.4°    (reliable at 5° spacing)</a:t>
            </a:r>
          </a:p>
          <a:p>
            <a:pPr algn="l"/>
            <a:r>
              <a:rPr lang="en-GB" sz="1300" dirty="0">
                <a:solidFill>
                  <a:srgbClr val="1E1E1E"/>
                </a:solidFill>
                <a:latin typeface="Courier New"/>
              </a:rPr>
              <a:t>  N = 10,000  σ_θ = ±0.45°   (full character set)</a:t>
            </a:r>
          </a:p>
          <a:p>
            <a:pPr algn="l"/>
            <a:endParaRPr lang="en-GB" sz="1300" dirty="0">
              <a:solidFill>
                <a:srgbClr val="1E1E1E"/>
              </a:solidFill>
              <a:latin typeface="Courier New"/>
            </a:endParaRPr>
          </a:p>
          <a:p>
            <a:pPr algn="l"/>
            <a:r>
              <a:rPr lang="en-GB" sz="1300" dirty="0">
                <a:solidFill>
                  <a:srgbClr val="788598"/>
                </a:solidFill>
              </a:rPr>
              <a:t>The 12-particle design (N=10 data ions) is the minimum viable configuration. A longer linear trap or a 2D crystal would improve SNR at the cost of increased engineering complexity.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1.5  The Central Experimental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both devices are aligned on the same measurement axis. Particle A starts at 0° (HOME). Particle B starts at 180° (HOME). Rotate A to 30°. Does B shift to 210°? Device B reads only its own particle to find out.</a:t>
            </a:r>
          </a:p>
          <a:p>
            <a:pPr algn="l"/>
            <a:endParaRPr lang="en-GB" sz="1500" b="1">
              <a:solidFill>
                <a:srgbClr val="1A5676"/>
              </a:solidFill>
            </a:endParaRPr>
          </a:p>
          <a:p>
            <a:pPr algn="l">
              <a:spcBef>
                <a:spcPts val="500"/>
              </a:spcBef>
            </a:pPr>
            <a:r>
              <a:rPr lang="en-GB" sz="1700" b="1">
                <a:solidFill>
                  <a:srgbClr val="1E3A5F"/>
                </a:solidFill>
              </a:rPr>
              <a:t>The question</a:t>
            </a:r>
          </a:p>
          <a:p>
            <a:pPr algn="l"/>
            <a:r>
              <a:rPr lang="en-GB" sz="1600">
                <a:solidFill>
                  <a:srgbClr val="1E1E1E"/>
                </a:solidFill>
              </a:rPr>
              <a:t>If particle A is rotated by angle θ about the shared measurement axis, does particle B undergo a corresponding rotation by θ, maintaining the anticorrelation of the Bell state, in a way that is detectable by Device B reading only its own particle?</a:t>
            </a:r>
          </a:p>
          <a:p>
            <a:pPr algn="l"/>
            <a:endParaRPr lang="en-GB" sz="1600">
              <a:solidFill>
                <a:srgbClr val="1E1E1E"/>
              </a:solidFill>
            </a:endParaRPr>
          </a:p>
          <a:p>
            <a:pPr algn="l">
              <a:spcBef>
                <a:spcPts val="500"/>
              </a:spcBef>
            </a:pPr>
            <a:r>
              <a:rPr lang="en-GB" sz="1700" b="1">
                <a:solidFill>
                  <a:srgbClr val="1E3A5F"/>
                </a:solidFill>
              </a:rPr>
              <a:t>Standard QM prediction</a:t>
            </a:r>
          </a:p>
          <a:p>
            <a:pPr algn="l"/>
            <a:r>
              <a:rPr lang="en-GB" sz="1300">
                <a:solidFill>
                  <a:srgbClr val="1E1E1E"/>
                </a:solidFill>
                <a:latin typeface="Courier New"/>
              </a:rPr>
              <a:t>  Alice rotates A by θ  →  ρ_B = I/2  (unchanged, always)</a:t>
            </a:r>
          </a:p>
          <a:p>
            <a:pPr algn="l"/>
            <a:r>
              <a:rPr lang="en-GB" sz="1600">
                <a:solidFill>
                  <a:srgbClr val="1E1E1E"/>
                </a:solidFill>
              </a:rPr>
              <a:t>Bob's particle has no definite orientation. His local measurement results remain 50/50 regardless of θ. No detectable shift. Δθ_B = 0.</a:t>
            </a:r>
          </a:p>
          <a:p>
            <a:pPr algn="l"/>
            <a:endParaRPr lang="en-GB" sz="1600">
              <a:solidFill>
                <a:srgbClr val="1E1E1E"/>
              </a:solidFill>
            </a:endParaRPr>
          </a:p>
          <a:p>
            <a:pPr algn="l">
              <a:spcBef>
                <a:spcPts val="500"/>
              </a:spcBef>
            </a:pPr>
            <a:r>
              <a:rPr lang="en-GB" sz="1700" b="1">
                <a:solidFill>
                  <a:srgbClr val="1E3A5F"/>
                </a:solidFill>
              </a:rPr>
              <a:t>What Bell tests actually confirm</a:t>
            </a:r>
          </a:p>
          <a:p>
            <a:pPr lvl="1" algn="l"/>
            <a:r>
              <a:rPr lang="en-GB" sz="1600">
                <a:solidFill>
                  <a:srgbClr val="1E1E1E"/>
                </a:solidFill>
              </a:rPr>
              <a:t>Bell tests measure binary outcomes (up or down) along chosen axes and compare them classically after the fact. They confirm that outcomes are anticorrelated when both measure along the same axis. They confirm E(φ_A, φ_B) = −cos(φ_A − φ_B). They do not measure continuous orientation angles. They do not test whether B tracks A's rotation locally.</a:t>
            </a:r>
          </a:p>
          <a:p>
            <a:pPr algn="l"/>
            <a:endParaRPr lang="en-GB" sz="1600">
              <a:solidFill>
                <a:srgbClr val="1E1E1E"/>
              </a:solidFill>
            </a:endParaRPr>
          </a:p>
          <a:p>
            <a:pPr algn="l">
              <a:spcBef>
                <a:spcPts val="500"/>
              </a:spcBef>
            </a:pPr>
            <a:r>
              <a:rPr lang="en-GB" sz="1700" b="1">
                <a:solidFill>
                  <a:srgbClr val="1E3A5F"/>
                </a:solidFill>
              </a:rPr>
              <a:t>The EMT experiment</a:t>
            </a:r>
          </a:p>
          <a:p>
            <a:pPr lvl="1" algn="l"/>
            <a:r>
              <a:rPr lang="en-GB" sz="1600">
                <a:solidFill>
                  <a:srgbClr val="1E1E1E"/>
                </a:solidFill>
              </a:rPr>
              <a:t>Device B monitors its own particle continuously with weak measurement.</a:t>
            </a:r>
          </a:p>
          <a:p>
            <a:pPr lvl="1" algn="l"/>
            <a:r>
              <a:rPr lang="en-GB" sz="1600">
                <a:solidFill>
                  <a:srgbClr val="1E1E1E"/>
                </a:solidFill>
              </a:rPr>
              <a:t>Device A holds HOME (0°). Device B records baseline.</a:t>
            </a:r>
          </a:p>
          <a:p>
            <a:pPr lvl="1" algn="l"/>
            <a:r>
              <a:rPr lang="en-GB" sz="1600">
                <a:solidFill>
                  <a:srgbClr val="1E1E1E"/>
                </a:solidFill>
              </a:rPr>
              <a:t>Device A rotates to θ. Device B continues monitoring.</a:t>
            </a:r>
          </a:p>
          <a:p>
            <a:pPr lvl="1" algn="l"/>
            <a:r>
              <a:rPr lang="en-GB" sz="1600">
                <a:solidFill>
                  <a:srgbClr val="1E1E1E"/>
                </a:solidFill>
              </a:rPr>
              <a:t>Question: does B's running average shift from 180° toward (180°+θ)?</a:t>
            </a:r>
          </a:p>
          <a:p>
            <a:pPr lvl="1" algn="l"/>
            <a:r>
              <a:rPr lang="en-GB" sz="1600">
                <a:solidFill>
                  <a:srgbClr val="1E1E1E"/>
                </a:solidFill>
              </a:rPr>
              <a:t>This is a before/after comparison entirely within Device B. No classical signal passes between devices.</a:t>
            </a:r>
          </a:p>
          <a:p>
            <a:pPr algn="l"/>
            <a:endParaRPr lang="en-GB" sz="1600">
              <a:solidFill>
                <a:srgbClr val="1E1E1E"/>
              </a:solidFill>
            </a:endParaRPr>
          </a:p>
          <a:p>
            <a:pPr algn="l">
              <a:spcBef>
                <a:spcPts val="500"/>
              </a:spcBef>
            </a:pPr>
            <a:r>
              <a:rPr lang="en-GB" sz="1700" b="1">
                <a:solidFill>
                  <a:srgbClr val="1E3A5F"/>
                </a:solidFill>
              </a:rPr>
              <a:t>Guaranteed scientific value</a:t>
            </a:r>
          </a:p>
          <a:p>
            <a:pPr lvl="1" algn="l"/>
            <a:r>
              <a:rPr lang="en-GB" sz="1600">
                <a:solidFill>
                  <a:srgbClr val="1E1E1E"/>
                </a:solidFill>
              </a:rPr>
              <a:t>Shift detected at &gt; 5σ: NCT is incomplete in this regime. Historic.</a:t>
            </a:r>
          </a:p>
          <a:p>
            <a:pPr lvl="1" algn="l"/>
            <a:r>
              <a:rPr lang="en-GB" sz="1600">
                <a:solidFill>
                  <a:srgbClr val="1E1E1E"/>
                </a:solidFill>
              </a:rPr>
              <a:t>No shift: NCT confirmed for continuous orientation, weak measurement, shared-axis regime. Publishable.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1.6  Orientation Encoding — The Rotary Orientation Ring</a:t>
            </a:r>
          </a:p>
        </p:txBody>
      </p:sp>
      <p:sp>
        <p:nvSpPr>
          <p:cNvPr id="3" name="TextBox 2"/>
          <p:cNvSpPr txBox="1"/>
          <p:nvPr/>
        </p:nvSpPr>
        <p:spPr>
          <a:xfrm>
            <a:off x="150187" y="671901"/>
            <a:ext cx="6563531" cy="2972609"/>
          </a:xfrm>
          <a:prstGeom prst="rect">
            <a:avLst/>
          </a:prstGeom>
          <a:noFill/>
        </p:spPr>
        <p:txBody>
          <a:bodyPr wrap="square">
            <a:spAutoFit/>
          </a:bodyPr>
          <a:lstStyle/>
          <a:p>
            <a:pPr algn="l">
              <a:spcBef>
                <a:spcPts val="300"/>
              </a:spcBef>
            </a:pPr>
            <a:r>
              <a:rPr lang="en-GB" sz="1500" b="1" dirty="0">
                <a:solidFill>
                  <a:srgbClr val="1A5676"/>
                </a:solidFill>
              </a:rPr>
              <a:t>In plain terms: think of a clock face. Each hour position is a letter. The ion's spin points to a position on the clock face, and the other device reads which position its own particle is pointing to. HOME (12 o'clock) means start or end of message.</a:t>
            </a:r>
          </a:p>
          <a:p>
            <a:pPr algn="l"/>
            <a:endParaRPr lang="en-GB" sz="1500" b="1" dirty="0">
              <a:solidFill>
                <a:srgbClr val="1A5676"/>
              </a:solidFill>
            </a:endParaRPr>
          </a:p>
          <a:p>
            <a:pPr algn="l">
              <a:spcBef>
                <a:spcPts val="500"/>
              </a:spcBef>
            </a:pPr>
            <a:r>
              <a:rPr lang="en-GB" sz="1700" b="1" dirty="0">
                <a:solidFill>
                  <a:srgbClr val="1E3A5F"/>
                </a:solidFill>
              </a:rPr>
              <a:t>Encoding principle</a:t>
            </a:r>
          </a:p>
          <a:p>
            <a:pPr algn="l"/>
            <a:r>
              <a:rPr lang="en-GB" sz="1600" dirty="0">
                <a:solidFill>
                  <a:srgbClr val="1E1E1E"/>
                </a:solidFill>
              </a:rPr>
              <a:t>Each character maps to a unique orientation angle θ on a circular lookup table — the Rotary Orientation Ring (ROR). HOME at θ = 0° is permanently reserved as message delimiter. Device B's table is inverted (θ_B = 180° − θ_A) to account for the spin-anticorrelation of the entangled Bell state.</a:t>
            </a:r>
          </a:p>
          <a:p>
            <a:pPr algn="l"/>
            <a:endParaRPr lang="en-GB" sz="1600" dirty="0">
              <a:solidFill>
                <a:srgbClr val="1E1E1E"/>
              </a:solidFill>
            </a:endParaRPr>
          </a:p>
          <a:p>
            <a:pPr algn="l"/>
            <a:r>
              <a:rPr lang="en-GB" sz="1300" dirty="0">
                <a:solidFill>
                  <a:srgbClr val="1E1E1E"/>
                </a:solidFill>
                <a:latin typeface="Courier New"/>
              </a:rPr>
              <a:t>  Single ring at 10° spacing:  35 characters + HOME</a:t>
            </a:r>
          </a:p>
          <a:p>
            <a:pPr algn="l"/>
            <a:r>
              <a:rPr lang="en-GB" sz="1300" dirty="0">
                <a:solidFill>
                  <a:srgbClr val="1E1E1E"/>
                </a:solidFill>
                <a:latin typeface="Courier New"/>
              </a:rPr>
              <a:t>  Dual ring at 10°/axis:       36 × 36 = 1,296 unique states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Part 2 — Experimental Pathway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What this section covers: the sequence of experiments from the simplest possible test to a full working device. The experiment and the device are completely separate. The experiment uses 1–5 ion pairs. The device uses 12.</a:t>
            </a:r>
          </a:p>
          <a:p>
            <a:pPr algn="l"/>
            <a:endParaRPr lang="en-GB" sz="1500" b="1">
              <a:solidFill>
                <a:srgbClr val="1A5676"/>
              </a:solidFill>
            </a:endParaRPr>
          </a:p>
          <a:p>
            <a:pPr lvl="1" algn="l"/>
            <a:r>
              <a:rPr lang="en-GB" sz="1600">
                <a:solidFill>
                  <a:srgbClr val="1E1E1E"/>
                </a:solidFill>
              </a:rPr>
              <a:t>Stage 1 — The core experiment: 1–5 entangled Ca⁺ pairs, no flags, no encoding. Simply rotate A and monitor B. Test whether the correlation effect exists.</a:t>
            </a:r>
          </a:p>
          <a:p>
            <a:pPr lvl="1" algn="l"/>
            <a:r>
              <a:rPr lang="en-GB" sz="1600">
                <a:solidFill>
                  <a:srgbClr val="1E1E1E"/>
                </a:solidFill>
              </a:rPr>
              <a:t>Stage 2 — Remote isolation: repeat Stage 1 with the two ions physically separated and all classical coupling excluded.</a:t>
            </a:r>
          </a:p>
          <a:p>
            <a:pPr lvl="1" algn="l"/>
            <a:r>
              <a:rPr lang="en-GB" sz="1600">
                <a:solidFill>
                  <a:srgbClr val="1E1E1E"/>
                </a:solidFill>
              </a:rPr>
              <a:t>Stage 3 — Coherence maintenance: dynamical decoupling and bootstrap re-entanglement for sustained operation.</a:t>
            </a:r>
          </a:p>
          <a:p>
            <a:pPr algn="l"/>
            <a:endParaRPr lang="en-GB" sz="1600">
              <a:solidFill>
                <a:srgbClr val="1E1E1E"/>
              </a:solidFill>
            </a:endParaRPr>
          </a:p>
          <a:p>
            <a:pPr algn="l"/>
            <a:r>
              <a:rPr lang="en-GB" sz="1600">
                <a:solidFill>
                  <a:srgbClr val="1E1E1E"/>
                </a:solidFill>
              </a:rPr>
              <a:t>Stages 1 and 2 are achievable with existing ion trap apparatus. Stage 3 is engineering development contingent on Stage 2 confirmation.</a:t>
            </a:r>
          </a:p>
          <a:p>
            <a:pPr algn="l"/>
            <a:endParaRPr lang="en-GB" sz="1600">
              <a:solidFill>
                <a:srgbClr val="1E1E1E"/>
              </a:solidFill>
            </a:endParaRPr>
          </a:p>
          <a:p>
            <a:pPr algn="l"/>
            <a:r>
              <a:rPr lang="en-GB" sz="1300">
                <a:solidFill>
                  <a:srgbClr val="788598"/>
                </a:solidFill>
              </a:rPr>
              <a:t>The device architecture described in Part 3 is built only if Stage 2 produces a positive result. All Part 3 content is explicitly conditional on that.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2.1  Ca⁺ as the Experimental Substrate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calcium ions in a trap are the best choice for this experiment because every individual capability the test requires has already been demonstrated — high-fidelity entanglement, precise orientation control, and sensitive weak-measurement readout.</a:t>
            </a:r>
          </a:p>
          <a:p>
            <a:pPr algn="l"/>
            <a:endParaRPr lang="en-GB" sz="1500" b="1">
              <a:solidFill>
                <a:srgbClr val="1A5676"/>
              </a:solidFill>
            </a:endParaRPr>
          </a:p>
          <a:p>
            <a:pPr algn="l">
              <a:spcBef>
                <a:spcPts val="500"/>
              </a:spcBef>
            </a:pPr>
            <a:r>
              <a:rPr lang="en-GB" sz="1700" b="1">
                <a:solidFill>
                  <a:srgbClr val="1E3A5F"/>
                </a:solidFill>
              </a:rPr>
              <a:t>Why Ca⁺ is the correct choice</a:t>
            </a:r>
          </a:p>
          <a:p>
            <a:pPr lvl="1" algn="l"/>
            <a:r>
              <a:rPr lang="en-GB" sz="1600">
                <a:solidFill>
                  <a:srgbClr val="1E1E1E"/>
                </a:solidFill>
              </a:rPr>
              <a:t>Coherence time: T₂* ∼ 1 ms (electron spin, no decoupling). T₂ ∼ 1 s with CPMG-8. Up to 10 hours with XY-64 DD on nuclear spin.</a:t>
            </a:r>
          </a:p>
          <a:p>
            <a:pPr lvl="1" algn="l"/>
            <a:r>
              <a:rPr lang="en-GB" sz="1600">
                <a:solidFill>
                  <a:srgbClr val="1E1E1E"/>
                </a:solidFill>
              </a:rPr>
              <a:t>Entanglement: Mølmer–Sørensen gate via shared axial motional mode. Fidelity &gt; 99.9%. No external photon needed.</a:t>
            </a:r>
          </a:p>
          <a:p>
            <a:pPr lvl="1" algn="l"/>
            <a:r>
              <a:rPr lang="en-GB" sz="1600">
                <a:solidFill>
                  <a:srgbClr val="1E1E1E"/>
                </a:solidFill>
              </a:rPr>
              <a:t>Orientation control: magnetic pulse at Larmor frequency. Rabi oscillation gives arbitrary angle. Precision &lt; 0.1°.</a:t>
            </a:r>
          </a:p>
          <a:p>
            <a:pPr lvl="1" algn="l"/>
            <a:r>
              <a:rPr lang="en-GB" sz="1600">
                <a:solidFill>
                  <a:srgbClr val="1E1E1E"/>
                </a:solidFill>
              </a:rPr>
              <a:t>Readout: state-selective fluorescence at 397 nm. Fidelity &gt; 99.9% per shot (PTB, NIST). Weak-measurement regime: each read disturbs state by order p ≪ 1.</a:t>
            </a:r>
          </a:p>
          <a:p>
            <a:pPr algn="l"/>
            <a:endParaRPr lang="en-GB" sz="1600">
              <a:solidFill>
                <a:srgbClr val="1E1E1E"/>
              </a:solidFill>
            </a:endParaRPr>
          </a:p>
          <a:p>
            <a:pPr algn="l">
              <a:spcBef>
                <a:spcPts val="500"/>
              </a:spcBef>
            </a:pPr>
            <a:r>
              <a:rPr lang="en-GB" sz="1700" b="1">
                <a:solidFill>
                  <a:srgbClr val="1E3A5F"/>
                </a:solidFill>
              </a:rPr>
              <a:t>Linear ion trap — natural fit</a:t>
            </a:r>
          </a:p>
          <a:p>
            <a:pPr algn="l"/>
            <a:r>
              <a:rPr lang="en-GB" sz="1600">
                <a:solidFill>
                  <a:srgbClr val="1E1E1E"/>
                </a:solidFill>
              </a:rPr>
              <a:t>In a Paul trap, ions arrange in a linear chain. For the experiment, only 1–5 ion pairs are needed — a straightforward configuration in any existing multi-zone trap. The 12-ion device chain is a later engineering extrapolation.</a:t>
            </a:r>
          </a:p>
          <a:p>
            <a:pPr algn="l"/>
            <a:endParaRPr lang="en-GB" sz="1600">
              <a:solidFill>
                <a:srgbClr val="1E1E1E"/>
              </a:solidFill>
            </a:endParaRPr>
          </a:p>
          <a:p>
            <a:pPr algn="l">
              <a:spcBef>
                <a:spcPts val="500"/>
              </a:spcBef>
            </a:pPr>
            <a:r>
              <a:rPr lang="en-GB" sz="1700" b="1">
                <a:solidFill>
                  <a:srgbClr val="1E3A5F"/>
                </a:solidFill>
              </a:rPr>
              <a:t>Trap and field compatibility</a:t>
            </a:r>
          </a:p>
          <a:p>
            <a:pPr algn="l"/>
            <a:r>
              <a:rPr lang="en-GB" sz="1600">
                <a:solidFill>
                  <a:srgbClr val="1E1E1E"/>
                </a:solidFill>
              </a:rPr>
              <a:t>The Paul trap confines Ca⁺ via oscillating electric fields at 10–100 MHz. The static magnetic bias field (1–10 mT) operates at a completely different frequency and does not interfere with the trap. Standard practice in all ion trap experiments.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2.2  Stage 1 — The Core Experiment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take 1–5 pairs of entangled calcium ions. Leave ion B alone — just keep reading it. Rotate ion A to a specific angle. Did ion B's readings change? That is the entire experiment.</a:t>
            </a:r>
          </a:p>
          <a:p>
            <a:pPr algn="l"/>
            <a:endParaRPr lang="en-GB" sz="1500" b="1">
              <a:solidFill>
                <a:srgbClr val="1A5676"/>
              </a:solidFill>
            </a:endParaRPr>
          </a:p>
          <a:p>
            <a:pPr algn="l">
              <a:spcBef>
                <a:spcPts val="500"/>
              </a:spcBef>
            </a:pPr>
            <a:r>
              <a:rPr lang="en-GB" sz="1700" b="1">
                <a:solidFill>
                  <a:srgbClr val="1E3A5F"/>
                </a:solidFill>
              </a:rPr>
              <a:t>Objective</a:t>
            </a:r>
          </a:p>
          <a:p>
            <a:pPr algn="l"/>
            <a:r>
              <a:rPr lang="en-GB" sz="1600">
                <a:solidFill>
                  <a:srgbClr val="1E1E1E"/>
                </a:solidFill>
              </a:rPr>
              <a:t>Determine whether rotating an entangled ion A to angle θ produces a statistically detectable change in the continuously-monitored orientation of its entangled partner ion B. Both ions are in the same lab for this stage.</a:t>
            </a:r>
          </a:p>
          <a:p>
            <a:pPr algn="l"/>
            <a:endParaRPr lang="en-GB" sz="1600">
              <a:solidFill>
                <a:srgbClr val="1E1E1E"/>
              </a:solidFill>
            </a:endParaRPr>
          </a:p>
          <a:p>
            <a:pPr algn="l">
              <a:spcBef>
                <a:spcPts val="500"/>
              </a:spcBef>
            </a:pPr>
            <a:r>
              <a:rPr lang="en-GB" sz="1700" b="1">
                <a:solidFill>
                  <a:srgbClr val="1E3A5F"/>
                </a:solidFill>
              </a:rPr>
              <a:t>Protocol</a:t>
            </a:r>
          </a:p>
          <a:p>
            <a:pPr lvl="1" algn="l"/>
            <a:r>
              <a:rPr lang="en-GB" sz="1600">
                <a:solidFill>
                  <a:srgbClr val="1E1E1E"/>
                </a:solidFill>
              </a:rPr>
              <a:t>1. Load 1–5 Ca⁺ ion pairs into a multi-zone Paul trap.</a:t>
            </a:r>
          </a:p>
          <a:p>
            <a:pPr lvl="1" algn="l"/>
            <a:r>
              <a:rPr lang="en-GB" sz="1600">
                <a:solidFill>
                  <a:srgbClr val="1E1E1E"/>
                </a:solidFill>
              </a:rPr>
              <a:t>2. Laser cool to motional ground state: Doppler (397 nm) then sideband cooling (729 nm) to ⟨n⟩ &lt; 0.05.</a:t>
            </a:r>
          </a:p>
          <a:p>
            <a:pPr lvl="1" algn="l"/>
            <a:r>
              <a:rPr lang="en-GB" sz="1600">
                <a:solidFill>
                  <a:srgbClr val="1E1E1E"/>
                </a:solidFill>
              </a:rPr>
              <a:t>3. Entangle each pair with the Mølmer–Sørensen gate. Verify entanglement by Bell inequality measurement.</a:t>
            </a:r>
          </a:p>
          <a:p>
            <a:pPr lvl="1" algn="l"/>
            <a:r>
              <a:rPr lang="en-GB" sz="1600">
                <a:solidFill>
                  <a:srgbClr val="1E1E1E"/>
                </a:solidFill>
              </a:rPr>
              <a:t>4. Ion A at HOME (0°). Ion B begins continuous weak measurement. N_baseline reads taken. Average recorded as θ_B_baseline.</a:t>
            </a:r>
          </a:p>
          <a:p>
            <a:pPr lvl="1" algn="l"/>
            <a:r>
              <a:rPr lang="en-GB" sz="1600">
                <a:solidFill>
                  <a:srgbClr val="1E1E1E"/>
                </a:solidFill>
              </a:rPr>
              <a:t>5. Ion A rotated to target angle θ_A from the ROR table.</a:t>
            </a:r>
          </a:p>
          <a:p>
            <a:pPr lvl="1" algn="l"/>
            <a:r>
              <a:rPr lang="en-GB" sz="1600">
                <a:solidFill>
                  <a:srgbClr val="1E1E1E"/>
                </a:solidFill>
              </a:rPr>
              <a:t>6. Ion B continues continuous weak measurement. Running average compared to baseline.</a:t>
            </a:r>
          </a:p>
          <a:p>
            <a:pPr lvl="1" algn="l"/>
            <a:r>
              <a:rPr lang="en-GB" sz="1600">
                <a:solidFill>
                  <a:srgbClr val="1E1E1E"/>
                </a:solidFill>
              </a:rPr>
              <a:t>7. Measure θ_B_after. Compute Δθ = θ_B_after − θ_B_baseline.</a:t>
            </a:r>
          </a:p>
          <a:p>
            <a:pPr lvl="1" algn="l"/>
            <a:r>
              <a:rPr lang="en-GB" sz="1600">
                <a:solidFill>
                  <a:srgbClr val="1E1E1E"/>
                </a:solidFill>
              </a:rPr>
              <a:t>8. Repeat for multiple values of θ_A. Test whether Δθ correlates statistically with θ_A.</a:t>
            </a:r>
          </a:p>
          <a:p>
            <a:pPr algn="l"/>
            <a:endParaRPr lang="en-GB" sz="1600">
              <a:solidFill>
                <a:srgbClr val="1E1E1E"/>
              </a:solidFill>
            </a:endParaRPr>
          </a:p>
          <a:p>
            <a:pPr algn="l">
              <a:spcBef>
                <a:spcPts val="500"/>
              </a:spcBef>
            </a:pPr>
            <a:r>
              <a:rPr lang="en-GB" sz="1700" b="1">
                <a:solidFill>
                  <a:srgbClr val="1E3A5F"/>
                </a:solidFill>
              </a:rPr>
              <a:t>Critical design requirement</a:t>
            </a:r>
          </a:p>
          <a:p>
            <a:pPr algn="l"/>
            <a:r>
              <a:rPr lang="en-GB" sz="1600">
                <a:solidFill>
                  <a:srgbClr val="1E1E1E"/>
                </a:solidFill>
              </a:rPr>
              <a:t>Ion B reads only its own ions. No signal is sent from A to B by any classical means. Ion B has no knowledge of θ_A until the blind analysis at the end of the run.</a:t>
            </a:r>
          </a:p>
          <a:p>
            <a:pPr algn="l"/>
            <a:endParaRPr lang="en-GB" sz="1600">
              <a:solidFill>
                <a:srgbClr val="1E1E1E"/>
              </a:solidFill>
            </a:endParaRPr>
          </a:p>
          <a:p>
            <a:pPr algn="l"/>
            <a:r>
              <a:rPr lang="en-GB" sz="1300">
                <a:solidFill>
                  <a:srgbClr val="788598"/>
                </a:solidFill>
              </a:rPr>
              <a:t>No flags, no protocol, no encoding at this stage. Those are device-layer features built only after this effect is confirmed.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2.3  Stage 2 — Remote Isolation Test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repeat Stage 1 but with the two ions physically separated far enough that no ordinary physics could explain a correlation between them. This is the definitive test.</a:t>
            </a:r>
          </a:p>
          <a:p>
            <a:pPr algn="l"/>
            <a:endParaRPr lang="en-GB" sz="1500" b="1">
              <a:solidFill>
                <a:srgbClr val="1A5676"/>
              </a:solidFill>
            </a:endParaRPr>
          </a:p>
          <a:p>
            <a:pPr algn="l">
              <a:spcBef>
                <a:spcPts val="500"/>
              </a:spcBef>
            </a:pPr>
            <a:r>
              <a:rPr lang="en-GB" sz="1700" b="1">
                <a:solidFill>
                  <a:srgbClr val="1E3A5F"/>
                </a:solidFill>
              </a:rPr>
              <a:t>Objective</a:t>
            </a:r>
          </a:p>
          <a:p>
            <a:pPr algn="l"/>
            <a:r>
              <a:rPr lang="en-GB" sz="1600">
                <a:solidFill>
                  <a:srgbClr val="1E1E1E"/>
                </a:solidFill>
              </a:rPr>
              <a:t>Repeat the Stage 1 protocol with ions A and B in separate, independently shielded vacuum systems, separated by a distance that excludes all classical electromagnetic coupling. Ion B reads only its own ions throughout.</a:t>
            </a:r>
          </a:p>
          <a:p>
            <a:pPr algn="l"/>
            <a:endParaRPr lang="en-GB" sz="1600">
              <a:solidFill>
                <a:srgbClr val="1E1E1E"/>
              </a:solidFill>
            </a:endParaRPr>
          </a:p>
          <a:p>
            <a:pPr algn="l">
              <a:spcBef>
                <a:spcPts val="500"/>
              </a:spcBef>
            </a:pPr>
            <a:r>
              <a:rPr lang="en-GB" sz="1700" b="1">
                <a:solidFill>
                  <a:srgbClr val="1E3A5F"/>
                </a:solidFill>
              </a:rPr>
              <a:t>Separation and shielding</a:t>
            </a:r>
          </a:p>
          <a:p>
            <a:pPr lvl="1" algn="l"/>
            <a:r>
              <a:rPr lang="en-GB" sz="1600">
                <a:solidFill>
                  <a:srgbClr val="1E1E1E"/>
                </a:solidFill>
              </a:rPr>
              <a:t>Minimum: &gt; 1 m to exclude RF field leakage from trap electrodes.</a:t>
            </a:r>
          </a:p>
          <a:p>
            <a:pPr lvl="1" algn="l"/>
            <a:r>
              <a:rPr lang="en-GB" sz="1600">
                <a:solidFill>
                  <a:srgbClr val="1E1E1E"/>
                </a:solidFill>
              </a:rPr>
              <a:t>Optimal: &gt; 10 m for complete exclusion of all coupling mechanisms.</a:t>
            </a:r>
          </a:p>
          <a:p>
            <a:pPr lvl="1" algn="l"/>
            <a:r>
              <a:rPr lang="en-GB" sz="1600">
                <a:solidFill>
                  <a:srgbClr val="1E1E1E"/>
                </a:solidFill>
              </a:rPr>
              <a:t>Both trap systems independently shielded with mu-metal to exclude common-mode magnetic field noise.</a:t>
            </a:r>
          </a:p>
          <a:p>
            <a:pPr lvl="1" algn="l"/>
            <a:r>
              <a:rPr lang="en-GB" sz="1600">
                <a:solidFill>
                  <a:srgbClr val="1E1E1E"/>
                </a:solidFill>
              </a:rPr>
              <a:t>Ion pairs entangled in a central lab and transported to their respective sites in portable sealed UHV traps.</a:t>
            </a:r>
          </a:p>
          <a:p>
            <a:pPr algn="l"/>
            <a:endParaRPr lang="en-GB" sz="1600">
              <a:solidFill>
                <a:srgbClr val="1E1E1E"/>
              </a:solidFill>
            </a:endParaRPr>
          </a:p>
          <a:p>
            <a:pPr algn="l">
              <a:spcBef>
                <a:spcPts val="500"/>
              </a:spcBef>
            </a:pPr>
            <a:r>
              <a:rPr lang="en-GB" sz="1700" b="1">
                <a:solidFill>
                  <a:srgbClr val="1E3A5F"/>
                </a:solidFill>
              </a:rPr>
              <a:t>Experimental protocol</a:t>
            </a:r>
          </a:p>
          <a:p>
            <a:pPr lvl="1" algn="l"/>
            <a:r>
              <a:rPr lang="en-GB" sz="1600">
                <a:solidFill>
                  <a:srgbClr val="1E1E1E"/>
                </a:solidFill>
              </a:rPr>
              <a:t>Ion B site: continuous weak measurement throughout. Baseline taken with A at HOME. No knowledge of A's schedule.</a:t>
            </a:r>
          </a:p>
          <a:p>
            <a:pPr lvl="1" algn="l"/>
            <a:r>
              <a:rPr lang="en-GB" sz="1600">
                <a:solidFill>
                  <a:srgbClr val="1E1E1E"/>
                </a:solidFill>
              </a:rPr>
              <a:t>Ion A site: pre-programmed rotation sequence. Rotations recorded with timestamps.</a:t>
            </a:r>
          </a:p>
          <a:p>
            <a:pPr lvl="1" algn="l"/>
            <a:r>
              <a:rPr lang="en-GB" sz="1600">
                <a:solidFill>
                  <a:srgbClr val="1E1E1E"/>
                </a:solidFill>
              </a:rPr>
              <a:t>Blind analysis: A's rotation log and B's measurement log compared only after both sequences are complete.</a:t>
            </a:r>
          </a:p>
          <a:p>
            <a:pPr algn="l"/>
            <a:endParaRPr lang="en-GB" sz="1600">
              <a:solidFill>
                <a:srgbClr val="1E1E1E"/>
              </a:solidFill>
            </a:endParaRPr>
          </a:p>
          <a:p>
            <a:pPr algn="l">
              <a:spcBef>
                <a:spcPts val="500"/>
              </a:spcBef>
            </a:pPr>
            <a:r>
              <a:rPr lang="en-GB" sz="1700" b="1">
                <a:solidFill>
                  <a:srgbClr val="1E3A5F"/>
                </a:solidFill>
              </a:rPr>
              <a:t>Control conditions — all must be run</a:t>
            </a:r>
          </a:p>
          <a:p>
            <a:pPr lvl="1" algn="l"/>
            <a:r>
              <a:rPr lang="en-GB" sz="1600">
                <a:solidFill>
                  <a:srgbClr val="1E1E1E"/>
                </a:solidFill>
              </a:rPr>
              <a:t>Non-entangled pair: B reads, A rotates. No correlation expected.</a:t>
            </a:r>
          </a:p>
          <a:p>
            <a:pPr lvl="1" algn="l"/>
            <a:r>
              <a:rPr lang="en-GB" sz="1600">
                <a:solidFill>
                  <a:srgbClr val="1E1E1E"/>
                </a:solidFill>
              </a:rPr>
              <a:t>Entangled pair, A held at HOME throughout: B should show no shift.</a:t>
            </a:r>
          </a:p>
          <a:p>
            <a:pPr lvl="1" algn="l"/>
            <a:r>
              <a:rPr lang="en-GB" sz="1600">
                <a:solidFill>
                  <a:srgbClr val="1E1E1E"/>
                </a:solidFill>
              </a:rPr>
              <a:t>Entangled pair, A rotates to various θ: the critical test.</a:t>
            </a:r>
          </a:p>
          <a:p>
            <a:pPr algn="l"/>
            <a:endParaRPr lang="en-GB" sz="1600">
              <a:solidFill>
                <a:srgbClr val="1E1E1E"/>
              </a:solidFill>
            </a:endParaRPr>
          </a:p>
          <a:p>
            <a:pPr algn="l"/>
            <a:r>
              <a:rPr lang="en-GB" sz="1300">
                <a:solidFill>
                  <a:srgbClr val="788598"/>
                </a:solidFill>
              </a:rPr>
              <a:t>If Stage 2 produces a positive result above 5σ, independent replication is required before the device architecture (Part 3) is pursued.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2.4  Stage 3 — Coherence Maintenance and Self-Healing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quantum states don't last forever — they fade. This stage is about keeping the entanglement alive as long as possible using pulse sequences that fight the fading, and rebuilding it automatically when it does fade.</a:t>
            </a:r>
          </a:p>
          <a:p>
            <a:pPr algn="l"/>
            <a:endParaRPr lang="en-GB" sz="1500" b="1" dirty="0">
              <a:solidFill>
                <a:srgbClr val="1A5676"/>
              </a:solidFill>
            </a:endParaRPr>
          </a:p>
          <a:p>
            <a:pPr algn="l">
              <a:spcBef>
                <a:spcPts val="500"/>
              </a:spcBef>
            </a:pPr>
            <a:r>
              <a:rPr lang="en-GB" sz="1700" b="1" dirty="0">
                <a:solidFill>
                  <a:srgbClr val="1E3A5F"/>
                </a:solidFill>
              </a:rPr>
              <a:t>Dynamical decoupling</a:t>
            </a:r>
          </a:p>
          <a:p>
            <a:pPr algn="l"/>
            <a:r>
              <a:rPr lang="en-GB" sz="1600" dirty="0">
                <a:solidFill>
                  <a:srgbClr val="1E1E1E"/>
                </a:solidFill>
              </a:rPr>
              <a:t>Entangled states decohere due to magnetic field noise, phonon coupling, and charge noise. Dynamical decoupling (DD) applies precisely timed refocusing pulses that cancel slow-frequency noise by reversing accumulated phase error before it destroys the entanglement.</a:t>
            </a:r>
          </a:p>
          <a:p>
            <a:pPr algn="l"/>
            <a:endParaRPr lang="en-GB" sz="1600" dirty="0">
              <a:solidFill>
                <a:srgbClr val="1E1E1E"/>
              </a:solidFill>
            </a:endParaRPr>
          </a:p>
          <a:p>
            <a:pPr algn="l"/>
            <a:r>
              <a:rPr lang="en-GB" sz="1300" dirty="0">
                <a:solidFill>
                  <a:srgbClr val="1E1E1E"/>
                </a:solidFill>
                <a:latin typeface="Courier New"/>
              </a:rPr>
              <a:t>  Electron spin, no DD:        T₂* ≈ 1 ms</a:t>
            </a:r>
          </a:p>
          <a:p>
            <a:pPr algn="l"/>
            <a:r>
              <a:rPr lang="en-GB" sz="1300" dirty="0">
                <a:solidFill>
                  <a:srgbClr val="1E1E1E"/>
                </a:solidFill>
                <a:latin typeface="Courier New"/>
              </a:rPr>
              <a:t>  Electron spin, CPMG-8:       T₂  ≈ 1 s</a:t>
            </a:r>
          </a:p>
          <a:p>
            <a:pPr algn="l"/>
            <a:r>
              <a:rPr lang="en-GB" sz="1300" dirty="0">
                <a:solidFill>
                  <a:srgbClr val="1E1E1E"/>
                </a:solidFill>
                <a:latin typeface="Courier New"/>
              </a:rPr>
              <a:t>  Nuclear spin, XY-64:         T₂  ≈ 10 hours  (demonstrated)</a:t>
            </a:r>
          </a:p>
          <a:p>
            <a:pPr algn="l"/>
            <a:endParaRPr lang="en-GB" sz="1300" dirty="0">
              <a:solidFill>
                <a:srgbClr val="1E1E1E"/>
              </a:solidFill>
              <a:latin typeface="Courier New"/>
            </a:endParaRPr>
          </a:p>
          <a:p>
            <a:pPr algn="l">
              <a:spcBef>
                <a:spcPts val="500"/>
              </a:spcBef>
            </a:pPr>
            <a:r>
              <a:rPr lang="en-GB" sz="1700" b="1" dirty="0">
                <a:solidFill>
                  <a:srgbClr val="1E3A5F"/>
                </a:solidFill>
              </a:rPr>
              <a:t>Bootstrap re-entanglement protocol</a:t>
            </a:r>
          </a:p>
          <a:p>
            <a:pPr lvl="1" algn="l"/>
            <a:r>
              <a:rPr lang="en-GB" sz="1600" dirty="0">
                <a:solidFill>
                  <a:srgbClr val="1E1E1E"/>
                </a:solidFill>
              </a:rPr>
              <a:t>When a pair's coherence drops below threshold, the two flag ions (particles 11 and 12) coordinate a refresh: both devices simultaneously emit entanglement photons from a reserve Ca⁺ ion. A Bell measurement is performed at one site. The result is sent via the flag protocol. Correction pulses applied. New pair loaded. DD activated immediately.</a:t>
            </a:r>
          </a:p>
          <a:p>
            <a:pPr algn="l"/>
            <a:endParaRPr lang="en-GB" sz="1600" dirty="0">
              <a:solidFill>
                <a:srgbClr val="1E1E1E"/>
              </a:solidFill>
            </a:endParaRPr>
          </a:p>
          <a:p>
            <a:pPr algn="l">
              <a:spcBef>
                <a:spcPts val="500"/>
              </a:spcBef>
            </a:pPr>
            <a:r>
              <a:rPr lang="en-GB" sz="1700" b="1" dirty="0">
                <a:solidFill>
                  <a:srgbClr val="1E3A5F"/>
                </a:solidFill>
              </a:rPr>
              <a:t>Stability condition</a:t>
            </a:r>
          </a:p>
          <a:p>
            <a:pPr algn="l"/>
            <a:r>
              <a:rPr lang="en-GB" sz="1300" dirty="0">
                <a:solidFill>
                  <a:srgbClr val="1E1E1E"/>
                </a:solidFill>
                <a:latin typeface="Courier New"/>
              </a:rPr>
              <a:t>  R_refresh &gt; R_decoherence</a:t>
            </a:r>
          </a:p>
          <a:p>
            <a:pPr algn="l"/>
            <a:r>
              <a:rPr lang="en-GB" sz="1300" dirty="0">
                <a:solidFill>
                  <a:srgbClr val="1E1E1E"/>
                </a:solidFill>
                <a:latin typeface="Courier New"/>
              </a:rPr>
              <a:t>  1/t_refresh  &gt;  N_pairs / τ_c</a:t>
            </a:r>
          </a:p>
          <a:p>
            <a:pPr algn="l"/>
            <a:r>
              <a:rPr lang="en-GB" sz="1300" dirty="0">
                <a:solidFill>
                  <a:srgbClr val="1E1E1E"/>
                </a:solidFill>
                <a:latin typeface="Courier New"/>
              </a:rPr>
              <a:t>  Ca⁺ nuclear spin (τ_c = 36,000 s): one flag ion channel</a:t>
            </a:r>
          </a:p>
          <a:p>
            <a:pPr algn="l"/>
            <a:r>
              <a:rPr lang="en-GB" sz="1300" dirty="0">
                <a:solidFill>
                  <a:srgbClr val="1E1E1E"/>
                </a:solidFill>
                <a:latin typeface="Courier New"/>
              </a:rPr>
              <a:t>  is sufficient to maintain 10 data pairs indefinitely.</a:t>
            </a:r>
          </a:p>
          <a:p>
            <a:pPr algn="l"/>
            <a:endParaRPr lang="en-GB" sz="1300" dirty="0">
              <a:solidFill>
                <a:srgbClr val="1E1E1E"/>
              </a:solidFill>
              <a:latin typeface="Courier New"/>
            </a:endParaRPr>
          </a:p>
          <a:p>
            <a:pPr algn="l"/>
            <a:r>
              <a:rPr lang="en-GB" sz="1600" dirty="0">
                <a:solidFill>
                  <a:srgbClr val="1E1E1E"/>
                </a:solidFill>
              </a:rPr>
              <a:t>The ion reserve is a store of ordinary unentangled Ca⁺ ions, replenished by photoionisation from a calcium metal source on-chip. No pre-entangled pairs required in the reserve.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Part 3 — System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What this section covers: how to build the actual device, assuming the experiment confirms the effect works. Every component described here uses existing or near-term technology.</a:t>
            </a:r>
          </a:p>
          <a:p>
            <a:pPr algn="l"/>
            <a:endParaRPr lang="en-GB" sz="1500" b="1" dirty="0">
              <a:solidFill>
                <a:srgbClr val="1A5676"/>
              </a:solidFill>
            </a:endParaRPr>
          </a:p>
          <a:p>
            <a:pPr lvl="1" algn="l"/>
            <a:r>
              <a:rPr lang="en-GB" sz="1600" dirty="0">
                <a:solidFill>
                  <a:srgbClr val="1E1E1E"/>
                </a:solidFill>
              </a:rPr>
              <a:t>3.1  Manufacturing — how both units are made from one trap.</a:t>
            </a:r>
          </a:p>
          <a:p>
            <a:pPr lvl="1" algn="l"/>
            <a:r>
              <a:rPr lang="en-GB" sz="1600" dirty="0">
                <a:solidFill>
                  <a:srgbClr val="1E1E1E"/>
                </a:solidFill>
              </a:rPr>
              <a:t>3.2  Write mechanism — how to set ion orientation.</a:t>
            </a:r>
          </a:p>
          <a:p>
            <a:pPr lvl="1" algn="l"/>
            <a:r>
              <a:rPr lang="en-GB" sz="1600" dirty="0">
                <a:solidFill>
                  <a:srgbClr val="1E1E1E"/>
                </a:solidFill>
              </a:rPr>
              <a:t>3.3  Read mechanism — how to measure ion orientation.</a:t>
            </a:r>
          </a:p>
          <a:p>
            <a:pPr lvl="1" algn="l"/>
            <a:r>
              <a:rPr lang="en-GB" sz="1600" dirty="0">
                <a:solidFill>
                  <a:srgbClr val="1E1E1E"/>
                </a:solidFill>
              </a:rPr>
              <a:t>3.3b Fluorescence photon direction — an interesting side question.</a:t>
            </a:r>
          </a:p>
          <a:p>
            <a:pPr lvl="1" algn="l"/>
            <a:r>
              <a:rPr lang="en-GB" sz="1600" dirty="0">
                <a:solidFill>
                  <a:srgbClr val="1E1E1E"/>
                </a:solidFill>
              </a:rPr>
              <a:t>3.4  12-particle line protocol — the flag-based handshake.</a:t>
            </a:r>
          </a:p>
          <a:p>
            <a:pPr lvl="1" algn="l"/>
            <a:r>
              <a:rPr lang="en-GB" sz="1600" dirty="0">
                <a:solidFill>
                  <a:srgbClr val="1E1E1E"/>
                </a:solidFill>
              </a:rPr>
              <a:t>3.5  Chip-scale integration — the target form factor.</a:t>
            </a:r>
          </a:p>
          <a:p>
            <a:pPr lvl="1" algn="l"/>
            <a:r>
              <a:rPr lang="en-GB" sz="1600" dirty="0">
                <a:solidFill>
                  <a:srgbClr val="1E1E1E"/>
                </a:solidFill>
              </a:rPr>
              <a:t>3.6  Substrate materials — what else could be used.</a:t>
            </a:r>
          </a:p>
          <a:p>
            <a:pPr algn="l"/>
            <a:endParaRPr lang="en-GB" sz="1600" dirty="0">
              <a:solidFill>
                <a:srgbClr val="1E1E1E"/>
              </a:solidFill>
            </a:endParaRPr>
          </a:p>
          <a:p>
            <a:pPr algn="l"/>
            <a:r>
              <a:rPr lang="en-GB" sz="1300" dirty="0">
                <a:solidFill>
                  <a:srgbClr val="788598"/>
                </a:solidFill>
              </a:rPr>
              <a:t>All hardware described here is an engineering extrapolation of demonstrated laboratory techniques.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3.1  Manufacturing Process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both EMT units are built separately. Entanglement is loaded in after manufacture, either by delivering a pair of seed ions to each unit, or — if retroactive causality works — not at all.</a:t>
            </a:r>
          </a:p>
          <a:p>
            <a:pPr algn="l"/>
            <a:endParaRPr lang="en-GB" sz="1500" b="1">
              <a:solidFill>
                <a:srgbClr val="1A5676"/>
              </a:solidFill>
            </a:endParaRPr>
          </a:p>
          <a:p>
            <a:pPr algn="l">
              <a:spcBef>
                <a:spcPts val="500"/>
              </a:spcBef>
            </a:pPr>
            <a:r>
              <a:rPr lang="en-GB" sz="1700" b="1">
                <a:solidFill>
                  <a:srgbClr val="1E3A5F"/>
                </a:solidFill>
              </a:rPr>
              <a:t>Method 1 — Seed ion delivery (confirmed physics)</a:t>
            </a:r>
          </a:p>
          <a:p>
            <a:pPr lvl="1" algn="l"/>
            <a:r>
              <a:rPr lang="en-GB" sz="1600">
                <a:solidFill>
                  <a:srgbClr val="1E1E1E"/>
                </a:solidFill>
              </a:rPr>
              <a:t>Two Ca⁺ ions are entangled in a lab using the Mølmer–Sørensen gate. One ion is transported to Unit A, one to Unit B, each in a portable sealed UHV trap. These form the seed pair from which the full 12-ion chain is bootstrapped.</a:t>
            </a:r>
          </a:p>
          <a:p>
            <a:pPr lvl="1" algn="l"/>
            <a:r>
              <a:rPr lang="en-GB" sz="1600">
                <a:solidFill>
                  <a:srgbClr val="1E1E1E"/>
                </a:solidFill>
              </a:rPr>
              <a:t>Transport coherence is maintained by DD pulses. Only one entangled pair needs to survive transit.</a:t>
            </a:r>
          </a:p>
          <a:p>
            <a:pPr algn="l"/>
            <a:endParaRPr lang="en-GB" sz="1600">
              <a:solidFill>
                <a:srgbClr val="1E1E1E"/>
              </a:solidFill>
            </a:endParaRPr>
          </a:p>
          <a:p>
            <a:pPr algn="l">
              <a:spcBef>
                <a:spcPts val="500"/>
              </a:spcBef>
            </a:pPr>
            <a:r>
              <a:rPr lang="en-GB" sz="1700" b="1">
                <a:solidFill>
                  <a:srgbClr val="1E3A5F"/>
                </a:solidFill>
              </a:rPr>
              <a:t>Method 2 — No pre-entanglement (speculative)</a:t>
            </a:r>
          </a:p>
          <a:p>
            <a:pPr lvl="1" algn="l"/>
            <a:r>
              <a:rPr lang="en-GB" sz="1600">
                <a:solidFill>
                  <a:srgbClr val="1E1E1E"/>
                </a:solidFill>
              </a:rPr>
              <a:t>If the virtual Bell measurement protocol works, each unit is built with 12 ordinary unentangled Ca⁺ ions. Entanglement is established on demand via the pairing code. Contingent on Level 2 physics (section 5.4).</a:t>
            </a:r>
          </a:p>
          <a:p>
            <a:pPr algn="l"/>
            <a:endParaRPr lang="en-GB" sz="1600">
              <a:solidFill>
                <a:srgbClr val="1E1E1E"/>
              </a:solidFill>
            </a:endParaRPr>
          </a:p>
          <a:p>
            <a:pPr algn="l">
              <a:spcBef>
                <a:spcPts val="500"/>
              </a:spcBef>
            </a:pPr>
            <a:r>
              <a:rPr lang="en-GB" sz="1700" b="1">
                <a:solidFill>
                  <a:srgbClr val="1E3A5F"/>
                </a:solidFill>
              </a:rPr>
              <a:t>Per-unit build steps</a:t>
            </a:r>
          </a:p>
          <a:p>
            <a:pPr lvl="1" algn="l"/>
            <a:r>
              <a:rPr lang="en-GB" sz="1600">
                <a:solidFill>
                  <a:srgbClr val="1E1E1E"/>
                </a:solidFill>
              </a:rPr>
              <a:t>1. Ion trap chip fabricated by e-beam lithography. Miniature write coils in the same step.</a:t>
            </a:r>
          </a:p>
          <a:p>
            <a:pPr lvl="1" algn="l"/>
            <a:r>
              <a:rPr lang="en-GB" sz="1600">
                <a:solidFill>
                  <a:srgbClr val="1E1E1E"/>
                </a:solidFill>
              </a:rPr>
              <a:t>2. Glass or fused silica vacuum envelope sealed around chip. Getter pump inside. Optical windows for laser access.</a:t>
            </a:r>
          </a:p>
          <a:p>
            <a:pPr lvl="1" algn="l"/>
            <a:r>
              <a:rPr lang="en-GB" sz="1600">
                <a:solidFill>
                  <a:srgbClr val="1E1E1E"/>
                </a:solidFill>
              </a:rPr>
              <a:t>3. Ca metal loaded; photoionised (423+375 nm) to Ca⁺. 12-ion chain formed.</a:t>
            </a:r>
          </a:p>
          <a:p>
            <a:pPr lvl="1" algn="l"/>
            <a:r>
              <a:rPr lang="en-GB" sz="1600">
                <a:solidFill>
                  <a:srgbClr val="1E1E1E"/>
                </a:solidFill>
              </a:rPr>
              <a:t>4. Laser cooling: Doppler (397+866 nm) then sideband (729 nm) to motional ground state ⟨n⟩ &lt; 0.05.</a:t>
            </a:r>
          </a:p>
          <a:p>
            <a:pPr lvl="1" algn="l"/>
            <a:r>
              <a:rPr lang="en-GB" sz="1600">
                <a:solidFill>
                  <a:srgbClr val="1E1E1E"/>
                </a:solidFill>
              </a:rPr>
              <a:t>5. Seed ion installed and bootstrap entanglement built (Method 1), or pairing code loaded (Method 2). DD activated.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3.1b  From Experiment to Device — Ca⁺ Supply Chain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once the experiment confirms the effect with 1–5 pairs, the same apparatus scales into a self-healing device. One confirmed entangled pair is all that is needed to bootstrap the full 12-ion chain automatically.</a:t>
            </a:r>
          </a:p>
          <a:p>
            <a:pPr algn="l"/>
            <a:endParaRPr lang="en-GB" sz="1500" b="1">
              <a:solidFill>
                <a:srgbClr val="1A5676"/>
              </a:solidFill>
            </a:endParaRPr>
          </a:p>
          <a:p>
            <a:pPr algn="l">
              <a:spcBef>
                <a:spcPts val="500"/>
              </a:spcBef>
            </a:pPr>
            <a:r>
              <a:rPr lang="en-GB" sz="1700" b="1">
                <a:solidFill>
                  <a:srgbClr val="1E3A5F"/>
                </a:solidFill>
              </a:rPr>
              <a:t>The bootstrap sequence — using an established pair</a:t>
            </a:r>
          </a:p>
          <a:p>
            <a:pPr lvl="1" algn="l"/>
            <a:r>
              <a:rPr lang="en-GB" sz="1600">
                <a:solidFill>
                  <a:srgbClr val="1E1E1E"/>
                </a:solidFill>
              </a:rPr>
              <a:t>1. Ca metal reservoir heated by resistive element on-chip. Neutral Ca atom beam directed at the loading zone of the trap.</a:t>
            </a:r>
          </a:p>
          <a:p>
            <a:pPr lvl="1" algn="l"/>
            <a:r>
              <a:rPr lang="en-GB" sz="1600">
                <a:solidFill>
                  <a:srgbClr val="1E1E1E"/>
                </a:solidFill>
              </a:rPr>
              <a:t>2. Two-step photoionisation: 423 nm laser (S→P transition) then 375 nm laser (P→continuum). Neutral Ca → Ca⁺ in the loading zone. ~microsecond timescale. Highly selective — only Ca in the beam zone is ionised.</a:t>
            </a:r>
          </a:p>
          <a:p>
            <a:pPr lvl="1" algn="l"/>
            <a:r>
              <a:rPr lang="en-GB" sz="1600">
                <a:solidFill>
                  <a:srgbClr val="1E1E1E"/>
                </a:solidFill>
              </a:rPr>
              <a:t>3. New Ca⁺ ion shuttled from loading zone to qubit zone via electric field gradient. Multi-zone trap. Coherence of existing ions is unaffected during shuttling — the shuttle zone is physically separated.</a:t>
            </a:r>
          </a:p>
          <a:p>
            <a:pPr lvl="1" algn="l"/>
            <a:r>
              <a:rPr lang="en-GB" sz="1600">
                <a:solidFill>
                  <a:srgbClr val="1E1E1E"/>
                </a:solidFill>
              </a:rPr>
              <a:t>4. New ion laser-cooled in isolation: Doppler (397+866 nm) to ∼1 mK, then sideband (729 nm) to ground state ⟨n⟩ &lt; 0.05.</a:t>
            </a:r>
          </a:p>
          <a:p>
            <a:pPr lvl="1" algn="l"/>
            <a:r>
              <a:rPr lang="en-GB" sz="1600">
                <a:solidFill>
                  <a:srgbClr val="1E1E1E"/>
                </a:solidFill>
              </a:rPr>
              <a:t>5. New ion entangled with its remote counterpart using the existing EMT channel to coordinate timing via the flag protocol. Photon-mediated Bell measurement establishes the new pair. Classical result sent via the operational EMT channel. Correction pulse applied. New pair active.</a:t>
            </a:r>
          </a:p>
          <a:p>
            <a:pPr lvl="1" algn="l"/>
            <a:r>
              <a:rPr lang="en-GB" sz="1600">
                <a:solidFill>
                  <a:srgbClr val="1E1E1E"/>
                </a:solidFill>
              </a:rPr>
              <a:t>6. New pair inserted into the active chain at the correct position. Dynamical decoupling activated immediately.</a:t>
            </a:r>
          </a:p>
          <a:p>
            <a:pPr algn="l"/>
            <a:endParaRPr lang="en-GB" sz="1600">
              <a:solidFill>
                <a:srgbClr val="1E1E1E"/>
              </a:solidFill>
            </a:endParaRPr>
          </a:p>
          <a:p>
            <a:pPr algn="l">
              <a:spcBef>
                <a:spcPts val="500"/>
              </a:spcBef>
            </a:pPr>
            <a:r>
              <a:rPr lang="en-GB" sz="1700" b="1">
                <a:solidFill>
                  <a:srgbClr val="1E3A5F"/>
                </a:solidFill>
              </a:rPr>
              <a:t>The seed pair is the control channel</a:t>
            </a:r>
          </a:p>
          <a:p>
            <a:pPr algn="l"/>
            <a:r>
              <a:rPr lang="en-GB" sz="1600">
                <a:solidFill>
                  <a:srgbClr val="1E1E1E"/>
                </a:solidFill>
              </a:rPr>
              <a:t>The first confirmed entangled pair does not just carry messages — it orchestrates the construction of all subsequent pairs. The ROR gives it a vocabulary to coordinate each step. The flag ions manage timing so bootstrap messages do not collide with re-entanglement operations. One working pair builds the full device autonomously.</a:t>
            </a:r>
          </a:p>
          <a:p>
            <a:pPr algn="l"/>
            <a:endParaRPr lang="en-GB" sz="1600">
              <a:solidFill>
                <a:srgbClr val="1E1E1E"/>
              </a:solidFill>
            </a:endParaRPr>
          </a:p>
          <a:p>
            <a:pPr algn="l"/>
            <a:r>
              <a:rPr lang="en-GB" sz="1300">
                <a:solidFill>
                  <a:srgbClr val="788598"/>
                </a:solidFill>
              </a:rPr>
              <a:t>This is the path from experiment to device: confirm the effect → deliver one seed pair → bootstrap builds the rest → self-healing loop maintains it indefinitely.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Experimental Evidence — What Is and Is Not Confirmed</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entanglement is thoroughly confirmed. Spin correlations between separated particles are real. But the specific thing the EMT needs — one device detecting the other's rotation by reading only itself — has never been tested. These are two different things.</a:t>
            </a:r>
          </a:p>
          <a:p>
            <a:pPr algn="l"/>
            <a:endParaRPr lang="en-GB" sz="1500" b="1">
              <a:solidFill>
                <a:srgbClr val="1A5676"/>
              </a:solidFill>
            </a:endParaRPr>
          </a:p>
          <a:p>
            <a:pPr algn="l">
              <a:spcBef>
                <a:spcPts val="500"/>
              </a:spcBef>
            </a:pPr>
            <a:r>
              <a:rPr lang="en-GB" sz="1700" b="1">
                <a:solidFill>
                  <a:srgbClr val="1E3A5F"/>
                </a:solidFill>
              </a:rPr>
              <a:t>What IS confirmed by existing experiments</a:t>
            </a:r>
          </a:p>
          <a:p>
            <a:pPr lvl="1" algn="l"/>
            <a:r>
              <a:rPr lang="en-GB" sz="1600">
                <a:solidFill>
                  <a:srgbClr val="1E1E1E"/>
                </a:solidFill>
              </a:rPr>
              <a:t>NIST Ca⁺ Bell tests (Wineland group): Bell inequality violated at 8σ. Detection loophole closed with massive particles for the first time. Lasers rotate ion spins by specific angles before measurement. Binary outcomes (up/down) are strongly anticorrelated when both particles are measured along the same axis.</a:t>
            </a:r>
          </a:p>
          <a:p>
            <a:pPr lvl="1" algn="l"/>
            <a:r>
              <a:rPr lang="en-GB" sz="1600">
                <a:solidFill>
                  <a:srgbClr val="1E1E1E"/>
                </a:solidFill>
              </a:rPr>
              <a:t>Ca⁺ hybrid Bell test (Oxford, 2015): 99.8% fidelity entangled state. CHSH inequality violated by 15σ.</a:t>
            </a:r>
          </a:p>
          <a:p>
            <a:pPr lvl="1" algn="l"/>
            <a:r>
              <a:rPr lang="en-GB" sz="1600">
                <a:solidFill>
                  <a:srgbClr val="1E1E1E"/>
                </a:solidFill>
              </a:rPr>
              <a:t>Entangled helium atoms (ANU, 2019): Spin correlations along rotated measurement bases at 6σ. First Bell test with freely propagating massive particles.</a:t>
            </a:r>
          </a:p>
          <a:p>
            <a:pPr lvl="1" algn="l"/>
            <a:r>
              <a:rPr lang="en-GB" sz="1600">
                <a:solidFill>
                  <a:srgbClr val="1E1E1E"/>
                </a:solidFill>
              </a:rPr>
              <a:t>Loophole-free Bell test (Delft, 2015): NV centre spins 1.3 km apart. Locality and detection loopholes both closed simultaneously.</a:t>
            </a:r>
          </a:p>
          <a:p>
            <a:pPr algn="l"/>
            <a:endParaRPr lang="en-GB" sz="1600">
              <a:solidFill>
                <a:srgbClr val="1E1E1E"/>
              </a:solidFill>
            </a:endParaRPr>
          </a:p>
          <a:p>
            <a:pPr algn="l">
              <a:spcBef>
                <a:spcPts val="500"/>
              </a:spcBef>
            </a:pPr>
            <a:r>
              <a:rPr lang="en-GB" sz="1700" b="1">
                <a:solidFill>
                  <a:srgbClr val="1E3A5F"/>
                </a:solidFill>
              </a:rPr>
              <a:t>What these experiments precisely confirm</a:t>
            </a:r>
          </a:p>
          <a:p>
            <a:pPr lvl="1" algn="l"/>
            <a:r>
              <a:rPr lang="en-GB" sz="1600">
                <a:solidFill>
                  <a:srgbClr val="1E1E1E"/>
                </a:solidFill>
              </a:rPr>
              <a:t>When both particles are measured along the same axis, outcomes are anticorrelated. One is up, the other is down. The correlation coefficient E(φ_A, φ_B) = −cos(φ_A − φ_B) matches quantum mechanics to high precision. The entanglement is real.</a:t>
            </a:r>
          </a:p>
          <a:p>
            <a:pPr algn="l"/>
            <a:endParaRPr lang="en-GB" sz="1600">
              <a:solidFill>
                <a:srgbClr val="1E1E1E"/>
              </a:solidFill>
            </a:endParaRPr>
          </a:p>
          <a:p>
            <a:pPr algn="l">
              <a:spcBef>
                <a:spcPts val="500"/>
              </a:spcBef>
            </a:pPr>
            <a:r>
              <a:rPr lang="en-GB" sz="1700" b="1">
                <a:solidFill>
                  <a:srgbClr val="1E3A5F"/>
                </a:solidFill>
              </a:rPr>
              <a:t>What no experiment has tested</a:t>
            </a:r>
          </a:p>
          <a:p>
            <a:pPr lvl="1" algn="l"/>
            <a:r>
              <a:rPr lang="en-GB" sz="1600">
                <a:solidFill>
                  <a:srgbClr val="1E1E1E"/>
                </a:solidFill>
              </a:rPr>
              <a:t>All Bell tests measure binary outcomes and require both parties to compare results classically to see the correlation. Neither party alone sees anything non-random.</a:t>
            </a:r>
          </a:p>
          <a:p>
            <a:pPr lvl="1" algn="l"/>
            <a:r>
              <a:rPr lang="en-GB" sz="1600">
                <a:solidFill>
                  <a:srgbClr val="1E1E1E"/>
                </a:solidFill>
              </a:rPr>
              <a:t>No experiment has tested whether rotating particle A causes particle B's continuous orientation angle to shift in a way detectable by B reading only itself, without any classical comparison.</a:t>
            </a:r>
          </a:p>
          <a:p>
            <a:pPr lvl="1" algn="l"/>
            <a:r>
              <a:rPr lang="en-GB" sz="1600">
                <a:solidFill>
                  <a:srgbClr val="1E1E1E"/>
                </a:solidFill>
              </a:rPr>
              <a:t>This is not a gap in a minor detail. It is the gap between confirmed entanglement and the EMT hypothesis. The entanglement is real. Whether it is locally readable as a continuous angle shift is the open question.</a:t>
            </a:r>
          </a:p>
          <a:p>
            <a:pPr algn="l"/>
            <a:endParaRPr lang="en-GB" sz="1600">
              <a:solidFill>
                <a:srgbClr val="1E1E1E"/>
              </a:solidFill>
            </a:endParaRPr>
          </a:p>
          <a:p>
            <a:pPr algn="l"/>
            <a:r>
              <a:rPr lang="en-GB" sz="1300">
                <a:solidFill>
                  <a:srgbClr val="788598"/>
                </a:solidFill>
              </a:rPr>
              <a:t>The EMT experiment is not testing whether entanglement exists. It is testing whether the continuous orientation correlations are locally detectable without classical comparison.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3.1  Manufacturing — Diagram</a:t>
            </a:r>
          </a:p>
        </p:txBody>
      </p:sp>
      <p:sp>
        <p:nvSpPr>
          <p:cNvPr id="3" name="TextBox 2"/>
          <p:cNvSpPr txBox="1"/>
          <p:nvPr/>
        </p:nvSpPr>
        <p:spPr>
          <a:xfrm>
            <a:off x="150187" y="8778240"/>
            <a:ext cx="6563531" cy="822960"/>
          </a:xfrm>
          <a:prstGeom prst="rect">
            <a:avLst/>
          </a:prstGeom>
          <a:noFill/>
        </p:spPr>
        <p:txBody>
          <a:bodyPr wrap="square">
            <a:spAutoFit/>
          </a:bodyPr>
          <a:lstStyle/>
          <a:p>
            <a:pPr algn="l"/>
            <a:r>
              <a:rPr lang="en-GB" sz="1300" dirty="0">
                <a:solidFill>
                  <a:srgbClr val="788598"/>
                </a:solidFill>
              </a:rPr>
              <a:t>Schematic of Ca⁺ ion trap manufacturing steps. Both units are built independently; entanglement is established by seed ion delivery or bootstrap protocol after build.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3.2  Write Mechanism — Miniature Coil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each ion has a tiny wire coil around it, like a miniature electromagnet. A brief pulse of current rotates the ion's spin to whatever angle the MCU tells it to — the same way a compass needle swings when you move a magnet near it.</a:t>
            </a:r>
          </a:p>
          <a:p>
            <a:pPr algn="l"/>
            <a:endParaRPr lang="en-GB" sz="1500" b="1" dirty="0">
              <a:solidFill>
                <a:srgbClr val="1A5676"/>
              </a:solidFill>
            </a:endParaRPr>
          </a:p>
          <a:p>
            <a:pPr algn="l">
              <a:spcBef>
                <a:spcPts val="500"/>
              </a:spcBef>
            </a:pPr>
            <a:r>
              <a:rPr lang="en-GB" sz="1700" b="1" dirty="0">
                <a:solidFill>
                  <a:srgbClr val="1E3A5F"/>
                </a:solidFill>
              </a:rPr>
              <a:t>Operating principle</a:t>
            </a:r>
          </a:p>
          <a:p>
            <a:pPr algn="l"/>
            <a:r>
              <a:rPr lang="en-GB" sz="1600" dirty="0">
                <a:solidFill>
                  <a:srgbClr val="1E1E1E"/>
                </a:solidFill>
              </a:rPr>
              <a:t>Each ion's trap zone is surrounded by a nanoscale coil fabricated in the same electron-beam lithography step as the electrode geometry. A current pulse through the coil generates a localised magnetic field. The field pulse drives a Rabi oscillation that rotates the spin state to any target angle with nanosecond precision.</a:t>
            </a:r>
          </a:p>
          <a:p>
            <a:pPr algn="l"/>
            <a:endParaRPr lang="en-GB" sz="1600" dirty="0">
              <a:solidFill>
                <a:srgbClr val="1E1E1E"/>
              </a:solidFill>
            </a:endParaRPr>
          </a:p>
          <a:p>
            <a:pPr algn="l">
              <a:spcBef>
                <a:spcPts val="500"/>
              </a:spcBef>
            </a:pPr>
            <a:r>
              <a:rPr lang="en-GB" sz="1700" b="1" dirty="0">
                <a:solidFill>
                  <a:srgbClr val="1E3A5F"/>
                </a:solidFill>
              </a:rPr>
              <a:t>Rotation mechanics</a:t>
            </a:r>
          </a:p>
          <a:p>
            <a:pPr algn="l"/>
            <a:r>
              <a:rPr lang="en-GB" sz="1600" dirty="0">
                <a:solidFill>
                  <a:srgbClr val="1E1E1E"/>
                </a:solidFill>
              </a:rPr>
              <a:t>Rotation angle: θ = Ω_R · τ, where Ω_R = μ_B B_coil / ħ is the Rabi frequency and τ is the pulse duration. Pulse phase sets the rotation axis on the Bloch sphere. Arbitrary angles achievable with &lt; 0.1° precision.</a:t>
            </a:r>
          </a:p>
          <a:p>
            <a:pPr algn="l"/>
            <a:endParaRPr lang="en-GB" sz="1600" dirty="0">
              <a:solidFill>
                <a:srgbClr val="1E1E1E"/>
              </a:solidFill>
            </a:endParaRPr>
          </a:p>
          <a:p>
            <a:pPr algn="l">
              <a:spcBef>
                <a:spcPts val="500"/>
              </a:spcBef>
            </a:pPr>
            <a:r>
              <a:rPr lang="en-GB" sz="1700" b="1" dirty="0">
                <a:solidFill>
                  <a:srgbClr val="1E3A5F"/>
                </a:solidFill>
              </a:rPr>
              <a:t>Coil specifications</a:t>
            </a:r>
          </a:p>
          <a:p>
            <a:pPr algn="l"/>
            <a:r>
              <a:rPr lang="en-GB" sz="1300" dirty="0">
                <a:solidFill>
                  <a:srgbClr val="1E1E1E"/>
                </a:solidFill>
                <a:latin typeface="Courier New"/>
              </a:rPr>
              <a:t>  Diameter:      50–200 nm (scales with ion spacing)</a:t>
            </a:r>
          </a:p>
          <a:p>
            <a:pPr algn="l"/>
            <a:r>
              <a:rPr lang="en-GB" sz="1300" dirty="0">
                <a:solidFill>
                  <a:srgbClr val="1E1E1E"/>
                </a:solidFill>
                <a:latin typeface="Courier New"/>
              </a:rPr>
              <a:t>  Wire material: NbTi superconducting or standard Cu</a:t>
            </a:r>
          </a:p>
          <a:p>
            <a:pPr algn="l"/>
            <a:r>
              <a:rPr lang="en-GB" sz="1300" dirty="0">
                <a:solidFill>
                  <a:srgbClr val="1E1E1E"/>
                </a:solidFill>
                <a:latin typeface="Courier New"/>
              </a:rPr>
              <a:t>  Field strength: 1–100 mT at ion position</a:t>
            </a:r>
          </a:p>
          <a:p>
            <a:pPr algn="l"/>
            <a:r>
              <a:rPr lang="en-GB" sz="1300" dirty="0">
                <a:solidFill>
                  <a:srgbClr val="1E1E1E"/>
                </a:solidFill>
                <a:latin typeface="Courier New"/>
              </a:rPr>
              <a:t>  Pulse duration: 1–100 ns (Rabi π-pulse for full flip)</a:t>
            </a:r>
          </a:p>
          <a:p>
            <a:pPr algn="l"/>
            <a:r>
              <a:rPr lang="en-GB" sz="1300" dirty="0">
                <a:solidFill>
                  <a:srgbClr val="1E1E1E"/>
                </a:solidFill>
                <a:latin typeface="Courier New"/>
              </a:rPr>
              <a:t>  Addressing:    individual ion via MCU GPIO</a:t>
            </a:r>
          </a:p>
          <a:p>
            <a:pPr algn="l"/>
            <a:r>
              <a:rPr lang="en-GB" sz="1300" dirty="0">
                <a:solidFill>
                  <a:srgbClr val="1E1E1E"/>
                </a:solidFill>
                <a:latin typeface="Courier New"/>
              </a:rPr>
              <a:t>  Fabrication:   e-beam litho, same mask as electrode geometry</a:t>
            </a:r>
          </a:p>
          <a:p>
            <a:pPr algn="l"/>
            <a:endParaRPr lang="en-GB" sz="1300" dirty="0">
              <a:solidFill>
                <a:srgbClr val="1E1E1E"/>
              </a:solidFill>
              <a:latin typeface="Courier New"/>
            </a:endParaRPr>
          </a:p>
          <a:p>
            <a:pPr algn="l"/>
            <a:r>
              <a:rPr lang="en-GB" sz="1600" dirty="0">
                <a:solidFill>
                  <a:srgbClr val="1E1E1E"/>
                </a:solidFill>
              </a:rPr>
              <a:t>No optical alignment required. Write operations are entirely electrical, controlled by MCU GPIO output. The flag ions (particles 11 and 12) are written using the same mechanism with 90°-spaced angles for the four protocol states.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3.2  Write Mechanism — Diagram</a:t>
            </a:r>
          </a:p>
        </p:txBody>
      </p:sp>
      <p:pic>
        <p:nvPicPr>
          <p:cNvPr id="3" name="Picture 2" descr="image3.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lang="en-GB" sz="1300" dirty="0">
                <a:solidFill>
                  <a:srgbClr val="788598"/>
                </a:solidFill>
              </a:rPr>
              <a:t>Miniature coil per ion — MCU-driven magnetic pulse sets orientation angle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3.3  Read Mechanism — Weak Measurement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a very faint laser beam is shone on the ion. The ion glows slightly in response. How brightly it glows depends on which direction it is pointing. By measuring the brightness with two different light polarisations, the MCU works out the angle. Because the light is faint, the ion's state is barely disturbed.</a:t>
            </a:r>
          </a:p>
          <a:p>
            <a:pPr algn="l"/>
            <a:endParaRPr lang="en-GB" sz="1500" b="1" dirty="0">
              <a:solidFill>
                <a:srgbClr val="1A5676"/>
              </a:solidFill>
            </a:endParaRPr>
          </a:p>
          <a:p>
            <a:pPr algn="l">
              <a:spcBef>
                <a:spcPts val="500"/>
              </a:spcBef>
            </a:pPr>
            <a:r>
              <a:rPr lang="en-GB" sz="1700" b="1" dirty="0">
                <a:solidFill>
                  <a:srgbClr val="1E3A5F"/>
                </a:solidFill>
              </a:rPr>
              <a:t>Mechanism</a:t>
            </a:r>
          </a:p>
          <a:p>
            <a:pPr algn="l"/>
            <a:r>
              <a:rPr lang="en-GB" sz="1600" dirty="0">
                <a:solidFill>
                  <a:srgbClr val="1E1E1E"/>
                </a:solidFill>
              </a:rPr>
              <a:t>Ion orientation is read by weak measurement using a low-power 397 nm probe. The probe drives the S₁/₂ → P₁/₂ transition in Ca⁺. Fluorescence intensity is proportional to the spin projection onto the probe polarisation axis.</a:t>
            </a:r>
          </a:p>
          <a:p>
            <a:pPr algn="l"/>
            <a:endParaRPr lang="en-GB" sz="1600" dirty="0">
              <a:solidFill>
                <a:srgbClr val="1E1E1E"/>
              </a:solidFill>
            </a:endParaRPr>
          </a:p>
          <a:p>
            <a:pPr algn="l">
              <a:spcBef>
                <a:spcPts val="500"/>
              </a:spcBef>
            </a:pPr>
            <a:r>
              <a:rPr lang="en-GB" sz="1700" b="1" dirty="0">
                <a:solidFill>
                  <a:srgbClr val="1E3A5F"/>
                </a:solidFill>
              </a:rPr>
              <a:t>Polarimetry protocol</a:t>
            </a:r>
          </a:p>
          <a:p>
            <a:pPr lvl="1" algn="l"/>
            <a:r>
              <a:rPr lang="en-GB" sz="1600" dirty="0">
                <a:solidFill>
                  <a:srgbClr val="1E1E1E"/>
                </a:solidFill>
              </a:rPr>
              <a:t>Probe with σ+ polarisation: I⁺ ∝ cos²(θ/2).</a:t>
            </a:r>
          </a:p>
          <a:p>
            <a:pPr lvl="1" algn="l"/>
            <a:r>
              <a:rPr lang="en-GB" sz="1600" dirty="0">
                <a:solidFill>
                  <a:srgbClr val="1E1E1E"/>
                </a:solidFill>
              </a:rPr>
              <a:t>Probe with σ− polarisation: I− ∝ sin²(θ/2).</a:t>
            </a:r>
          </a:p>
          <a:p>
            <a:pPr lvl="1" algn="l"/>
            <a:r>
              <a:rPr lang="en-GB" sz="1600" dirty="0">
                <a:solidFill>
                  <a:srgbClr val="1E1E1E"/>
                </a:solidFill>
              </a:rPr>
              <a:t>Angle recovery: θ = 2·arctan(√(I−/I⁺)).</a:t>
            </a:r>
          </a:p>
          <a:p>
            <a:pPr lvl="1" algn="l"/>
            <a:r>
              <a:rPr lang="en-GB" sz="1600" dirty="0">
                <a:solidFill>
                  <a:srgbClr val="1E1E1E"/>
                </a:solidFill>
              </a:rPr>
              <a:t>Readout fidelity: &gt; 99.9% per shot demonstrated for Ca⁺.</a:t>
            </a:r>
          </a:p>
          <a:p>
            <a:pPr algn="l"/>
            <a:endParaRPr lang="en-GB" sz="1600" dirty="0">
              <a:solidFill>
                <a:srgbClr val="1E1E1E"/>
              </a:solidFill>
            </a:endParaRPr>
          </a:p>
          <a:p>
            <a:pPr algn="l">
              <a:spcBef>
                <a:spcPts val="500"/>
              </a:spcBef>
            </a:pPr>
            <a:r>
              <a:rPr lang="en-GB" sz="1700" b="1" dirty="0">
                <a:solidFill>
                  <a:srgbClr val="1E3A5F"/>
                </a:solidFill>
              </a:rPr>
              <a:t>Photon emission direction</a:t>
            </a:r>
          </a:p>
          <a:p>
            <a:pPr algn="l"/>
            <a:r>
              <a:rPr lang="en-GB" sz="1600" dirty="0">
                <a:solidFill>
                  <a:srgbClr val="1E1E1E"/>
                </a:solidFill>
              </a:rPr>
              <a:t>The 397 nm transition is an electric dipole transition. The emission pattern is a torus — strongest perpendicular to the dipole axis, zero along it. Spin orientation controls fluorescence intensity and polarisation, not the direction of emitted photons. The angle is recovered from the intensity ratio, not from photon direction.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3.3  Read Mechanism — Diagram</a:t>
            </a:r>
          </a:p>
        </p:txBody>
      </p:sp>
      <p:pic>
        <p:nvPicPr>
          <p:cNvPr id="3" name="Picture 2" descr="read_gs.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lang="en-GB" sz="1300" dirty="0">
                <a:solidFill>
                  <a:srgbClr val="788598"/>
                </a:solidFill>
              </a:rPr>
              <a:t>Three read methods — Method 3 (ensemble averaging) is the primary EMT read mode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3.3b  Fluorescence Emission — The Dark Axis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 ion emits light in a doughnut shape — there is a dark cone along one axis where no light comes out. Could that dark direction be used as a pointer? Short answer: it points along the probe laser axis, not the ion's spin. But the idea has a real cousin in microscopy.</a:t>
            </a:r>
          </a:p>
          <a:p>
            <a:pPr algn="l"/>
            <a:endParaRPr lang="en-GB" sz="1500" b="1" dirty="0">
              <a:solidFill>
                <a:srgbClr val="1A5676"/>
              </a:solidFill>
            </a:endParaRPr>
          </a:p>
          <a:p>
            <a:pPr algn="l">
              <a:spcBef>
                <a:spcPts val="500"/>
              </a:spcBef>
            </a:pPr>
            <a:r>
              <a:rPr lang="en-GB" sz="1700" b="1" dirty="0">
                <a:solidFill>
                  <a:srgbClr val="1E3A5F"/>
                </a:solidFill>
              </a:rPr>
              <a:t>The emission torus</a:t>
            </a:r>
          </a:p>
          <a:p>
            <a:pPr algn="l"/>
            <a:r>
              <a:rPr lang="en-GB" sz="1600" dirty="0">
                <a:solidFill>
                  <a:srgbClr val="1E1E1E"/>
                </a:solidFill>
              </a:rPr>
              <a:t>Electric dipole radiation has zero emission along the dipole axis and maximum emission in the perpendicular plane. This creates a dark cone along the axis of the probe laser polarisation. Importantly, the dark axis is fixed by the probe geometry, not by the spin orientation angle θ. Rotating Alice's spin does not rotate the dark cone.</a:t>
            </a:r>
          </a:p>
          <a:p>
            <a:pPr algn="l"/>
            <a:endParaRPr lang="en-GB" sz="1600" dirty="0">
              <a:solidFill>
                <a:srgbClr val="1E1E1E"/>
              </a:solidFill>
            </a:endParaRPr>
          </a:p>
          <a:p>
            <a:pPr algn="l">
              <a:spcBef>
                <a:spcPts val="500"/>
              </a:spcBef>
            </a:pPr>
            <a:r>
              <a:rPr lang="en-GB" sz="1700" b="1" dirty="0">
                <a:solidFill>
                  <a:srgbClr val="1E3A5F"/>
                </a:solidFill>
              </a:rPr>
              <a:t>Why the dark axis cannot be used as a spin pointer</a:t>
            </a:r>
          </a:p>
          <a:p>
            <a:pPr algn="l"/>
            <a:r>
              <a:rPr lang="en-GB" sz="1600" dirty="0">
                <a:solidFill>
                  <a:srgbClr val="1E1E1E"/>
                </a:solidFill>
              </a:rPr>
              <a:t>The dark region aligns with the probe laser axis — a fixed direction in the lab frame determined by how the experiment is set up, not by the quantum state of the ion. The spin orientation θ modulates fluorescence intensity and polarisation, but does not change the spatial direction of the radiation pattern.</a:t>
            </a:r>
          </a:p>
          <a:p>
            <a:pPr algn="l"/>
            <a:endParaRPr lang="en-GB" sz="1600" dirty="0">
              <a:solidFill>
                <a:srgbClr val="1E1E1E"/>
              </a:solidFill>
            </a:endParaRPr>
          </a:p>
          <a:p>
            <a:pPr algn="l">
              <a:spcBef>
                <a:spcPts val="500"/>
              </a:spcBef>
            </a:pPr>
            <a:r>
              <a:rPr lang="en-GB" sz="1700" b="1" dirty="0">
                <a:solidFill>
                  <a:srgbClr val="1E3A5F"/>
                </a:solidFill>
              </a:rPr>
              <a:t>The real analogue — STED microscopy</a:t>
            </a:r>
          </a:p>
          <a:p>
            <a:pPr lvl="1" algn="l"/>
            <a:r>
              <a:rPr lang="en-GB" sz="1600" dirty="0">
                <a:solidFill>
                  <a:srgbClr val="1E1E1E"/>
                </a:solidFill>
              </a:rPr>
              <a:t>This is not a dead end as a concept. Stimulated Emission Depletion (STED) microscopy uses exactly a doughnut-shaped dark region to achieve sub-diffraction resolution. A doughnut beam depletes fluorescence everywhere except at the dark centre, allowing localisation below the diffraction limit. The principle of using the dark region as a pointer is real — but it points to position, not spin orientation.</a:t>
            </a:r>
          </a:p>
          <a:p>
            <a:pPr algn="l"/>
            <a:endParaRPr lang="en-GB" sz="1600" dirty="0">
              <a:solidFill>
                <a:srgbClr val="1E1E1E"/>
              </a:solidFill>
            </a:endParaRPr>
          </a:p>
          <a:p>
            <a:pPr algn="l">
              <a:spcBef>
                <a:spcPts val="500"/>
              </a:spcBef>
            </a:pPr>
            <a:r>
              <a:rPr lang="en-GB" sz="1700" b="1" dirty="0">
                <a:solidFill>
                  <a:srgbClr val="1E3A5F"/>
                </a:solidFill>
              </a:rPr>
              <a:t>The chiral waveguide exception</a:t>
            </a:r>
          </a:p>
          <a:p>
            <a:pPr lvl="1" algn="l"/>
            <a:r>
              <a:rPr lang="en-GB" sz="1600" dirty="0">
                <a:solidFill>
                  <a:srgbClr val="1E1E1E"/>
                </a:solidFill>
              </a:rPr>
              <a:t>In a chiral nanophotonic waveguide, spin-momentum locking causes emission preferentially left or right depending on spin state. Here photon direction IS a pointer to the spin projection. This is experimentally demonstrated and would make the EMT read mechanism directional rather than intensity-based. It requires coupling the ions to a nanophotonic structure — an active research direction and a potential future upgrade.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3.4  The 12-Ion Line — Device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the 12-ion device is the application layer built on top of the confirmed physical effect. Each device reads only its own ions. The flag ions give the device a clean before/after measurement window, and protect the data ions from being changed while the other device is mid-read.</a:t>
            </a:r>
          </a:p>
          <a:p>
            <a:pPr algn="l"/>
            <a:endParaRPr lang="en-GB" sz="1500" b="1">
              <a:solidFill>
                <a:srgbClr val="1A5676"/>
              </a:solidFill>
            </a:endParaRPr>
          </a:p>
          <a:p>
            <a:pPr algn="l">
              <a:spcBef>
                <a:spcPts val="500"/>
              </a:spcBef>
            </a:pPr>
            <a:r>
              <a:rPr lang="en-GB" sz="1700" b="1">
                <a:solidFill>
                  <a:srgbClr val="1E3A5F"/>
                </a:solidFill>
              </a:rPr>
              <a:t>Why 12 ions</a:t>
            </a:r>
          </a:p>
          <a:p>
            <a:pPr algn="l"/>
            <a:r>
              <a:rPr lang="en-GB" sz="1600">
                <a:solidFill>
                  <a:srgbClr val="1E1E1E"/>
                </a:solidFill>
              </a:rPr>
              <a:t>The experiment only needs 1–5 pairs to test the effect. The device uses 12 to improve reliability: 10 data ions for SNR improvement via √N averaging, plus 2 flag ions for half-duplex protocol coordination.</a:t>
            </a:r>
          </a:p>
          <a:p>
            <a:pPr algn="l"/>
            <a:endParaRPr lang="en-GB" sz="1600">
              <a:solidFill>
                <a:srgbClr val="1E1E1E"/>
              </a:solidFill>
            </a:endParaRPr>
          </a:p>
          <a:p>
            <a:pPr algn="l">
              <a:spcBef>
                <a:spcPts val="500"/>
              </a:spcBef>
            </a:pPr>
            <a:r>
              <a:rPr lang="en-GB" sz="1700" b="1">
                <a:solidFill>
                  <a:srgbClr val="1E3A5F"/>
                </a:solidFill>
              </a:rPr>
              <a:t>Particle assignments</a:t>
            </a:r>
          </a:p>
          <a:p>
            <a:pPr algn="l"/>
            <a:r>
              <a:rPr lang="en-GB" sz="1300">
                <a:solidFill>
                  <a:srgbClr val="1E1E1E"/>
                </a:solidFill>
                <a:latin typeface="Courier New"/>
              </a:rPr>
              <a:t>  Ions 1–10:   Data ensemble (orientation angle θ)</a:t>
            </a:r>
          </a:p>
          <a:p>
            <a:pPr algn="l"/>
            <a:r>
              <a:rPr lang="en-GB" sz="1300">
                <a:solidFill>
                  <a:srgbClr val="1E1E1E"/>
                </a:solidFill>
                <a:latin typeface="Courier New"/>
              </a:rPr>
              <a:t>              All 10 set to the same angle by this device</a:t>
            </a:r>
          </a:p>
          <a:p>
            <a:pPr algn="l"/>
            <a:r>
              <a:rPr lang="en-GB" sz="1300">
                <a:solidFill>
                  <a:srgbClr val="1E1E1E"/>
                </a:solidFill>
                <a:latin typeface="Courier New"/>
              </a:rPr>
              <a:t>              This device reads its own 10 ions, averages them</a:t>
            </a:r>
          </a:p>
          <a:p>
            <a:pPr algn="l"/>
            <a:r>
              <a:rPr lang="en-GB" sz="1300">
                <a:solidFill>
                  <a:srgbClr val="1E1E1E"/>
                </a:solidFill>
                <a:latin typeface="Courier New"/>
              </a:rPr>
              <a:t>              Noise reduced by √10 ≈ 3.16× vs single ion</a:t>
            </a:r>
          </a:p>
          <a:p>
            <a:pPr algn="l"/>
            <a:r>
              <a:rPr lang="en-GB" sz="1300">
                <a:solidFill>
                  <a:srgbClr val="1E1E1E"/>
                </a:solidFill>
                <a:latin typeface="Courier New"/>
              </a:rPr>
              <a:t>  Ion 11:     Device A state flag (written only by Device A)</a:t>
            </a:r>
          </a:p>
          <a:p>
            <a:pPr algn="l"/>
            <a:r>
              <a:rPr lang="en-GB" sz="1300">
                <a:solidFill>
                  <a:srgbClr val="1E1E1E"/>
                </a:solidFill>
                <a:latin typeface="Courier New"/>
              </a:rPr>
              <a:t>  Ion 12:     Device B state flag (written only by Device B)</a:t>
            </a:r>
          </a:p>
          <a:p>
            <a:pPr algn="l"/>
            <a:endParaRPr lang="en-GB" sz="1300">
              <a:solidFill>
                <a:srgbClr val="1E1E1E"/>
              </a:solidFill>
              <a:latin typeface="Courier New"/>
            </a:endParaRPr>
          </a:p>
          <a:p>
            <a:pPr algn="l">
              <a:spcBef>
                <a:spcPts val="500"/>
              </a:spcBef>
            </a:pPr>
            <a:r>
              <a:rPr lang="en-GB" sz="1700" b="1">
                <a:solidFill>
                  <a:srgbClr val="1E3A5F"/>
                </a:solidFill>
              </a:rPr>
              <a:t>What the flags do</a:t>
            </a:r>
          </a:p>
          <a:p>
            <a:pPr lvl="1" algn="l"/>
            <a:r>
              <a:rPr lang="en-GB" sz="1600">
                <a:solidFill>
                  <a:srgbClr val="1E1E1E"/>
                </a:solidFill>
              </a:rPr>
              <a:t>Each device reads its own data ions continuously. The flag ions define the measurement window — they tell each device when the partner is writing (so it should be reading and comparing) versus when to take a new baseline. They also prevent one device from changing its data ions while the other is mid-read, which would corrupt the before/after comparison.</a:t>
            </a:r>
          </a:p>
          <a:p>
            <a:pPr algn="l"/>
            <a:endParaRPr lang="en-GB" sz="1600">
              <a:solidFill>
                <a:srgbClr val="1E1E1E"/>
              </a:solidFill>
            </a:endParaRPr>
          </a:p>
          <a:p>
            <a:pPr algn="l">
              <a:spcBef>
                <a:spcPts val="500"/>
              </a:spcBef>
            </a:pPr>
            <a:r>
              <a:rPr lang="en-GB" sz="1700" b="1">
                <a:solidFill>
                  <a:srgbClr val="1E3A5F"/>
                </a:solidFill>
              </a:rPr>
              <a:t>Flag states — four angles at 90° spacing</a:t>
            </a:r>
          </a:p>
          <a:p>
            <a:pPr algn="l"/>
            <a:r>
              <a:rPr lang="en-GB" sz="1300">
                <a:solidFill>
                  <a:srgbClr val="1E1E1E"/>
                </a:solidFill>
                <a:latin typeface="Courier New"/>
              </a:rPr>
              <a:t>  0°  READY    — idle</a:t>
            </a:r>
          </a:p>
          <a:p>
            <a:pPr algn="l"/>
            <a:r>
              <a:rPr lang="en-GB" sz="1300">
                <a:solidFill>
                  <a:srgbClr val="1E1E1E"/>
                </a:solidFill>
                <a:latin typeface="Courier New"/>
              </a:rPr>
              <a:t>  90°  WRITING  — this device has set its data ions to angle θ</a:t>
            </a:r>
          </a:p>
          <a:p>
            <a:pPr algn="l"/>
            <a:r>
              <a:rPr lang="en-GB" sz="1300">
                <a:solidFill>
                  <a:srgbClr val="1E1E1E"/>
                </a:solidFill>
                <a:latin typeface="Courier New"/>
              </a:rPr>
              <a:t>  180° READING  — this device is reading and comparing</a:t>
            </a:r>
          </a:p>
          <a:p>
            <a:pPr algn="l"/>
            <a:r>
              <a:rPr lang="en-GB" sz="1300">
                <a:solidFill>
                  <a:srgbClr val="1E1E1E"/>
                </a:solidFill>
                <a:latin typeface="Courier New"/>
              </a:rPr>
              <a:t>  270° DONE     — comparison complete, partner may advance</a:t>
            </a:r>
          </a:p>
          <a:p>
            <a:pPr algn="l"/>
            <a:endParaRPr lang="en-GB" sz="1300">
              <a:solidFill>
                <a:srgbClr val="1E1E1E"/>
              </a:solidFill>
              <a:latin typeface="Courier New"/>
            </a:endParaRPr>
          </a:p>
          <a:p>
            <a:pPr algn="l"/>
            <a:r>
              <a:rPr lang="en-GB" sz="1300">
                <a:solidFill>
                  <a:srgbClr val="788598"/>
                </a:solidFill>
              </a:rPr>
              <a:t>The flags do not transmit information. They are a coordination mechanism layered on top of the same physical effect being tested in the experiment.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3.4b  Flag Protocol Sequence Diagram</a:t>
            </a:r>
          </a:p>
        </p:txBody>
      </p:sp>
      <p:sp>
        <p:nvSpPr>
          <p:cNvPr id="3" name="TextBox 2"/>
          <p:cNvSpPr txBox="1"/>
          <p:nvPr/>
        </p:nvSpPr>
        <p:spPr>
          <a:xfrm>
            <a:off x="150187" y="671901"/>
            <a:ext cx="6563531" cy="699698"/>
          </a:xfrm>
          <a:prstGeom prst="rect">
            <a:avLst/>
          </a:prstGeom>
          <a:noFill/>
        </p:spPr>
        <p:txBody>
          <a:bodyPr wrap="square">
            <a:spAutoFit/>
          </a:bodyPr>
          <a:lstStyle/>
          <a:p>
            <a:pPr algn="l">
              <a:spcBef>
                <a:spcPts val="300"/>
              </a:spcBef>
            </a:pPr>
            <a:r>
              <a:rPr lang="en-GB" sz="1500" b="1" dirty="0">
                <a:solidFill>
                  <a:srgbClr val="1A5676"/>
                </a:solidFill>
              </a:rPr>
              <a:t>In plain terms: this diagram shows the step-by-step sequence of one complete message exchange — Device A sends a character, Device B reads and confirms it, then Device B sends its reply.</a:t>
            </a:r>
          </a:p>
        </p:txBody>
      </p:sp>
      <p:pic>
        <p:nvPicPr>
          <p:cNvPr id="4" name="Picture 3" descr="image.png"/>
          <p:cNvPicPr>
            <a:picLocks noChangeAspect="1"/>
          </p:cNvPicPr>
          <p:nvPr/>
        </p:nvPicPr>
        <p:blipFill>
          <a:blip r:embed="rId2"/>
          <a:stretch>
            <a:fillRect/>
          </a:stretch>
        </p:blipFill>
        <p:spPr>
          <a:xfrm>
            <a:off x="36576" y="566928"/>
            <a:ext cx="6784848" cy="3246120"/>
          </a:xfrm>
          <a:prstGeom prst="rect">
            <a:avLst/>
          </a:prstGeom>
        </p:spPr>
      </p:pic>
      <p:pic>
        <p:nvPicPr>
          <p:cNvPr id="5" name="Picture 4" descr="image.png"/>
          <p:cNvPicPr>
            <a:picLocks noChangeAspect="1"/>
          </p:cNvPicPr>
          <p:nvPr/>
        </p:nvPicPr>
        <p:blipFill>
          <a:blip r:embed="rId3"/>
          <a:stretch>
            <a:fillRect/>
          </a:stretch>
        </p:blipFill>
        <p:spPr>
          <a:xfrm>
            <a:off x="36576" y="3950208"/>
            <a:ext cx="6784848" cy="57607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3.5  Chip-Scale Integration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the ion trap sits inside a small sealed glass bulb — like a miniature vacuum tube — with electronics outside. Proven technology. The hard part is miniaturisation.</a:t>
            </a:r>
          </a:p>
          <a:p>
            <a:pPr algn="l"/>
            <a:endParaRPr lang="en-GB" sz="1500" b="1">
              <a:solidFill>
                <a:srgbClr val="1A5676"/>
              </a:solidFill>
            </a:endParaRPr>
          </a:p>
          <a:p>
            <a:pPr algn="l">
              <a:spcBef>
                <a:spcPts val="500"/>
              </a:spcBef>
            </a:pPr>
            <a:r>
              <a:rPr lang="en-GB" sz="1700" b="1">
                <a:solidFill>
                  <a:srgbClr val="1E3A5F"/>
                </a:solidFill>
              </a:rPr>
              <a:t>The vacuum vessel</a:t>
            </a:r>
          </a:p>
          <a:p>
            <a:pPr lvl="1" algn="l"/>
            <a:r>
              <a:rPr lang="en-GB" sz="1600">
                <a:solidFill>
                  <a:srgbClr val="1E1E1E"/>
                </a:solidFill>
              </a:rPr>
              <a:t>Ion traps require ultra-high vacuum (&lt; 10⁻¹⁰ mbar). The EMT uses a sealed glass or fused silica envelope — identical in principle to a cathode ray tube or thermionic valve. Evacuated before sealing. A chemical getter pump sealed inside absorbs residual gas over the device lifetime.</a:t>
            </a:r>
          </a:p>
          <a:p>
            <a:pPr lvl="1" algn="l"/>
            <a:r>
              <a:rPr lang="en-GB" sz="1600">
                <a:solidFill>
                  <a:srgbClr val="1E1E1E"/>
                </a:solidFill>
              </a:rPr>
              <a:t>Optical access: fused silica windows bonded into the envelope, or optical fibres through glass-metal feedthroughs. Standard in precision spectroscopy.</a:t>
            </a:r>
          </a:p>
          <a:p>
            <a:pPr algn="l"/>
            <a:endParaRPr lang="en-GB" sz="1600">
              <a:solidFill>
                <a:srgbClr val="1E1E1E"/>
              </a:solidFill>
            </a:endParaRPr>
          </a:p>
          <a:p>
            <a:pPr algn="l">
              <a:spcBef>
                <a:spcPts val="500"/>
              </a:spcBef>
            </a:pPr>
            <a:r>
              <a:rPr lang="en-GB" sz="1700" b="1">
                <a:solidFill>
                  <a:srgbClr val="1E3A5F"/>
                </a:solidFill>
              </a:rPr>
              <a:t>Target form factor</a:t>
            </a:r>
          </a:p>
          <a:p>
            <a:pPr algn="l"/>
            <a:r>
              <a:rPr lang="en-GB" sz="1300">
                <a:solidFill>
                  <a:srgbClr val="1E1E1E"/>
                </a:solidFill>
                <a:latin typeface="Courier New"/>
              </a:rPr>
              <a:t>  Ion trap chip:           10 mm × 6 mm</a:t>
            </a:r>
          </a:p>
          <a:p>
            <a:pPr algn="l"/>
            <a:r>
              <a:rPr lang="en-GB" sz="1300">
                <a:solidFill>
                  <a:srgbClr val="1E1E1E"/>
                </a:solidFill>
                <a:latin typeface="Courier New"/>
              </a:rPr>
              <a:t>  Sealed vacuum envelope:  30 mm × 15 mm</a:t>
            </a:r>
          </a:p>
          <a:p>
            <a:pPr algn="l"/>
            <a:r>
              <a:rPr lang="en-GB" sz="1300">
                <a:solidFill>
                  <a:srgbClr val="1E1E1E"/>
                </a:solidFill>
                <a:latin typeface="Courier New"/>
              </a:rPr>
              <a:t>  Full unit with MCU:      ~60 mm × 40 mm</a:t>
            </a:r>
          </a:p>
          <a:p>
            <a:pPr algn="l"/>
            <a:endParaRPr lang="en-GB" sz="1300">
              <a:solidFill>
                <a:srgbClr val="1E1E1E"/>
              </a:solidFill>
              <a:latin typeface="Courier New"/>
            </a:endParaRPr>
          </a:p>
          <a:p>
            <a:pPr algn="l">
              <a:spcBef>
                <a:spcPts val="500"/>
              </a:spcBef>
            </a:pPr>
            <a:r>
              <a:rPr lang="en-GB" sz="1700" b="1">
                <a:solidFill>
                  <a:srgbClr val="1E3A5F"/>
                </a:solidFill>
              </a:rPr>
              <a:t>Internal components</a:t>
            </a:r>
          </a:p>
          <a:p>
            <a:pPr lvl="1" algn="l"/>
            <a:r>
              <a:rPr lang="en-GB" sz="1600">
                <a:solidFill>
                  <a:srgbClr val="1E1E1E"/>
                </a:solidFill>
              </a:rPr>
              <a:t>Ion trap with 12-ion linear chain and per-ion coil array.</a:t>
            </a:r>
          </a:p>
          <a:p>
            <a:pPr lvl="1" algn="l"/>
            <a:r>
              <a:rPr lang="en-GB" sz="1600">
                <a:solidFill>
                  <a:srgbClr val="1E1E1E"/>
                </a:solidFill>
              </a:rPr>
              <a:t>397 nm photodetector for fluorescence readout.</a:t>
            </a:r>
          </a:p>
          <a:p>
            <a:pPr lvl="1" algn="l"/>
            <a:r>
              <a:rPr lang="en-GB" sz="1600">
                <a:solidFill>
                  <a:srgbClr val="1E1E1E"/>
                </a:solidFill>
              </a:rPr>
              <a:t>Chemical getter pump.</a:t>
            </a:r>
          </a:p>
          <a:p>
            <a:pPr lvl="1" algn="l"/>
            <a:r>
              <a:rPr lang="en-GB" sz="1600">
                <a:solidFill>
                  <a:srgbClr val="1E1E1E"/>
                </a:solidFill>
              </a:rPr>
              <a:t>Microcontroller: ROR lookup, framing, averaging, DD pulses, coil GPIO, flag monitoring.</a:t>
            </a:r>
          </a:p>
          <a:p>
            <a:pPr lvl="1" algn="l"/>
            <a:r>
              <a:rPr lang="en-GB" sz="1600">
                <a:solidFill>
                  <a:srgbClr val="1E1E1E"/>
                </a:solidFill>
              </a:rPr>
              <a:t>Calcium reservoir with photoionisation laser.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Part 4 — Network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What this section covers: once you have a working EMT device, how do you connect more than two people? And what if all entanglement is lost — can it be recovered?</a:t>
            </a:r>
          </a:p>
          <a:p>
            <a:pPr algn="l"/>
            <a:endParaRPr lang="en-GB" sz="1500" b="1" dirty="0">
              <a:solidFill>
                <a:srgbClr val="1A5676"/>
              </a:solidFill>
            </a:endParaRPr>
          </a:p>
          <a:p>
            <a:pPr lvl="1" algn="l"/>
            <a:r>
              <a:rPr lang="en-GB" sz="1600" dirty="0">
                <a:solidFill>
                  <a:srgbClr val="1E1E1E"/>
                </a:solidFill>
              </a:rPr>
              <a:t>4.1  Fixed-pair link and the call-centre topology.</a:t>
            </a:r>
          </a:p>
          <a:p>
            <a:pPr lvl="1" algn="l"/>
            <a:r>
              <a:rPr lang="en-GB" sz="1600" dirty="0">
                <a:solidFill>
                  <a:srgbClr val="1E1E1E"/>
                </a:solidFill>
              </a:rPr>
              <a:t>4.2  Re-entanglement range and the speed-of-light limit.</a:t>
            </a:r>
          </a:p>
          <a:p>
            <a:pPr lvl="1" algn="l"/>
            <a:r>
              <a:rPr lang="en-GB" sz="1600" dirty="0">
                <a:solidFill>
                  <a:srgbClr val="1E1E1E"/>
                </a:solidFill>
              </a:rPr>
              <a:t>4.3  Total decoherence — the physics boundary.</a:t>
            </a:r>
          </a:p>
          <a:p>
            <a:pPr lvl="1" algn="l"/>
            <a:r>
              <a:rPr lang="en-GB" sz="1600" dirty="0">
                <a:solidFill>
                  <a:srgbClr val="1E1E1E"/>
                </a:solidFill>
              </a:rPr>
              <a:t>4.4  Retroactive causality — what quantum experiments show.</a:t>
            </a:r>
          </a:p>
          <a:p>
            <a:pPr lvl="1" algn="l"/>
            <a:r>
              <a:rPr lang="en-GB" sz="1600" dirty="0">
                <a:solidFill>
                  <a:srgbClr val="1E1E1E"/>
                </a:solidFill>
              </a:rPr>
              <a:t>4.5  The virtual Bell measurement and pairing code.</a:t>
            </a:r>
          </a:p>
          <a:p>
            <a:pPr lvl="1" algn="l"/>
            <a:r>
              <a:rPr lang="en-GB" sz="1600" dirty="0">
                <a:solidFill>
                  <a:srgbClr val="1E1E1E"/>
                </a:solidFill>
              </a:rPr>
              <a:t>4.6  Phone-like operation and the ring protocol.</a:t>
            </a:r>
          </a:p>
          <a:p>
            <a:pPr lvl="1" algn="l"/>
            <a:r>
              <a:rPr lang="en-GB" sz="1600" dirty="0">
                <a:solidFill>
                  <a:srgbClr val="1E1E1E"/>
                </a:solidFill>
              </a:rPr>
              <a:t>4.7  Eliminating the call centre.</a:t>
            </a:r>
          </a:p>
          <a:p>
            <a:pPr algn="l"/>
            <a:endParaRPr lang="en-GB" sz="1600" dirty="0">
              <a:solidFill>
                <a:srgbClr val="1E1E1E"/>
              </a:solidFill>
            </a:endParaRPr>
          </a:p>
          <a:p>
            <a:pPr algn="l"/>
            <a:r>
              <a:rPr lang="en-GB" sz="1300" dirty="0">
                <a:solidFill>
                  <a:srgbClr val="788598"/>
                </a:solidFill>
              </a:rPr>
              <a:t>Sections 4.1–4.2 are fully consistent with known physics. Sections 4.3–4.7 are speculative extensions that rest on the same open question as the EMT channel itself.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4.1  Fixed-Pair Link and the Call-Centre Topology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each EMT device is permanently linked to exactly one other device. To talk to a third person, you need a relay station in the middle that re-routes the message.</a:t>
            </a:r>
          </a:p>
          <a:p>
            <a:pPr algn="l"/>
            <a:endParaRPr lang="en-GB" sz="1500" b="1" dirty="0">
              <a:solidFill>
                <a:srgbClr val="1A5676"/>
              </a:solidFill>
            </a:endParaRPr>
          </a:p>
          <a:p>
            <a:pPr algn="l">
              <a:spcBef>
                <a:spcPts val="500"/>
              </a:spcBef>
            </a:pPr>
            <a:r>
              <a:rPr lang="en-GB" sz="1700" b="1" dirty="0">
                <a:solidFill>
                  <a:srgbClr val="1E3A5F"/>
                </a:solidFill>
              </a:rPr>
              <a:t>The fixed-pair model</a:t>
            </a:r>
          </a:p>
          <a:p>
            <a:pPr algn="l"/>
            <a:r>
              <a:rPr lang="en-GB" sz="1600" dirty="0">
                <a:solidFill>
                  <a:srgbClr val="1E1E1E"/>
                </a:solidFill>
              </a:rPr>
              <a:t>Each EMT unit is permanently entangled with exactly one partner at manufacture. Direct communication is only possible between that pair.</a:t>
            </a:r>
          </a:p>
          <a:p>
            <a:pPr algn="l"/>
            <a:endParaRPr lang="en-GB" sz="1600" dirty="0">
              <a:solidFill>
                <a:srgbClr val="1E1E1E"/>
              </a:solidFill>
            </a:endParaRPr>
          </a:p>
          <a:p>
            <a:pPr algn="l">
              <a:spcBef>
                <a:spcPts val="500"/>
              </a:spcBef>
            </a:pPr>
            <a:r>
              <a:rPr lang="en-GB" sz="1700" b="1" dirty="0">
                <a:solidFill>
                  <a:srgbClr val="1E3A5F"/>
                </a:solidFill>
              </a:rPr>
              <a:t>The call-centre model</a:t>
            </a:r>
          </a:p>
          <a:p>
            <a:pPr lvl="1" algn="l"/>
            <a:r>
              <a:rPr lang="en-GB" sz="1600" dirty="0">
                <a:solidFill>
                  <a:srgbClr val="1E1E1E"/>
                </a:solidFill>
              </a:rPr>
              <a:t>A relay station holds multiple EMT units, one entangled with each remote site. Mars calls Earth station over the Mars–Earth link. Earth station re-routes classically to the Jupiter ship link. The classical re-routing inside the station is instantaneous.</a:t>
            </a:r>
          </a:p>
          <a:p>
            <a:pPr algn="l"/>
            <a:endParaRPr lang="en-GB" sz="1600" dirty="0">
              <a:solidFill>
                <a:srgbClr val="1E1E1E"/>
              </a:solidFill>
            </a:endParaRPr>
          </a:p>
          <a:p>
            <a:pPr algn="l">
              <a:spcBef>
                <a:spcPts val="500"/>
              </a:spcBef>
            </a:pPr>
            <a:r>
              <a:rPr lang="en-GB" sz="1700" b="1" dirty="0">
                <a:solidFill>
                  <a:srgbClr val="1E3A5F"/>
                </a:solidFill>
              </a:rPr>
              <a:t>Limitations</a:t>
            </a:r>
          </a:p>
          <a:p>
            <a:pPr lvl="1" algn="l"/>
            <a:r>
              <a:rPr lang="en-GB" sz="1600" dirty="0">
                <a:solidFill>
                  <a:srgbClr val="1E1E1E"/>
                </a:solidFill>
              </a:rPr>
              <a:t>Hub and spoke: the station is a single point of failure.</a:t>
            </a:r>
          </a:p>
          <a:p>
            <a:pPr lvl="1" algn="l"/>
            <a:r>
              <a:rPr lang="en-GB" sz="1600" dirty="0">
                <a:solidFill>
                  <a:srgbClr val="1E1E1E"/>
                </a:solidFill>
              </a:rPr>
              <a:t>Scalability: each new destination needs a new device at the station.</a:t>
            </a:r>
          </a:p>
          <a:p>
            <a:pPr lvl="1" algn="l"/>
            <a:r>
              <a:rPr lang="en-GB" sz="1600" dirty="0">
                <a:solidFill>
                  <a:srgbClr val="1E1E1E"/>
                </a:solidFill>
              </a:rPr>
              <a:t>Range: the station must be reachable by all parties.</a:t>
            </a:r>
          </a:p>
          <a:p>
            <a:pPr algn="l"/>
            <a:endParaRPr lang="en-GB" sz="1600" dirty="0">
              <a:solidFill>
                <a:srgbClr val="1E1E1E"/>
              </a:solidFill>
            </a:endParaRPr>
          </a:p>
          <a:p>
            <a:pPr algn="l">
              <a:spcBef>
                <a:spcPts val="500"/>
              </a:spcBef>
            </a:pPr>
            <a:r>
              <a:rPr lang="en-GB" sz="1700" b="1" dirty="0">
                <a:solidFill>
                  <a:srgbClr val="1E3A5F"/>
                </a:solidFill>
              </a:rPr>
              <a:t>Maximum range without FTL — Ca⁺ nuclear spin</a:t>
            </a:r>
          </a:p>
          <a:p>
            <a:pPr algn="l"/>
            <a:r>
              <a:rPr lang="en-GB" sz="1300" dirty="0">
                <a:solidFill>
                  <a:srgbClr val="1E1E1E"/>
                </a:solidFill>
                <a:latin typeface="Courier New"/>
              </a:rPr>
              <a:t>  τ_c = 36,000 s  (10 hours, XY-64 DD)</a:t>
            </a:r>
          </a:p>
          <a:p>
            <a:pPr algn="l"/>
            <a:r>
              <a:rPr lang="en-GB" sz="1300" dirty="0">
                <a:solidFill>
                  <a:srgbClr val="1E1E1E"/>
                </a:solidFill>
                <a:latin typeface="Courier New"/>
              </a:rPr>
              <a:t>  Max range = c × τ_c / 2 = 36 AU  (Saturn orbit)</a:t>
            </a:r>
          </a:p>
          <a:p>
            <a:pPr algn="l"/>
            <a:r>
              <a:rPr lang="en-GB" sz="1300" dirty="0">
                <a:solidFill>
                  <a:srgbClr val="1E1E1E"/>
                </a:solidFill>
                <a:latin typeface="Courier New"/>
              </a:rPr>
              <a:t>  Covers entire inner solar system with seamless re-entanglement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4.2  Re-entanglement Range and the Speed-of-Light Limit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when an entangled pair loses coherence, a coordination signal must travel between the two devices to re-establish it. That signal is limited by the speed of light. How far apart the devices can be depends on how long the entanglement lasts.</a:t>
            </a:r>
          </a:p>
          <a:p>
            <a:pPr algn="l"/>
            <a:endParaRPr lang="en-GB" sz="1500" b="1" dirty="0">
              <a:solidFill>
                <a:srgbClr val="1A5676"/>
              </a:solidFill>
            </a:endParaRPr>
          </a:p>
          <a:p>
            <a:pPr algn="l">
              <a:spcBef>
                <a:spcPts val="500"/>
              </a:spcBef>
            </a:pPr>
            <a:r>
              <a:rPr lang="en-GB" sz="1700" b="1" dirty="0">
                <a:solidFill>
                  <a:srgbClr val="1E3A5F"/>
                </a:solidFill>
              </a:rPr>
              <a:t>The constraint</a:t>
            </a:r>
          </a:p>
          <a:p>
            <a:pPr algn="l"/>
            <a:r>
              <a:rPr lang="en-GB" sz="1300" dirty="0">
                <a:solidFill>
                  <a:srgbClr val="1E1E1E"/>
                </a:solidFill>
                <a:latin typeface="Courier New"/>
              </a:rPr>
              <a:t>  Re-entanglement round-trip time ≥ 2D/c</a:t>
            </a:r>
          </a:p>
          <a:p>
            <a:pPr algn="l"/>
            <a:r>
              <a:rPr lang="en-GB" sz="1300" dirty="0">
                <a:solidFill>
                  <a:srgbClr val="1E1E1E"/>
                </a:solidFill>
                <a:latin typeface="Courier New"/>
              </a:rPr>
              <a:t>  For re-entanglement before coherence decays:</a:t>
            </a:r>
          </a:p>
          <a:p>
            <a:pPr algn="l"/>
            <a:r>
              <a:rPr lang="en-GB" sz="1300" dirty="0">
                <a:solidFill>
                  <a:srgbClr val="1E1E1E"/>
                </a:solidFill>
                <a:latin typeface="Courier New"/>
              </a:rPr>
              <a:t>  2D/c  &lt;  τ_c</a:t>
            </a:r>
          </a:p>
          <a:p>
            <a:pPr algn="l"/>
            <a:r>
              <a:rPr lang="en-GB" sz="1300" dirty="0">
                <a:solidFill>
                  <a:srgbClr val="1E1E1E"/>
                </a:solidFill>
                <a:latin typeface="Courier New"/>
              </a:rPr>
              <a:t>  D  &lt;  c × τ_c / 2</a:t>
            </a:r>
          </a:p>
          <a:p>
            <a:pPr algn="l"/>
            <a:endParaRPr lang="en-GB" sz="1300" dirty="0">
              <a:solidFill>
                <a:srgbClr val="1E1E1E"/>
              </a:solidFill>
              <a:latin typeface="Courier New"/>
            </a:endParaRPr>
          </a:p>
          <a:p>
            <a:pPr algn="l">
              <a:spcBef>
                <a:spcPts val="500"/>
              </a:spcBef>
            </a:pPr>
            <a:r>
              <a:rPr lang="en-GB" sz="1700" b="1" dirty="0">
                <a:solidFill>
                  <a:srgbClr val="1E3A5F"/>
                </a:solidFill>
              </a:rPr>
              <a:t>Range by substrate</a:t>
            </a:r>
          </a:p>
          <a:p>
            <a:pPr algn="l"/>
            <a:r>
              <a:rPr lang="en-GB" sz="1300" dirty="0">
                <a:solidFill>
                  <a:srgbClr val="1E1E1E"/>
                </a:solidFill>
                <a:latin typeface="Courier New"/>
              </a:rPr>
              <a:t>  Ca⁺ electron spin + CPMG  (τ_c = 1 s):     D &lt; 150,000 km</a:t>
            </a:r>
          </a:p>
          <a:p>
            <a:pPr algn="l"/>
            <a:r>
              <a:rPr lang="en-GB" sz="1300" dirty="0">
                <a:solidFill>
                  <a:srgbClr val="1E1E1E"/>
                </a:solidFill>
                <a:latin typeface="Courier New"/>
              </a:rPr>
              <a:t>  Ca⁺ nuclear spin + XY-64  (τ_c = 10 hr):   D &lt; 36 AU</a:t>
            </a:r>
          </a:p>
          <a:p>
            <a:pPr algn="l"/>
            <a:r>
              <a:rPr lang="en-GB" sz="1300" dirty="0">
                <a:solidFill>
                  <a:srgbClr val="1E1E1E"/>
                </a:solidFill>
                <a:latin typeface="Courier New"/>
              </a:rPr>
              <a:t>  YSO rare earth             (τ_c = hours):  D &lt; 36 AU</a:t>
            </a:r>
          </a:p>
          <a:p>
            <a:pPr algn="l"/>
            <a:endParaRPr lang="en-GB" sz="1300" dirty="0">
              <a:solidFill>
                <a:srgbClr val="1E1E1E"/>
              </a:solidFill>
              <a:latin typeface="Courier New"/>
            </a:endParaRPr>
          </a:p>
          <a:p>
            <a:pPr algn="l">
              <a:spcBef>
                <a:spcPts val="500"/>
              </a:spcBef>
            </a:pPr>
            <a:r>
              <a:rPr lang="en-GB" sz="1700" b="1" dirty="0">
                <a:solidFill>
                  <a:srgbClr val="1E3A5F"/>
                </a:solidFill>
              </a:rPr>
              <a:t>If the EMT channel operates faster than light</a:t>
            </a:r>
          </a:p>
          <a:p>
            <a:pPr algn="l"/>
            <a:r>
              <a:rPr lang="en-GB" sz="1600" dirty="0">
                <a:solidFill>
                  <a:srgbClr val="1E1E1E"/>
                </a:solidFill>
              </a:rPr>
              <a:t>The re-entanglement coordination signal can also travel via the EMT channel. If EMT is FTL, re-entanglement coordination is also FTL and the range limit disappears. The Stage 2 experiment determines both simultaneously.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4.3  Total Decoherence — The Physics Boundary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if all entanglement is lost and there is no way to send any signal between the two devices — no light, no radio, nothing — can the devices reconnect? Standard physics says no. But the same question applies to the EMT itself.</a:t>
            </a:r>
          </a:p>
          <a:p>
            <a:pPr algn="l"/>
            <a:endParaRPr lang="en-GB" sz="1500" b="1" dirty="0">
              <a:solidFill>
                <a:srgbClr val="1A5676"/>
              </a:solidFill>
            </a:endParaRPr>
          </a:p>
          <a:p>
            <a:pPr algn="l">
              <a:spcBef>
                <a:spcPts val="500"/>
              </a:spcBef>
            </a:pPr>
            <a:r>
              <a:rPr lang="en-GB" sz="1700" b="1" dirty="0">
                <a:solidFill>
                  <a:srgbClr val="1E3A5F"/>
                </a:solidFill>
              </a:rPr>
              <a:t>The scenario</a:t>
            </a:r>
          </a:p>
          <a:p>
            <a:pPr algn="l"/>
            <a:r>
              <a:rPr lang="en-GB" sz="1600" dirty="0">
                <a:solidFill>
                  <a:srgbClr val="1E1E1E"/>
                </a:solidFill>
              </a:rPr>
              <a:t>All entangled pairs decohered. Calcium reserve contains only ordinary ions. No EMT channel. No classical communication. No photon link possible.</a:t>
            </a:r>
          </a:p>
          <a:p>
            <a:pPr algn="l"/>
            <a:endParaRPr lang="en-GB" sz="1600" dirty="0">
              <a:solidFill>
                <a:srgbClr val="1E1E1E"/>
              </a:solidFill>
            </a:endParaRPr>
          </a:p>
          <a:p>
            <a:pPr algn="l">
              <a:spcBef>
                <a:spcPts val="500"/>
              </a:spcBef>
            </a:pPr>
            <a:r>
              <a:rPr lang="en-GB" sz="1700" b="1" dirty="0">
                <a:solidFill>
                  <a:srgbClr val="1E3A5F"/>
                </a:solidFill>
              </a:rPr>
              <a:t>Standard quantum mechanics</a:t>
            </a:r>
          </a:p>
          <a:p>
            <a:pPr lvl="1" algn="l"/>
            <a:r>
              <a:rPr lang="en-GB" sz="1600" dirty="0">
                <a:solidFill>
                  <a:srgbClr val="1E1E1E"/>
                </a:solidFill>
              </a:rPr>
              <a:t>Two systems with no shared quantum history cannot become entangled by local operations alone. This follows from the tensor product structure of composite quantum systems. No pairing code circumvents this.</a:t>
            </a:r>
          </a:p>
          <a:p>
            <a:pPr algn="l"/>
            <a:endParaRPr lang="en-GB" sz="1600" dirty="0">
              <a:solidFill>
                <a:srgbClr val="1E1E1E"/>
              </a:solidFill>
            </a:endParaRPr>
          </a:p>
          <a:p>
            <a:pPr algn="l">
              <a:spcBef>
                <a:spcPts val="500"/>
              </a:spcBef>
            </a:pPr>
            <a:r>
              <a:rPr lang="en-GB" sz="1700" b="1" dirty="0">
                <a:solidFill>
                  <a:srgbClr val="1E3A5F"/>
                </a:solidFill>
              </a:rPr>
              <a:t>If the EMT hypothesis is correct</a:t>
            </a:r>
          </a:p>
          <a:p>
            <a:pPr lvl="1" algn="l"/>
            <a:r>
              <a:rPr lang="en-GB" sz="1600" dirty="0">
                <a:solidFill>
                  <a:srgbClr val="1E1E1E"/>
                </a:solidFill>
              </a:rPr>
              <a:t>If the EMT channel works, it implies a non-local structure not captured by the standard formalism. If that structure exists, two devices independently prepared to identical states by a shared classical specification might be able to establish a joint correlation. This is a larger conjecture than the EMT channel itself — it requires not just that existing entanglement supports signalling, but that entanglement can be created without prior interaction.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4.4  Retroactive Causality — Delayed-Choice Experiments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a physicist named Victor decided whether two photons had been entangled — after Alice and Bob had already measured theirs. His decision retroactively changed what Alice and Bob found in their data. This is real, confirmed physics, and it is the foundation for the pairing code idea.</a:t>
            </a:r>
          </a:p>
          <a:p>
            <a:pPr algn="l"/>
            <a:endParaRPr lang="en-GB" sz="1500" b="1" dirty="0">
              <a:solidFill>
                <a:srgbClr val="1A5676"/>
              </a:solidFill>
            </a:endParaRPr>
          </a:p>
          <a:p>
            <a:pPr algn="l">
              <a:spcBef>
                <a:spcPts val="500"/>
              </a:spcBef>
            </a:pPr>
            <a:r>
              <a:rPr lang="en-GB" sz="1700" b="1" dirty="0">
                <a:solidFill>
                  <a:srgbClr val="1E3A5F"/>
                </a:solidFill>
              </a:rPr>
              <a:t>The Ma et al. (2012) experiment</a:t>
            </a:r>
          </a:p>
          <a:p>
            <a:pPr algn="l"/>
            <a:r>
              <a:rPr lang="en-GB" sz="1600" dirty="0">
                <a:solidFill>
                  <a:srgbClr val="1E1E1E"/>
                </a:solidFill>
              </a:rPr>
              <a:t>Two entangled photon pairs (1–2 and 3–4) are produced. Photons 1 and 4 are measured by Alice and Bob. Results recorded. Victor later decides whether to perform a Bell measurement on photons 2 and 3.</a:t>
            </a:r>
          </a:p>
          <a:p>
            <a:pPr algn="l"/>
            <a:endParaRPr lang="en-GB" sz="1600" dirty="0">
              <a:solidFill>
                <a:srgbClr val="1E1E1E"/>
              </a:solidFill>
            </a:endParaRPr>
          </a:p>
          <a:p>
            <a:pPr lvl="1" algn="l"/>
            <a:r>
              <a:rPr lang="en-GB" sz="1600" dirty="0">
                <a:solidFill>
                  <a:srgbClr val="1E1E1E"/>
                </a:solidFill>
              </a:rPr>
              <a:t>If Victor performs the Bell measurement: Alice and Bob's already-recorded results show entanglement correlations — retroactively.</a:t>
            </a:r>
          </a:p>
          <a:p>
            <a:pPr lvl="1" algn="l"/>
            <a:r>
              <a:rPr lang="en-GB" sz="1600" dirty="0">
                <a:solidFill>
                  <a:srgbClr val="1E1E1E"/>
                </a:solidFill>
              </a:rPr>
              <a:t>If Victor does not: Alice and Bob's results show no correlations.</a:t>
            </a:r>
          </a:p>
          <a:p>
            <a:pPr algn="l"/>
            <a:endParaRPr lang="en-GB" sz="1600" dirty="0">
              <a:solidFill>
                <a:srgbClr val="1E1E1E"/>
              </a:solidFill>
            </a:endParaRPr>
          </a:p>
          <a:p>
            <a:pPr algn="l">
              <a:spcBef>
                <a:spcPts val="500"/>
              </a:spcBef>
            </a:pPr>
            <a:r>
              <a:rPr lang="en-GB" sz="1700" b="1" dirty="0">
                <a:solidFill>
                  <a:srgbClr val="1E3A5F"/>
                </a:solidFill>
              </a:rPr>
              <a:t>What this means</a:t>
            </a:r>
          </a:p>
          <a:p>
            <a:pPr algn="l"/>
            <a:r>
              <a:rPr lang="en-GB" sz="1600" dirty="0">
                <a:solidFill>
                  <a:srgbClr val="1E1E1E"/>
                </a:solidFill>
              </a:rPr>
              <a:t>The joint quantum state is not fully determined until the complete measurement context is fixed. Entanglement can be established retroactively by a later measurement. The causal arrow is not what classical intuition expects.</a:t>
            </a:r>
          </a:p>
          <a:p>
            <a:pPr algn="l"/>
            <a:endParaRPr lang="en-GB" sz="1600" dirty="0">
              <a:solidFill>
                <a:srgbClr val="1E1E1E"/>
              </a:solidFill>
            </a:endParaRPr>
          </a:p>
          <a:p>
            <a:pPr algn="l">
              <a:spcBef>
                <a:spcPts val="500"/>
              </a:spcBef>
            </a:pPr>
            <a:r>
              <a:rPr lang="en-GB" sz="1700" b="1" dirty="0">
                <a:solidFill>
                  <a:srgbClr val="1E3A5F"/>
                </a:solidFill>
              </a:rPr>
              <a:t>Scope of the result</a:t>
            </a:r>
          </a:p>
          <a:p>
            <a:pPr algn="l"/>
            <a:r>
              <a:rPr lang="en-GB" sz="1600" dirty="0">
                <a:solidFill>
                  <a:srgbClr val="1E1E1E"/>
                </a:solidFill>
              </a:rPr>
              <a:t>In every delayed-choice experiment, the physical intermediary (Victor's photons) is real. The retroactivity is in timing, not in the absence of a physical link. This distinction matters for the virtual Bell measurement concept.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4.5  The Virtual Bell Measurement and Pairing Code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 pairing code is like a sheet music score that both devices follow independently. If they play the exact same notes at the exact same time, could the result be the same as if they had been tuned together in person? Standard physics says no. The EMT hypothesis leaves it open.</a:t>
            </a:r>
          </a:p>
          <a:p>
            <a:pPr algn="l"/>
            <a:endParaRPr lang="en-GB" sz="1500" b="1" dirty="0">
              <a:solidFill>
                <a:srgbClr val="1A5676"/>
              </a:solidFill>
            </a:endParaRPr>
          </a:p>
          <a:p>
            <a:pPr algn="l">
              <a:spcBef>
                <a:spcPts val="500"/>
              </a:spcBef>
            </a:pPr>
            <a:r>
              <a:rPr lang="en-GB" sz="1700" b="1" dirty="0">
                <a:solidFill>
                  <a:srgbClr val="1E3A5F"/>
                </a:solidFill>
              </a:rPr>
              <a:t>The pairing code</a:t>
            </a:r>
          </a:p>
          <a:p>
            <a:pPr algn="l"/>
            <a:r>
              <a:rPr lang="en-GB" sz="1600" dirty="0">
                <a:solidFill>
                  <a:srgbClr val="1E1E1E"/>
                </a:solidFill>
              </a:rPr>
              <a:t>A classical document specifying complete quantum state preparation parameters: trap secular frequencies, cooling protocol, MS gate pulse sequence, initial spin state, flag ion configuration, and ROR table. Both devices follow it independently.</a:t>
            </a:r>
          </a:p>
          <a:p>
            <a:pPr algn="l"/>
            <a:endParaRPr lang="en-GB" sz="1600" dirty="0">
              <a:solidFill>
                <a:srgbClr val="1E1E1E"/>
              </a:solidFill>
            </a:endParaRPr>
          </a:p>
          <a:p>
            <a:pPr algn="l">
              <a:spcBef>
                <a:spcPts val="500"/>
              </a:spcBef>
            </a:pPr>
            <a:r>
              <a:rPr lang="en-GB" sz="1700" b="1" dirty="0">
                <a:solidFill>
                  <a:srgbClr val="1E3A5F"/>
                </a:solidFill>
              </a:rPr>
              <a:t>The virtual Bell measurement</a:t>
            </a:r>
          </a:p>
          <a:p>
            <a:pPr lvl="1" algn="l"/>
            <a:r>
              <a:rPr lang="en-GB" sz="1600" dirty="0">
                <a:solidFill>
                  <a:srgbClr val="1E1E1E"/>
                </a:solidFill>
              </a:rPr>
              <a:t>Both devices perform the local unitary operations constituting their half of a Bell measurement on a virtual joint system. All four Pauli corrections are pre-specified in the code and applied in superposition — removing the need for classical communication of the measurement result.</a:t>
            </a:r>
          </a:p>
          <a:p>
            <a:pPr algn="l"/>
            <a:endParaRPr lang="en-GB" sz="1600" dirty="0">
              <a:solidFill>
                <a:srgbClr val="1E1E1E"/>
              </a:solidFill>
            </a:endParaRPr>
          </a:p>
          <a:p>
            <a:pPr algn="l">
              <a:spcBef>
                <a:spcPts val="500"/>
              </a:spcBef>
            </a:pPr>
            <a:r>
              <a:rPr lang="en-GB" sz="1700" b="1" dirty="0">
                <a:solidFill>
                  <a:srgbClr val="1E3A5F"/>
                </a:solidFill>
              </a:rPr>
              <a:t>Physical assessment</a:t>
            </a:r>
          </a:p>
          <a:p>
            <a:pPr lvl="1" algn="l"/>
            <a:r>
              <a:rPr lang="en-GB" sz="1600" dirty="0">
                <a:solidFill>
                  <a:srgbClr val="1E1E1E"/>
                </a:solidFill>
              </a:rPr>
              <a:t>Standard QM: this does not work. Local operations on independent systems cannot create entanglement.</a:t>
            </a:r>
          </a:p>
          <a:p>
            <a:pPr lvl="1" algn="l"/>
            <a:r>
              <a:rPr lang="en-GB" sz="1600" dirty="0">
                <a:solidFill>
                  <a:srgbClr val="1E1E1E"/>
                </a:solidFill>
              </a:rPr>
              <a:t>EMT hypothesis: if a deeper non-local structure exists, identically prepared states might resonate into a joint correlation. This is speculative — a larger departure from known physics than the primary EMT claim.</a:t>
            </a:r>
          </a:p>
          <a:p>
            <a:pPr lvl="1" algn="l"/>
            <a:r>
              <a:rPr lang="en-GB" sz="1600" dirty="0">
                <a:solidFill>
                  <a:srgbClr val="1E1E1E"/>
                </a:solidFill>
              </a:rPr>
              <a:t>The attempt is a well-defined experiment: prepare per code, try the EMT channel. Works or it doesn't.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200">
                <a:solidFill>
                  <a:srgbClr val="0F172A"/>
                </a:solidFill>
              </a:rPr>
              <a:t>4.6  Phone-Like Operation and the Ring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if the pairing code works, any EMT device can call any other using the code as a phone number. The device rings by transmitting a specific pattern. The called device detects it and answers. The first thing sent over the live channel is who is calling.</a:t>
            </a:r>
          </a:p>
          <a:p>
            <a:pPr algn="l"/>
            <a:endParaRPr lang="en-GB" sz="1500" b="1" dirty="0">
              <a:solidFill>
                <a:srgbClr val="1A5676"/>
              </a:solidFill>
            </a:endParaRPr>
          </a:p>
          <a:p>
            <a:pPr algn="l">
              <a:spcBef>
                <a:spcPts val="500"/>
              </a:spcBef>
            </a:pPr>
            <a:r>
              <a:rPr lang="en-GB" sz="1700" b="1" dirty="0">
                <a:solidFill>
                  <a:srgbClr val="1E3A5F"/>
                </a:solidFill>
              </a:rPr>
              <a:t>Architectural implication</a:t>
            </a:r>
          </a:p>
          <a:p>
            <a:pPr algn="l"/>
            <a:r>
              <a:rPr lang="en-GB" sz="1600" dirty="0">
                <a:solidFill>
                  <a:srgbClr val="1E1E1E"/>
                </a:solidFill>
              </a:rPr>
              <a:t>Devices no longer need to be pre-paired at manufacture. Any device can connect to any other using the target's pairing code.</a:t>
            </a:r>
          </a:p>
          <a:p>
            <a:pPr algn="l"/>
            <a:endParaRPr lang="en-GB" sz="1600" dirty="0">
              <a:solidFill>
                <a:srgbClr val="1E1E1E"/>
              </a:solidFill>
            </a:endParaRPr>
          </a:p>
          <a:p>
            <a:pPr algn="l">
              <a:spcBef>
                <a:spcPts val="500"/>
              </a:spcBef>
            </a:pPr>
            <a:r>
              <a:rPr lang="en-GB" sz="1700" b="1" dirty="0">
                <a:solidFill>
                  <a:srgbClr val="1E3A5F"/>
                </a:solidFill>
              </a:rPr>
              <a:t>The ring protocol</a:t>
            </a:r>
          </a:p>
          <a:p>
            <a:pPr lvl="1" algn="l"/>
            <a:r>
              <a:rPr lang="en-GB" sz="1600" dirty="0">
                <a:solidFill>
                  <a:srgbClr val="1E1E1E"/>
                </a:solidFill>
              </a:rPr>
              <a:t>Ring: caller prepares ions per target's pairing code and transmits a pre-agreed ring pattern unique to the target device.</a:t>
            </a:r>
          </a:p>
          <a:p>
            <a:pPr lvl="1" algn="l"/>
            <a:r>
              <a:rPr lang="en-GB" sz="1600" dirty="0">
                <a:solidFill>
                  <a:srgbClr val="1E1E1E"/>
                </a:solidFill>
              </a:rPr>
              <a:t>Detect: called device monitors its ions for its own ring pattern. If the virtual Bell mechanism is active, the ions respond.</a:t>
            </a:r>
          </a:p>
          <a:p>
            <a:pPr lvl="1" algn="l"/>
            <a:r>
              <a:rPr lang="en-GB" sz="1600" dirty="0">
                <a:solidFill>
                  <a:srgbClr val="1E1E1E"/>
                </a:solidFill>
              </a:rPr>
              <a:t>Connect: both halves of the virtual Bell protocol complete. Entanglement established. Full protocol active from first moment. Entanglement is bidirectional — no separate outgoing connection needed.</a:t>
            </a:r>
          </a:p>
          <a:p>
            <a:pPr lvl="1" algn="l"/>
            <a:r>
              <a:rPr lang="en-GB" sz="1600" dirty="0">
                <a:solidFill>
                  <a:srgbClr val="1E1E1E"/>
                </a:solidFill>
              </a:rPr>
              <a:t>Caller ID: caller transmits their own pairing code signature as the first data packet. Called device stores it if unknown.</a:t>
            </a:r>
          </a:p>
          <a:p>
            <a:pPr lvl="1" algn="l"/>
            <a:r>
              <a:rPr lang="en-GB" sz="1600" dirty="0">
                <a:solidFill>
                  <a:srgbClr val="1E1E1E"/>
                </a:solidFill>
              </a:rPr>
              <a:t>End call: either party transmits sustained HOME. Both devices detect end signal and return to standby.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4.7  Eliminating the Call Centre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with the pairing code model, there is no need for a relay station. Any device calls any other directly, the way mobile phones work — without needing a physical cable between them.</a:t>
            </a:r>
          </a:p>
          <a:p>
            <a:pPr algn="l"/>
            <a:endParaRPr lang="en-GB" sz="1500" b="1" dirty="0">
              <a:solidFill>
                <a:srgbClr val="1A5676"/>
              </a:solidFill>
            </a:endParaRPr>
          </a:p>
          <a:p>
            <a:pPr algn="l">
              <a:spcBef>
                <a:spcPts val="500"/>
              </a:spcBef>
            </a:pPr>
            <a:r>
              <a:rPr lang="en-GB" sz="1700" b="1" dirty="0">
                <a:solidFill>
                  <a:srgbClr val="1E3A5F"/>
                </a:solidFill>
              </a:rPr>
              <a:t>Comparison</a:t>
            </a:r>
          </a:p>
          <a:p>
            <a:pPr algn="l"/>
            <a:r>
              <a:rPr lang="en-GB" sz="1300" dirty="0">
                <a:solidFill>
                  <a:srgbClr val="1E1E1E"/>
                </a:solidFill>
                <a:latin typeface="Courier New"/>
              </a:rPr>
              <a:t>  Fixed-pair:     hub-and-spoke, relay station required</a:t>
            </a:r>
          </a:p>
          <a:p>
            <a:pPr algn="l"/>
            <a:r>
              <a:rPr lang="en-GB" sz="1300" dirty="0">
                <a:solidFill>
                  <a:srgbClr val="1E1E1E"/>
                </a:solidFill>
                <a:latin typeface="Courier New"/>
              </a:rPr>
              <a:t>  Pairing code:   peer-to-peer mesh, no infrastructure</a:t>
            </a:r>
          </a:p>
          <a:p>
            <a:pPr algn="l"/>
            <a:r>
              <a:rPr lang="en-GB" sz="1300" dirty="0">
                <a:solidFill>
                  <a:srgbClr val="1E1E1E"/>
                </a:solidFill>
                <a:latin typeface="Courier New"/>
              </a:rPr>
              <a:t>  Failure modes:  single point vs none</a:t>
            </a:r>
          </a:p>
          <a:p>
            <a:pPr algn="l"/>
            <a:r>
              <a:rPr lang="en-GB" sz="1300" dirty="0">
                <a:solidFill>
                  <a:srgbClr val="1E1E1E"/>
                </a:solidFill>
                <a:latin typeface="Courier New"/>
              </a:rPr>
              <a:t>  Scalability:    linear vs N×(N-1)/2 connections</a:t>
            </a:r>
          </a:p>
          <a:p>
            <a:pPr algn="l"/>
            <a:endParaRPr lang="en-GB" sz="1300" dirty="0">
              <a:solidFill>
                <a:srgbClr val="1E1E1E"/>
              </a:solidFill>
              <a:latin typeface="Courier New"/>
            </a:endParaRPr>
          </a:p>
          <a:p>
            <a:pPr algn="l">
              <a:spcBef>
                <a:spcPts val="500"/>
              </a:spcBef>
            </a:pPr>
            <a:r>
              <a:rPr lang="en-GB" sz="1700" b="1" dirty="0">
                <a:solidFill>
                  <a:srgbClr val="1E3A5F"/>
                </a:solidFill>
              </a:rPr>
              <a:t>Network properties</a:t>
            </a:r>
          </a:p>
          <a:p>
            <a:pPr lvl="1" algn="l"/>
            <a:r>
              <a:rPr lang="en-GB" sz="1600" dirty="0">
                <a:solidFill>
                  <a:srgbClr val="1E1E1E"/>
                </a:solidFill>
              </a:rPr>
              <a:t>Any device reaches any other directly with no intermediary.</a:t>
            </a:r>
          </a:p>
          <a:p>
            <a:pPr lvl="1" algn="l"/>
            <a:r>
              <a:rPr lang="en-GB" sz="1600" dirty="0">
                <a:solidFill>
                  <a:srgbClr val="1E1E1E"/>
                </a:solidFill>
              </a:rPr>
              <a:t>Adding a new device requires only publishing its pairing code.</a:t>
            </a:r>
          </a:p>
          <a:p>
            <a:pPr lvl="1" algn="l"/>
            <a:r>
              <a:rPr lang="en-GB" sz="1600" dirty="0">
                <a:solidFill>
                  <a:srgbClr val="1E1E1E"/>
                </a:solidFill>
              </a:rPr>
              <a:t>N devices: N×(N-1)/2 possible direct connections.</a:t>
            </a:r>
          </a:p>
          <a:p>
            <a:pPr algn="l"/>
            <a:endParaRPr lang="en-GB" sz="1600" dirty="0">
              <a:solidFill>
                <a:srgbClr val="1E1E1E"/>
              </a:solidFill>
            </a:endParaRPr>
          </a:p>
          <a:p>
            <a:pPr algn="l">
              <a:spcBef>
                <a:spcPts val="500"/>
              </a:spcBef>
            </a:pPr>
            <a:r>
              <a:rPr lang="en-GB" sz="1700" b="1" dirty="0">
                <a:solidFill>
                  <a:srgbClr val="1E3A5F"/>
                </a:solidFill>
              </a:rPr>
              <a:t>The single dependency</a:t>
            </a:r>
          </a:p>
          <a:p>
            <a:pPr algn="l"/>
            <a:r>
              <a:rPr lang="en-GB" sz="1600" dirty="0">
                <a:solidFill>
                  <a:srgbClr val="1E1E1E"/>
                </a:solidFill>
              </a:rPr>
              <a:t>The pairing code model requires the virtual Bell measurement to work, which is a larger hypothesis than the primary EMT channel. The fixed-pair with relay station is the conservative, physically defensible architecture. The pairing code model is the aspirational endpoint.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Part 5 — Feasibility Assessment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What this section covers: an honest assessment of what is confirmed, what is plausible but unproven, what is the central unknown, and what is speculative.</a:t>
            </a:r>
          </a:p>
          <a:p>
            <a:pPr algn="l"/>
            <a:endParaRPr lang="en-GB" sz="1500" b="1" dirty="0">
              <a:solidFill>
                <a:srgbClr val="1A5676"/>
              </a:solidFill>
            </a:endParaRPr>
          </a:p>
          <a:p>
            <a:pPr lvl="1" algn="l"/>
            <a:r>
              <a:rPr lang="en-GB" sz="1600" dirty="0">
                <a:solidFill>
                  <a:srgbClr val="1E1E1E"/>
                </a:solidFill>
              </a:rPr>
              <a:t>5.1  Confirmed physics.</a:t>
            </a:r>
          </a:p>
          <a:p>
            <a:pPr lvl="1" algn="l"/>
            <a:r>
              <a:rPr lang="en-GB" sz="1600" dirty="0">
                <a:solidFill>
                  <a:srgbClr val="1E1E1E"/>
                </a:solidFill>
              </a:rPr>
              <a:t>5.2  Sound physics, not yet demonstrated at this scale.</a:t>
            </a:r>
          </a:p>
          <a:p>
            <a:pPr lvl="1" algn="l"/>
            <a:r>
              <a:rPr lang="en-GB" sz="1600" dirty="0">
                <a:solidFill>
                  <a:srgbClr val="1E1E1E"/>
                </a:solidFill>
              </a:rPr>
              <a:t>5.3  The central open question.</a:t>
            </a:r>
          </a:p>
          <a:p>
            <a:pPr lvl="1" algn="l"/>
            <a:r>
              <a:rPr lang="en-GB" sz="1600" dirty="0">
                <a:solidFill>
                  <a:srgbClr val="1E1E1E"/>
                </a:solidFill>
              </a:rPr>
              <a:t>5.4  Speculative extensions.</a:t>
            </a:r>
          </a:p>
          <a:p>
            <a:pPr lvl="1" algn="l"/>
            <a:r>
              <a:rPr lang="en-GB" sz="1600" dirty="0">
                <a:solidFill>
                  <a:srgbClr val="1E1E1E"/>
                </a:solidFill>
              </a:rPr>
              <a:t>5.5  Engineering feasibility.</a:t>
            </a:r>
          </a:p>
          <a:p>
            <a:pPr lvl="1" algn="l"/>
            <a:r>
              <a:rPr lang="en-GB" sz="1600" dirty="0">
                <a:solidFill>
                  <a:srgbClr val="1E1E1E"/>
                </a:solidFill>
              </a:rPr>
              <a:t>5.6  Conclusion.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5.1  Confirmed Physics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everything in this list has been demonstrated in a real laboratory and is not disputed.</a:t>
            </a:r>
          </a:p>
          <a:p>
            <a:pPr algn="l"/>
            <a:endParaRPr lang="en-GB" sz="1500" b="1" dirty="0">
              <a:solidFill>
                <a:srgbClr val="1A5676"/>
              </a:solidFill>
            </a:endParaRPr>
          </a:p>
          <a:p>
            <a:pPr lvl="1" algn="l"/>
            <a:r>
              <a:rPr lang="en-GB" sz="1600" dirty="0">
                <a:solidFill>
                  <a:srgbClr val="1E1E1E"/>
                </a:solidFill>
              </a:rPr>
              <a:t>Ca⁺ ion trapping, laser cooling, motional ground state: standard worldwide.</a:t>
            </a:r>
          </a:p>
          <a:p>
            <a:pPr lvl="1" algn="l"/>
            <a:r>
              <a:rPr lang="en-GB" sz="1600" dirty="0">
                <a:solidFill>
                  <a:srgbClr val="1E1E1E"/>
                </a:solidFill>
              </a:rPr>
              <a:t>Mølmer–Sørensen gate fidelity &gt; 99.9%: Oxford, Innsbruck, NIST, Quantinuum.</a:t>
            </a:r>
          </a:p>
          <a:p>
            <a:pPr lvl="1" algn="l"/>
            <a:r>
              <a:rPr lang="en-GB" sz="1600" dirty="0">
                <a:solidFill>
                  <a:srgbClr val="1E1E1E"/>
                </a:solidFill>
              </a:rPr>
              <a:t>Magnetic spin rotation to arbitrary angle, &lt; 0.1° precision: standard NMR/ion trap.</a:t>
            </a:r>
          </a:p>
          <a:p>
            <a:pPr lvl="1" algn="l"/>
            <a:r>
              <a:rPr lang="en-GB" sz="1600" dirty="0">
                <a:solidFill>
                  <a:srgbClr val="1E1E1E"/>
                </a:solidFill>
              </a:rPr>
              <a:t>397 nm fluorescence readout at &gt; 99.9% fidelity per shot: PTB, NIST.</a:t>
            </a:r>
          </a:p>
          <a:p>
            <a:pPr lvl="1" algn="l"/>
            <a:r>
              <a:rPr lang="en-GB" sz="1600" dirty="0">
                <a:solidFill>
                  <a:srgbClr val="1E1E1E"/>
                </a:solidFill>
              </a:rPr>
              <a:t>Dynamical decoupling extending Ca⁺ nuclear spin coherence to ~10 hours: demonstrated.</a:t>
            </a:r>
          </a:p>
          <a:p>
            <a:pPr lvl="1" algn="l"/>
            <a:r>
              <a:rPr lang="en-GB" sz="1600" dirty="0">
                <a:solidFill>
                  <a:srgbClr val="1E1E1E"/>
                </a:solidFill>
              </a:rPr>
              <a:t>Ensemble averaging reducing noise by √N: basic statistics, universal.</a:t>
            </a:r>
          </a:p>
          <a:p>
            <a:pPr lvl="1" algn="l"/>
            <a:r>
              <a:rPr lang="en-GB" sz="1600" dirty="0">
                <a:solidFill>
                  <a:srgbClr val="1E1E1E"/>
                </a:solidFill>
              </a:rPr>
              <a:t>Delayed-choice entanglement swapping showing retroactive correlations: Ma et al. 2012.</a:t>
            </a:r>
          </a:p>
          <a:p>
            <a:pPr lvl="1" algn="l"/>
            <a:r>
              <a:rPr lang="en-GB" sz="1600" dirty="0">
                <a:solidFill>
                  <a:srgbClr val="1E1E1E"/>
                </a:solidFill>
              </a:rPr>
              <a:t>Ion shuttling between trap zones without coherence loss: Oxford, Innsbruck.</a:t>
            </a:r>
          </a:p>
          <a:p>
            <a:pPr lvl="1" algn="l"/>
            <a:r>
              <a:rPr lang="en-GB" sz="1600" dirty="0">
                <a:solidFill>
                  <a:srgbClr val="1E1E1E"/>
                </a:solidFill>
              </a:rPr>
              <a:t>Photon-mediated remote entanglement (Delft method): demonstrated, NV centres, 1.3 km.</a:t>
            </a:r>
          </a:p>
          <a:p>
            <a:pPr lvl="1" algn="l"/>
            <a:r>
              <a:rPr lang="en-GB" sz="1600" dirty="0">
                <a:solidFill>
                  <a:srgbClr val="1E1E1E"/>
                </a:solidFill>
              </a:rPr>
              <a:t>Linear ion chain of 12+ ions in a Paul trap: routinely demonstrated in quantum computing.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5.2  Sound Physics, Undemonstrated at Scale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these are things that should work based on physics we know, but that nobody has actually built yet at the scale the EMT requires.</a:t>
            </a:r>
          </a:p>
          <a:p>
            <a:pPr algn="l"/>
            <a:endParaRPr lang="en-GB" sz="1500" b="1" dirty="0">
              <a:solidFill>
                <a:srgbClr val="1A5676"/>
              </a:solidFill>
            </a:endParaRPr>
          </a:p>
          <a:p>
            <a:pPr lvl="1" algn="l"/>
            <a:r>
              <a:rPr lang="en-GB" sz="1600" dirty="0">
                <a:solidFill>
                  <a:srgbClr val="1E1E1E"/>
                </a:solidFill>
              </a:rPr>
              <a:t>Miniature per-ion coil fabricated in the same e-beam step as the trap electrodes: physically feasible, not yet demonstrated in a production device.</a:t>
            </a:r>
          </a:p>
          <a:p>
            <a:pPr lvl="1" algn="l"/>
            <a:r>
              <a:rPr lang="en-GB" sz="1600" dirty="0">
                <a:solidFill>
                  <a:srgbClr val="1E1E1E"/>
                </a:solidFill>
              </a:rPr>
              <a:t>Simultaneous entanglement of all 12 ion pairs across a separation point with subsequent physical division: single-pair entanglement across zones is demonstrated; 12-pair simultaneous entanglement plus physical separation is an extrapolation.</a:t>
            </a:r>
          </a:p>
          <a:p>
            <a:pPr lvl="1" algn="l"/>
            <a:r>
              <a:rPr lang="en-GB" sz="1600" dirty="0">
                <a:solidFill>
                  <a:srgbClr val="1E1E1E"/>
                </a:solidFill>
              </a:rPr>
              <a:t>Orientation angle encoding (ROR) as a communication protocol: write and read mechanisms each individually demonstrated; the combined protocol is novel but requires no new physics.</a:t>
            </a:r>
          </a:p>
          <a:p>
            <a:pPr lvl="1" algn="l"/>
            <a:r>
              <a:rPr lang="en-GB" sz="1600" dirty="0">
                <a:solidFill>
                  <a:srgbClr val="1E1E1E"/>
                </a:solidFill>
              </a:rPr>
              <a:t>Flag protocol (particles 11 and 12) for handshake coordination: requires only state-selective fluorescence and magnetic pulses, both demonstrated.</a:t>
            </a:r>
          </a:p>
          <a:p>
            <a:pPr lvl="1" algn="l"/>
            <a:r>
              <a:rPr lang="en-GB" sz="1600" dirty="0">
                <a:solidFill>
                  <a:srgbClr val="1E1E1E"/>
                </a:solidFill>
              </a:rPr>
              <a:t>Bootstrap re-entanglement maintaining 10+ pairs long-term: individual steps demonstrated; the integrated system is new.</a:t>
            </a:r>
          </a:p>
          <a:p>
            <a:pPr lvl="1" algn="l"/>
            <a:r>
              <a:rPr lang="en-GB" sz="1600" dirty="0">
                <a:solidFill>
                  <a:srgbClr val="1E1E1E"/>
                </a:solidFill>
              </a:rPr>
              <a:t>Chip-scale UHV packaging: active engineering challenge in quantum computing industry.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5.3  The Central Open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the experiment is simple. Rotate ion A to a specific angle. Does ion B — sitting in its own trap, being read continuously by its own device — show a correlated shift? Standard physics says no. That prediction has not been tested in this regime. This experiment tests it.</a:t>
            </a:r>
          </a:p>
          <a:p>
            <a:pPr algn="l"/>
            <a:endParaRPr lang="en-GB" sz="1500" b="1">
              <a:solidFill>
                <a:srgbClr val="1A5676"/>
              </a:solidFill>
            </a:endParaRPr>
          </a:p>
          <a:p>
            <a:pPr algn="l">
              <a:spcBef>
                <a:spcPts val="500"/>
              </a:spcBef>
            </a:pPr>
            <a:r>
              <a:rPr lang="en-GB" sz="1700" b="1">
                <a:solidFill>
                  <a:srgbClr val="1E3A5F"/>
                </a:solidFill>
              </a:rPr>
              <a:t>The question</a:t>
            </a:r>
          </a:p>
          <a:p>
            <a:pPr algn="l"/>
            <a:r>
              <a:rPr lang="en-GB" sz="1600">
                <a:solidFill>
                  <a:srgbClr val="1E1E1E"/>
                </a:solidFill>
              </a:rPr>
              <a:t>Does rotating an entangled ion A to orientation θ cause a statistically detectable correlated shift in the continuously-monitored orientation of its entangled partner ion B, where B is read only by its own local device with no classical signal from A?</a:t>
            </a:r>
          </a:p>
          <a:p>
            <a:pPr algn="l"/>
            <a:endParaRPr lang="en-GB" sz="1600">
              <a:solidFill>
                <a:srgbClr val="1E1E1E"/>
              </a:solidFill>
            </a:endParaRPr>
          </a:p>
          <a:p>
            <a:pPr algn="l">
              <a:spcBef>
                <a:spcPts val="500"/>
              </a:spcBef>
            </a:pPr>
            <a:r>
              <a:rPr lang="en-GB" sz="1700" b="1">
                <a:solidFill>
                  <a:srgbClr val="1E3A5F"/>
                </a:solidFill>
              </a:rPr>
              <a:t>Standard QM prediction</a:t>
            </a:r>
          </a:p>
          <a:p>
            <a:pPr algn="l"/>
            <a:r>
              <a:rPr lang="en-GB" sz="1300">
                <a:solidFill>
                  <a:srgbClr val="1E1E1E"/>
                </a:solidFill>
                <a:latin typeface="Courier New"/>
              </a:rPr>
              <a:t>  ρ_B = Tr_A(ρ_AB) = I/2   for all operations on A</a:t>
            </a:r>
          </a:p>
          <a:p>
            <a:pPr algn="l"/>
            <a:r>
              <a:rPr lang="en-GB" sz="1600">
                <a:solidFill>
                  <a:srgbClr val="1E1E1E"/>
                </a:solidFill>
              </a:rPr>
              <a:t>Ion B's statistics are unchanged. Δθ = θ_B_after − θ_B_baseline = 0 + noise.</a:t>
            </a:r>
          </a:p>
          <a:p>
            <a:pPr algn="l"/>
            <a:endParaRPr lang="en-GB" sz="1600">
              <a:solidFill>
                <a:srgbClr val="1E1E1E"/>
              </a:solidFill>
            </a:endParaRPr>
          </a:p>
          <a:p>
            <a:pPr algn="l">
              <a:spcBef>
                <a:spcPts val="500"/>
              </a:spcBef>
            </a:pPr>
            <a:r>
              <a:rPr lang="en-GB" sz="1700" b="1">
                <a:solidFill>
                  <a:srgbClr val="1E3A5F"/>
                </a:solidFill>
              </a:rPr>
              <a:t>Why the experiment is still worth doing</a:t>
            </a:r>
          </a:p>
          <a:p>
            <a:pPr lvl="1" algn="l"/>
            <a:r>
              <a:rPr lang="en-GB" sz="1600">
                <a:solidFill>
                  <a:srgbClr val="1E1E1E"/>
                </a:solidFill>
              </a:rPr>
              <a:t>The theorem is proven for individual pairs independently. The EMT experiment tests a coherent ensemble of N identical pairs simultaneously oriented, sharing a global phase reference. This combination has not been directly tested.</a:t>
            </a:r>
          </a:p>
          <a:p>
            <a:pPr lvl="1" algn="l"/>
            <a:r>
              <a:rPr lang="en-GB" sz="1600">
                <a:solidFill>
                  <a:srgbClr val="1E1E1E"/>
                </a:solidFill>
              </a:rPr>
              <a:t>The apparatus itself — precision Ca⁺ orientation control with continuous weak-measurement readout — is a world-class quantum sensor with applications in atomic clocks and gravitational wave detection regardless of the primary result.</a:t>
            </a:r>
          </a:p>
          <a:p>
            <a:pPr algn="l"/>
            <a:endParaRPr lang="en-GB" sz="1600">
              <a:solidFill>
                <a:srgbClr val="1E1E1E"/>
              </a:solidFill>
            </a:endParaRPr>
          </a:p>
          <a:p>
            <a:pPr algn="l">
              <a:spcBef>
                <a:spcPts val="500"/>
              </a:spcBef>
            </a:pPr>
            <a:r>
              <a:rPr lang="en-GB" sz="1700" b="1">
                <a:solidFill>
                  <a:srgbClr val="1E3A5F"/>
                </a:solidFill>
              </a:rPr>
              <a:t>Experimental requirements for a valid result</a:t>
            </a:r>
          </a:p>
          <a:p>
            <a:pPr lvl="1" algn="l"/>
            <a:r>
              <a:rPr lang="en-GB" sz="1600">
                <a:solidFill>
                  <a:srgbClr val="1E1E1E"/>
                </a:solidFill>
              </a:rPr>
              <a:t>Before/after protocol: baseline taken with A at HOME, signal taken after A rotates to θ.</a:t>
            </a:r>
          </a:p>
          <a:p>
            <a:pPr lvl="1" algn="l"/>
            <a:r>
              <a:rPr lang="en-GB" sz="1600">
                <a:solidFill>
                  <a:srgbClr val="1E1E1E"/>
                </a:solidFill>
              </a:rPr>
              <a:t>Double-blind analysis: B's log compared to A's schedule only after both sequences complete.</a:t>
            </a:r>
          </a:p>
          <a:p>
            <a:pPr lvl="1" algn="l"/>
            <a:r>
              <a:rPr lang="en-GB" sz="1600">
                <a:solidFill>
                  <a:srgbClr val="1E1E1E"/>
                </a:solidFill>
              </a:rPr>
              <a:t>All classical leakage paths eliminated and verified.</a:t>
            </a:r>
          </a:p>
          <a:p>
            <a:pPr lvl="1" algn="l"/>
            <a:r>
              <a:rPr lang="en-GB" sz="1600">
                <a:solidFill>
                  <a:srgbClr val="1E1E1E"/>
                </a:solidFill>
              </a:rPr>
              <a:t>Multiple independent replications required for any positive claim.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5.4  Speculative Extensions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these ideas require even more new physics than the basic EMT channel. They are included because they follow logically if the EMT works — but they should not be treated as likely.</a:t>
            </a:r>
          </a:p>
          <a:p>
            <a:pPr algn="l"/>
            <a:endParaRPr lang="en-GB" sz="1500" b="1" dirty="0">
              <a:solidFill>
                <a:srgbClr val="1A5676"/>
              </a:solidFill>
            </a:endParaRPr>
          </a:p>
          <a:p>
            <a:pPr algn="l">
              <a:spcBef>
                <a:spcPts val="500"/>
              </a:spcBef>
            </a:pPr>
            <a:r>
              <a:rPr lang="en-GB" sz="1700" b="1" dirty="0">
                <a:solidFill>
                  <a:srgbClr val="1E3A5F"/>
                </a:solidFill>
              </a:rPr>
              <a:t>Virtual Bell measurement / pairing code recovery</a:t>
            </a:r>
          </a:p>
          <a:p>
            <a:pPr lvl="1" algn="l"/>
            <a:r>
              <a:rPr lang="en-GB" sz="1600" dirty="0">
                <a:solidFill>
                  <a:srgbClr val="1E1E1E"/>
                </a:solidFill>
              </a:rPr>
              <a:t>Requires not only that the EMT channel works, but that entanglement can be created between systems with no shared quantum history. This is a significantly larger departure from known physics.</a:t>
            </a:r>
          </a:p>
          <a:p>
            <a:pPr algn="l"/>
            <a:endParaRPr lang="en-GB" sz="1600" dirty="0">
              <a:solidFill>
                <a:srgbClr val="1E1E1E"/>
              </a:solidFill>
            </a:endParaRPr>
          </a:p>
          <a:p>
            <a:pPr algn="l">
              <a:spcBef>
                <a:spcPts val="500"/>
              </a:spcBef>
            </a:pPr>
            <a:r>
              <a:rPr lang="en-GB" sz="1700" b="1" dirty="0">
                <a:solidFill>
                  <a:srgbClr val="1E3A5F"/>
                </a:solidFill>
              </a:rPr>
              <a:t>Phone-like peer-to-peer network</a:t>
            </a:r>
          </a:p>
          <a:p>
            <a:pPr lvl="1" algn="l"/>
            <a:r>
              <a:rPr lang="en-GB" sz="1600" dirty="0">
                <a:solidFill>
                  <a:srgbClr val="1E1E1E"/>
                </a:solidFill>
              </a:rPr>
              <a:t>Contingent on the virtual Bell measurement working. If it does, the architecture follows directly.</a:t>
            </a:r>
          </a:p>
          <a:p>
            <a:pPr algn="l"/>
            <a:endParaRPr lang="en-GB" sz="1600" dirty="0">
              <a:solidFill>
                <a:srgbClr val="1E1E1E"/>
              </a:solidFill>
            </a:endParaRPr>
          </a:p>
          <a:p>
            <a:pPr algn="l">
              <a:spcBef>
                <a:spcPts val="500"/>
              </a:spcBef>
            </a:pPr>
            <a:r>
              <a:rPr lang="en-GB" sz="1700" b="1" dirty="0">
                <a:solidFill>
                  <a:srgbClr val="1E3A5F"/>
                </a:solidFill>
              </a:rPr>
              <a:t>Speculation hierarchy</a:t>
            </a:r>
          </a:p>
          <a:p>
            <a:pPr algn="l"/>
            <a:r>
              <a:rPr lang="en-GB" sz="1300" dirty="0">
                <a:solidFill>
                  <a:srgbClr val="1E1E1E"/>
                </a:solidFill>
                <a:latin typeface="Courier New"/>
              </a:rPr>
              <a:t>  Level 1:  EMT channel signal exists</a:t>
            </a:r>
          </a:p>
          <a:p>
            <a:pPr algn="l"/>
            <a:r>
              <a:rPr lang="en-GB" sz="1300" dirty="0">
                <a:solidFill>
                  <a:srgbClr val="1E1E1E"/>
                </a:solidFill>
                <a:latin typeface="Courier New"/>
              </a:rPr>
              <a:t>            → NCT incomplete in ensemble-orientation regime</a:t>
            </a:r>
          </a:p>
          <a:p>
            <a:pPr algn="l"/>
            <a:r>
              <a:rPr lang="en-GB" sz="1300" dirty="0">
                <a:solidFill>
                  <a:srgbClr val="1E1E1E"/>
                </a:solidFill>
                <a:latin typeface="Courier New"/>
              </a:rPr>
              <a:t>  Level 2:  Virtual Bell measurement works</a:t>
            </a:r>
          </a:p>
          <a:p>
            <a:pPr algn="l"/>
            <a:r>
              <a:rPr lang="en-GB" sz="1300" dirty="0">
                <a:solidFill>
                  <a:srgbClr val="1E1E1E"/>
                </a:solidFill>
                <a:latin typeface="Courier New"/>
              </a:rPr>
              <a:t>            → entanglement creatable without prior interaction</a:t>
            </a:r>
          </a:p>
          <a:p>
            <a:pPr algn="l"/>
            <a:r>
              <a:rPr lang="en-GB" sz="1300" dirty="0">
                <a:solidFill>
                  <a:srgbClr val="1E1E1E"/>
                </a:solidFill>
                <a:latin typeface="Courier New"/>
              </a:rPr>
              <a:t>  Level 3:  Full peer-to-peer phone network</a:t>
            </a:r>
          </a:p>
          <a:p>
            <a:pPr algn="l"/>
            <a:r>
              <a:rPr lang="en-GB" sz="1300" dirty="0">
                <a:solidFill>
                  <a:srgbClr val="1E1E1E"/>
                </a:solidFill>
                <a:latin typeface="Courier New"/>
              </a:rPr>
              <a:t>            → follows from Level 2</a:t>
            </a:r>
          </a:p>
          <a:p>
            <a:pPr algn="l"/>
            <a:endParaRPr lang="en-GB" sz="1300" dirty="0">
              <a:solidFill>
                <a:srgbClr val="1E1E1E"/>
              </a:solidFill>
              <a:latin typeface="Courier New"/>
            </a:endParaRPr>
          </a:p>
          <a:p>
            <a:pPr algn="l"/>
            <a:r>
              <a:rPr lang="en-GB" sz="1600" dirty="0">
                <a:solidFill>
                  <a:srgbClr val="1E1E1E"/>
                </a:solidFill>
              </a:rPr>
              <a:t>The fixed-pair EMT link with relay station (section 4.1) requires only Level 1. It is the conservative, buildable target.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5.5  Engineering Feasibility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if the experiment works, how hard is it to build the actual device? The honest answer is: hard, but nothing about it requires inventing new physics or new materials.</a:t>
            </a:r>
          </a:p>
          <a:p>
            <a:pPr algn="l"/>
            <a:endParaRPr lang="en-GB" sz="1500" b="1" dirty="0">
              <a:solidFill>
                <a:srgbClr val="1A5676"/>
              </a:solidFill>
            </a:endParaRPr>
          </a:p>
          <a:p>
            <a:pPr algn="l">
              <a:spcBef>
                <a:spcPts val="500"/>
              </a:spcBef>
            </a:pPr>
            <a:r>
              <a:rPr lang="en-GB" sz="1700" b="1" dirty="0">
                <a:solidFill>
                  <a:srgbClr val="1E3A5F"/>
                </a:solidFill>
              </a:rPr>
              <a:t>If Stage 2 confirms the primary effect</a:t>
            </a:r>
          </a:p>
          <a:p>
            <a:pPr lvl="1" algn="l"/>
            <a:r>
              <a:rPr lang="en-GB" sz="1600" dirty="0">
                <a:solidFill>
                  <a:srgbClr val="1E1E1E"/>
                </a:solidFill>
              </a:rPr>
              <a:t>The hardware path is clear. Ca⁺ ion trap technology is the most mature qubit platform. All required capabilities are individually demonstrated.</a:t>
            </a:r>
          </a:p>
          <a:p>
            <a:pPr lvl="1" algn="l"/>
            <a:r>
              <a:rPr lang="en-GB" sz="1600" dirty="0">
                <a:solidFill>
                  <a:srgbClr val="1E1E1E"/>
                </a:solidFill>
              </a:rPr>
              <a:t>Chip-scale UHV packaging: being solved by quantum computing industry.</a:t>
            </a:r>
          </a:p>
          <a:p>
            <a:pPr lvl="1" algn="l"/>
            <a:r>
              <a:rPr lang="en-GB" sz="1600" dirty="0">
                <a:solidFill>
                  <a:srgbClr val="1E1E1E"/>
                </a:solidFill>
              </a:rPr>
              <a:t>12-ion chain with full entanglement at separation: requires scale-up of demonstrated MS gate technique.</a:t>
            </a:r>
          </a:p>
          <a:p>
            <a:pPr lvl="1" algn="l"/>
            <a:r>
              <a:rPr lang="en-GB" sz="1600" dirty="0">
                <a:solidFill>
                  <a:srgbClr val="1E1E1E"/>
                </a:solidFill>
              </a:rPr>
              <a:t>Photon collection efficiency for bootstrap re-entanglement: nanophotonic cavity QED achieves &gt; 50% efficiency.</a:t>
            </a:r>
          </a:p>
          <a:p>
            <a:pPr lvl="1" algn="l"/>
            <a:r>
              <a:rPr lang="en-GB" sz="1600" dirty="0">
                <a:solidFill>
                  <a:srgbClr val="1E1E1E"/>
                </a:solidFill>
              </a:rPr>
              <a:t>MCU control of DD pulses plus coil writes: embedded systems engineering.</a:t>
            </a:r>
          </a:p>
          <a:p>
            <a:pPr algn="l"/>
            <a:endParaRPr lang="en-GB" sz="1600" dirty="0">
              <a:solidFill>
                <a:srgbClr val="1E1E1E"/>
              </a:solidFill>
            </a:endParaRPr>
          </a:p>
          <a:p>
            <a:pPr algn="l">
              <a:spcBef>
                <a:spcPts val="500"/>
              </a:spcBef>
            </a:pPr>
            <a:r>
              <a:rPr lang="en-GB" sz="1700" b="1" dirty="0">
                <a:solidFill>
                  <a:srgbClr val="1E3A5F"/>
                </a:solidFill>
              </a:rPr>
              <a:t>Timeline estimate</a:t>
            </a:r>
          </a:p>
          <a:p>
            <a:pPr algn="l"/>
            <a:r>
              <a:rPr lang="en-GB" sz="1300" dirty="0">
                <a:solidFill>
                  <a:srgbClr val="1E1E1E"/>
                </a:solidFill>
                <a:latin typeface="Courier New"/>
              </a:rPr>
              <a:t>  Stage 1 (single pair, same lab):</a:t>
            </a:r>
          </a:p>
          <a:p>
            <a:pPr algn="l"/>
            <a:r>
              <a:rPr lang="en-GB" sz="1300" dirty="0">
                <a:solidFill>
                  <a:srgbClr val="1E1E1E"/>
                </a:solidFill>
                <a:latin typeface="Courier New"/>
              </a:rPr>
              <a:t>    6–12 months in existing ion trap lab</a:t>
            </a:r>
          </a:p>
          <a:p>
            <a:pPr algn="l"/>
            <a:r>
              <a:rPr lang="en-GB" sz="1300" dirty="0">
                <a:solidFill>
                  <a:srgbClr val="1E1E1E"/>
                </a:solidFill>
                <a:latin typeface="Courier New"/>
              </a:rPr>
              <a:t>  Stage 2 (remote isolation, primary test):</a:t>
            </a:r>
          </a:p>
          <a:p>
            <a:pPr algn="l"/>
            <a:r>
              <a:rPr lang="en-GB" sz="1300" dirty="0">
                <a:solidFill>
                  <a:srgbClr val="1E1E1E"/>
                </a:solidFill>
                <a:latin typeface="Courier New"/>
              </a:rPr>
              <a:t>    12–24 months with dedicated apparatus</a:t>
            </a:r>
          </a:p>
          <a:p>
            <a:pPr algn="l"/>
            <a:r>
              <a:rPr lang="en-GB" sz="1300" dirty="0">
                <a:solidFill>
                  <a:srgbClr val="1E1E1E"/>
                </a:solidFill>
                <a:latin typeface="Courier New"/>
              </a:rPr>
              <a:t>  Stage 3 (coherence maintenance, self-healing):</a:t>
            </a:r>
          </a:p>
          <a:p>
            <a:pPr algn="l"/>
            <a:r>
              <a:rPr lang="en-GB" sz="1300" dirty="0">
                <a:solidFill>
                  <a:srgbClr val="1E1E1E"/>
                </a:solidFill>
                <a:latin typeface="Courier New"/>
              </a:rPr>
              <a:t>    24–48 months engineering after Stage 2 confirmation</a:t>
            </a:r>
          </a:p>
          <a:p>
            <a:pPr algn="l"/>
            <a:r>
              <a:rPr lang="en-GB" sz="1300" dirty="0">
                <a:solidFill>
                  <a:srgbClr val="1E1E1E"/>
                </a:solidFill>
                <a:latin typeface="Courier New"/>
              </a:rPr>
              <a:t>  Production device:</a:t>
            </a:r>
          </a:p>
          <a:p>
            <a:pPr algn="l"/>
            <a:r>
              <a:rPr lang="en-GB" sz="1300" dirty="0">
                <a:solidFill>
                  <a:srgbClr val="1E1E1E"/>
                </a:solidFill>
                <a:latin typeface="Courier New"/>
              </a:rPr>
              <a:t>    Dependent on chip-scale UHV packaging progress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3556">
                <a:solidFill>
                  <a:srgbClr val="0F172A"/>
                </a:solidFill>
              </a:rPr>
              <a:t>5.6  Conclusion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a:solidFill>
                  <a:srgbClr val="1A5676"/>
                </a:solidFill>
              </a:rPr>
              <a:t>In plain terms: this paper proposes a simple experiment — rotate an entangled ion, read its partner — and describes the device and network that would be built if that experiment confirms the effect. Both possible outcomes are scientifically valuable.</a:t>
            </a:r>
          </a:p>
          <a:p>
            <a:pPr algn="l"/>
            <a:endParaRPr lang="en-GB" sz="1500" b="1">
              <a:solidFill>
                <a:srgbClr val="1A5676"/>
              </a:solidFill>
            </a:endParaRPr>
          </a:p>
          <a:p>
            <a:pPr algn="l">
              <a:spcBef>
                <a:spcPts val="500"/>
              </a:spcBef>
            </a:pPr>
            <a:r>
              <a:rPr lang="en-GB" sz="1700" b="1">
                <a:solidFill>
                  <a:srgbClr val="1E3A5F"/>
                </a:solidFill>
              </a:rPr>
              <a:t>The experiment</a:t>
            </a:r>
          </a:p>
          <a:p>
            <a:pPr lvl="1" algn="l"/>
            <a:r>
              <a:rPr lang="en-GB" sz="1600">
                <a:solidFill>
                  <a:srgbClr val="1E1E1E"/>
                </a:solidFill>
              </a:rPr>
              <a:t>1–5 entangled Ca⁺ ion pairs. Device A rotates its ions. Device B reads only its own ions continuously. Does Device B detect a correlated orientation shift? This is achievable with existing ion trap apparatus.</a:t>
            </a:r>
          </a:p>
          <a:p>
            <a:pPr algn="l"/>
            <a:endParaRPr lang="en-GB" sz="1600">
              <a:solidFill>
                <a:srgbClr val="1E1E1E"/>
              </a:solidFill>
            </a:endParaRPr>
          </a:p>
          <a:p>
            <a:pPr algn="l">
              <a:spcBef>
                <a:spcPts val="500"/>
              </a:spcBef>
            </a:pPr>
            <a:r>
              <a:rPr lang="en-GB" sz="1700" b="1">
                <a:solidFill>
                  <a:srgbClr val="1E3A5F"/>
                </a:solidFill>
              </a:rPr>
              <a:t>The device — if the experiment confirms the effect</a:t>
            </a:r>
          </a:p>
          <a:p>
            <a:pPr lvl="1" algn="l"/>
            <a:r>
              <a:rPr lang="en-GB" sz="1600">
                <a:solidFill>
                  <a:srgbClr val="1E1E1E"/>
                </a:solidFill>
              </a:rPr>
              <a:t>A 12-ion linear chain: 10 data ions for √N SNR improvement, 2 flag ions for half-duplex coordination. Each device reads only its own ions. Orientation angle encodes characters via the ROR table. Sealed glass vacuum envelope. MCU-controlled.</a:t>
            </a:r>
          </a:p>
          <a:p>
            <a:pPr algn="l"/>
            <a:endParaRPr lang="en-GB" sz="1600">
              <a:solidFill>
                <a:srgbClr val="1E1E1E"/>
              </a:solidFill>
            </a:endParaRPr>
          </a:p>
          <a:p>
            <a:pPr algn="l">
              <a:spcBef>
                <a:spcPts val="500"/>
              </a:spcBef>
            </a:pPr>
            <a:r>
              <a:rPr lang="en-GB" sz="1700" b="1">
                <a:solidFill>
                  <a:srgbClr val="1E3A5F"/>
                </a:solidFill>
              </a:rPr>
              <a:t>The network — if the device is confirmed</a:t>
            </a:r>
          </a:p>
          <a:p>
            <a:pPr lvl="1" algn="l"/>
            <a:r>
              <a:rPr lang="en-GB" sz="1600">
                <a:solidFill>
                  <a:srgbClr val="1E1E1E"/>
                </a:solidFill>
              </a:rPr>
              <a:t>Fixed-pair with relay station for multi-party communication (confirmed physics path). Peer-to-peer via pairing code (speculative, Level 2+).</a:t>
            </a:r>
          </a:p>
          <a:p>
            <a:pPr algn="l"/>
            <a:endParaRPr lang="en-GB" sz="1600">
              <a:solidFill>
                <a:srgbClr val="1E1E1E"/>
              </a:solidFill>
            </a:endParaRPr>
          </a:p>
          <a:p>
            <a:pPr algn="l">
              <a:spcBef>
                <a:spcPts val="500"/>
              </a:spcBef>
            </a:pPr>
            <a:r>
              <a:rPr lang="en-GB" sz="1700" b="1">
                <a:solidFill>
                  <a:srgbClr val="1E3A5F"/>
                </a:solidFill>
              </a:rPr>
              <a:t>If the experiment finds no effect</a:t>
            </a:r>
          </a:p>
          <a:p>
            <a:pPr lvl="1" algn="l"/>
            <a:r>
              <a:rPr lang="en-GB" sz="1600">
                <a:solidFill>
                  <a:srgbClr val="1E1E1E"/>
                </a:solidFill>
              </a:rPr>
              <a:t>The NCT is confirmed in a previously untested regime. Publishable result. The apparatus — a precision Ca⁺ orientation control and continuous weak-measurement system — is a world-class quantum sensor applicable to atomic clocks, gravitational wave detection, and quantum key distribution.</a:t>
            </a:r>
          </a:p>
          <a:p>
            <a:pPr algn="l"/>
            <a:endParaRPr lang="en-GB" sz="1600">
              <a:solidFill>
                <a:srgbClr val="1E1E1E"/>
              </a:solidFill>
            </a:endParaRPr>
          </a:p>
          <a:p>
            <a:pPr algn="l"/>
            <a:r>
              <a:rPr lang="en-GB" sz="1300">
                <a:solidFill>
                  <a:srgbClr val="788598"/>
                </a:solidFill>
              </a:rPr>
              <a:t>The device is the experiment. The experiment is the device. The network is what comes after.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6858000" cy="523719"/>
          </a:xfrm>
          <a:prstGeom prst="rect">
            <a:avLst/>
          </a:prstGeom>
          <a:noFill/>
        </p:spPr>
        <p:txBody>
          <a:bodyPr wrap="square">
            <a:spAutoFit/>
          </a:bodyPr>
          <a:lstStyle/>
          <a:p>
            <a:pPr algn="ctr"/>
            <a:r>
              <a:rPr lang="en-GB" sz="2600">
                <a:solidFill>
                  <a:srgbClr val="0F172A"/>
                </a:solidFill>
              </a:rPr>
              <a:t>Protocol Properties and Throughput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lang="en-GB" sz="1500" b="1" dirty="0">
                <a:solidFill>
                  <a:srgbClr val="1A5676"/>
                </a:solidFill>
              </a:rPr>
              <a:t>In plain terms: the flag protocol ensures that only one device is changing the data ions at a time, and that the other device has finished reading before the first one moves on. This gives us a reliable two-way conversation with no dropped characters.</a:t>
            </a:r>
          </a:p>
          <a:p>
            <a:pPr algn="l"/>
            <a:endParaRPr lang="en-GB" sz="1500" b="1" dirty="0">
              <a:solidFill>
                <a:srgbClr val="1A5676"/>
              </a:solidFill>
            </a:endParaRPr>
          </a:p>
          <a:p>
            <a:pPr algn="l">
              <a:spcBef>
                <a:spcPts val="500"/>
              </a:spcBef>
            </a:pPr>
            <a:r>
              <a:rPr lang="en-GB" sz="1700" b="1" dirty="0">
                <a:solidFill>
                  <a:srgbClr val="1E3A5F"/>
                </a:solidFill>
              </a:rPr>
              <a:t>No arbitration required</a:t>
            </a:r>
          </a:p>
          <a:p>
            <a:pPr algn="l"/>
            <a:r>
              <a:rPr lang="en-GB" sz="1600" dirty="0">
                <a:solidFill>
                  <a:srgbClr val="1E1E1E"/>
                </a:solidFill>
              </a:rPr>
              <a:t>Device A writes only to ion 11. Device B writes only to ion 12. Neither writes to the other's flag. Read-before-write on the partner's flag prevents data corruption. No token passing or priority system needed.</a:t>
            </a:r>
          </a:p>
          <a:p>
            <a:pPr algn="l"/>
            <a:endParaRPr lang="en-GB" sz="1600" dirty="0">
              <a:solidFill>
                <a:srgbClr val="1E1E1E"/>
              </a:solidFill>
            </a:endParaRPr>
          </a:p>
          <a:p>
            <a:pPr algn="l">
              <a:spcBef>
                <a:spcPts val="500"/>
              </a:spcBef>
            </a:pPr>
            <a:r>
              <a:rPr lang="en-GB" sz="1700" b="1" dirty="0">
                <a:solidFill>
                  <a:srgbClr val="1E3A5F"/>
                </a:solidFill>
              </a:rPr>
              <a:t>Read confirmation (DONE state)</a:t>
            </a:r>
          </a:p>
          <a:p>
            <a:pPr algn="l"/>
            <a:r>
              <a:rPr lang="en-GB" sz="1600" dirty="0">
                <a:solidFill>
                  <a:srgbClr val="1E1E1E"/>
                </a:solidFill>
              </a:rPr>
              <a:t>When Device A sets Flag 11 = DONE, Device B knows its transmission was successfully decoded and may safely advance to the next character. Without this, a transmitter could overwrite the data ions before the reader had finished.</a:t>
            </a:r>
          </a:p>
          <a:p>
            <a:pPr algn="l"/>
            <a:endParaRPr lang="en-GB" sz="1600" dirty="0">
              <a:solidFill>
                <a:srgbClr val="1E1E1E"/>
              </a:solidFill>
            </a:endParaRPr>
          </a:p>
          <a:p>
            <a:pPr algn="l">
              <a:spcBef>
                <a:spcPts val="500"/>
              </a:spcBef>
            </a:pPr>
            <a:r>
              <a:rPr lang="en-GB" sz="1700" b="1" dirty="0">
                <a:solidFill>
                  <a:srgbClr val="1E3A5F"/>
                </a:solidFill>
              </a:rPr>
              <a:t>Immediate reply — no dead cycle</a:t>
            </a:r>
          </a:p>
          <a:p>
            <a:pPr algn="l"/>
            <a:r>
              <a:rPr lang="en-GB" sz="1600" dirty="0">
                <a:solidFill>
                  <a:srgbClr val="1E1E1E"/>
                </a:solidFill>
              </a:rPr>
              <a:t>After DONE, the reading device transitions directly to WRITING without returning to READY. This eliminates one dead cycle and allows the reply to begin immediately.</a:t>
            </a:r>
          </a:p>
          <a:p>
            <a:pPr algn="l"/>
            <a:endParaRPr lang="en-GB" sz="1600" dirty="0">
              <a:solidFill>
                <a:srgbClr val="1E1E1E"/>
              </a:solidFill>
            </a:endParaRPr>
          </a:p>
          <a:p>
            <a:pPr algn="l">
              <a:spcBef>
                <a:spcPts val="500"/>
              </a:spcBef>
            </a:pPr>
            <a:r>
              <a:rPr lang="en-GB" sz="1700" b="1" dirty="0">
                <a:solidFill>
                  <a:srgbClr val="1E3A5F"/>
                </a:solidFill>
              </a:rPr>
              <a:t>Throughput analysis</a:t>
            </a:r>
          </a:p>
          <a:p>
            <a:pPr algn="l"/>
            <a:r>
              <a:rPr lang="en-GB" sz="1300" dirty="0">
                <a:solidFill>
                  <a:srgbClr val="1E1E1E"/>
                </a:solidFill>
                <a:latin typeface="Courier New"/>
              </a:rPr>
              <a:t>  One exchange = A→B + B→A = 2 × t_dwell</a:t>
            </a:r>
          </a:p>
          <a:p>
            <a:pPr algn="l"/>
            <a:r>
              <a:rPr lang="en-GB" sz="1300" dirty="0">
                <a:solidFill>
                  <a:srgbClr val="1E1E1E"/>
                </a:solidFill>
                <a:latin typeface="Courier New"/>
              </a:rPr>
              <a:t>  t_dwell = N × t_read  (N=10, t_read ≈ 10–100 μs)</a:t>
            </a:r>
          </a:p>
          <a:p>
            <a:pPr algn="l"/>
            <a:r>
              <a:rPr lang="en-GB" sz="1300" dirty="0">
                <a:solidFill>
                  <a:srgbClr val="1E1E1E"/>
                </a:solidFill>
                <a:latin typeface="Courier New"/>
              </a:rPr>
              <a:t>  t_dwell ≈ 100 μs to 1 ms per direction</a:t>
            </a:r>
          </a:p>
          <a:p>
            <a:pPr algn="l"/>
            <a:r>
              <a:rPr lang="en-GB" sz="1300" dirty="0">
                <a:solidFill>
                  <a:srgbClr val="1E1E1E"/>
                </a:solidFill>
                <a:latin typeface="Courier New"/>
              </a:rPr>
              <a:t>  Throughput ≈ 500 to 5,000 character-exchanges per second</a:t>
            </a:r>
          </a:p>
          <a:p>
            <a:pPr algn="l"/>
            <a:endParaRPr lang="en-GB" sz="1300" dirty="0">
              <a:solidFill>
                <a:srgbClr val="1E1E1E"/>
              </a:solidFill>
              <a:latin typeface="Courier New"/>
            </a:endParaRPr>
          </a:p>
          <a:p>
            <a:pPr algn="l">
              <a:spcBef>
                <a:spcPts val="500"/>
              </a:spcBef>
            </a:pPr>
            <a:r>
              <a:rPr lang="en-GB" sz="1700" b="1" dirty="0">
                <a:solidFill>
                  <a:srgbClr val="1E3A5F"/>
                </a:solidFill>
              </a:rPr>
              <a:t>Comparison with larger ensembles</a:t>
            </a:r>
          </a:p>
          <a:p>
            <a:pPr algn="l"/>
            <a:r>
              <a:rPr lang="en-GB" sz="1600" dirty="0">
                <a:solidFill>
                  <a:srgbClr val="1E1E1E"/>
                </a:solidFill>
              </a:rPr>
              <a:t>A longer ion chain (e.g. 100 data ions instead of 10) would reduce the angular noise from ±14.2° to ±4.5°, enabling finer character spacing and a larger character set. The 12-ion design is the minimum viable starting point.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9420</Words>
  <Application>Microsoft Office PowerPoint</Application>
  <PresentationFormat>A4 Paper (210x297 mm)</PresentationFormat>
  <Paragraphs>621</Paragraphs>
  <Slides>44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cp:lastModifiedBy>
  <cp:revision>3</cp:revision>
  <dcterms:created xsi:type="dcterms:W3CDTF">2013-01-27T09:14:16Z</dcterms:created>
  <dcterms:modified xsi:type="dcterms:W3CDTF">2026-04-29T22:33:38Z</dcterms:modified>
  <cp:category/>
</cp:coreProperties>
</file>